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0372" y="79523"/>
            <a:ext cx="16827254" cy="20190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95932" y="3030549"/>
            <a:ext cx="10260965" cy="3959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01803" y="5590237"/>
            <a:ext cx="11786235" cy="4686300"/>
          </a:xfrm>
          <a:custGeom>
            <a:avLst/>
            <a:gdLst/>
            <a:ahLst/>
            <a:cxnLst/>
            <a:rect l="l" t="t" r="r" b="b"/>
            <a:pathLst>
              <a:path w="11786235" h="4686300">
                <a:moveTo>
                  <a:pt x="7090040" y="12699"/>
                </a:moveTo>
                <a:lnTo>
                  <a:pt x="6200771" y="12699"/>
                </a:lnTo>
                <a:lnTo>
                  <a:pt x="6250119" y="0"/>
                </a:lnTo>
                <a:lnTo>
                  <a:pt x="7040692" y="0"/>
                </a:lnTo>
                <a:lnTo>
                  <a:pt x="7090040" y="12699"/>
                </a:lnTo>
                <a:close/>
              </a:path>
              <a:path w="11786235" h="4686300">
                <a:moveTo>
                  <a:pt x="7287178" y="25399"/>
                </a:moveTo>
                <a:lnTo>
                  <a:pt x="6003634" y="25399"/>
                </a:lnTo>
                <a:lnTo>
                  <a:pt x="6052880" y="12699"/>
                </a:lnTo>
                <a:lnTo>
                  <a:pt x="7237932" y="12699"/>
                </a:lnTo>
                <a:lnTo>
                  <a:pt x="7287178" y="25399"/>
                </a:lnTo>
                <a:close/>
              </a:path>
              <a:path w="11786235" h="4686300">
                <a:moveTo>
                  <a:pt x="7385585" y="38099"/>
                </a:moveTo>
                <a:lnTo>
                  <a:pt x="5905227" y="38099"/>
                </a:lnTo>
                <a:lnTo>
                  <a:pt x="5954414" y="25399"/>
                </a:lnTo>
                <a:lnTo>
                  <a:pt x="7336398" y="25399"/>
                </a:lnTo>
                <a:lnTo>
                  <a:pt x="7385585" y="38099"/>
                </a:lnTo>
                <a:close/>
              </a:path>
              <a:path w="11786235" h="4686300">
                <a:moveTo>
                  <a:pt x="7532889" y="50799"/>
                </a:moveTo>
                <a:lnTo>
                  <a:pt x="5757922" y="50799"/>
                </a:lnTo>
                <a:lnTo>
                  <a:pt x="5806981" y="38099"/>
                </a:lnTo>
                <a:lnTo>
                  <a:pt x="7483830" y="38099"/>
                </a:lnTo>
                <a:lnTo>
                  <a:pt x="7532889" y="50799"/>
                </a:lnTo>
                <a:close/>
              </a:path>
              <a:path w="11786235" h="4686300">
                <a:moveTo>
                  <a:pt x="7679812" y="76199"/>
                </a:moveTo>
                <a:lnTo>
                  <a:pt x="5610998" y="76199"/>
                </a:lnTo>
                <a:lnTo>
                  <a:pt x="5708905" y="50799"/>
                </a:lnTo>
                <a:lnTo>
                  <a:pt x="7581906" y="50799"/>
                </a:lnTo>
                <a:lnTo>
                  <a:pt x="7679812" y="76199"/>
                </a:lnTo>
                <a:close/>
              </a:path>
              <a:path w="11786235" h="4686300">
                <a:moveTo>
                  <a:pt x="7777515" y="88899"/>
                </a:moveTo>
                <a:lnTo>
                  <a:pt x="5513295" y="88899"/>
                </a:lnTo>
                <a:lnTo>
                  <a:pt x="5562117" y="76199"/>
                </a:lnTo>
                <a:lnTo>
                  <a:pt x="7728693" y="76199"/>
                </a:lnTo>
                <a:lnTo>
                  <a:pt x="7777515" y="88899"/>
                </a:lnTo>
                <a:close/>
              </a:path>
              <a:path w="11786235" h="4686300">
                <a:moveTo>
                  <a:pt x="7923624" y="114299"/>
                </a:moveTo>
                <a:lnTo>
                  <a:pt x="5367186" y="114299"/>
                </a:lnTo>
                <a:lnTo>
                  <a:pt x="5464533" y="88899"/>
                </a:lnTo>
                <a:lnTo>
                  <a:pt x="7826277" y="88899"/>
                </a:lnTo>
                <a:lnTo>
                  <a:pt x="7923624" y="114299"/>
                </a:lnTo>
                <a:close/>
              </a:path>
              <a:path w="11786235" h="4686300">
                <a:moveTo>
                  <a:pt x="8165880" y="165099"/>
                </a:moveTo>
                <a:lnTo>
                  <a:pt x="5124930" y="165099"/>
                </a:lnTo>
                <a:lnTo>
                  <a:pt x="5318601" y="114299"/>
                </a:lnTo>
                <a:lnTo>
                  <a:pt x="7972209" y="114299"/>
                </a:lnTo>
                <a:lnTo>
                  <a:pt x="8165880" y="165099"/>
                </a:lnTo>
                <a:close/>
              </a:path>
              <a:path w="11786235" h="4686300">
                <a:moveTo>
                  <a:pt x="11786195" y="4686299"/>
                </a:moveTo>
                <a:lnTo>
                  <a:pt x="0" y="4686299"/>
                </a:lnTo>
                <a:lnTo>
                  <a:pt x="7795" y="4673599"/>
                </a:lnTo>
                <a:lnTo>
                  <a:pt x="24615" y="4622799"/>
                </a:lnTo>
                <a:lnTo>
                  <a:pt x="41758" y="4571999"/>
                </a:lnTo>
                <a:lnTo>
                  <a:pt x="59224" y="4533899"/>
                </a:lnTo>
                <a:lnTo>
                  <a:pt x="77014" y="4483099"/>
                </a:lnTo>
                <a:lnTo>
                  <a:pt x="95128" y="4432299"/>
                </a:lnTo>
                <a:lnTo>
                  <a:pt x="113565" y="4394199"/>
                </a:lnTo>
                <a:lnTo>
                  <a:pt x="132325" y="4343399"/>
                </a:lnTo>
                <a:lnTo>
                  <a:pt x="151406" y="4305299"/>
                </a:lnTo>
                <a:lnTo>
                  <a:pt x="170803" y="4254499"/>
                </a:lnTo>
                <a:lnTo>
                  <a:pt x="190518" y="4203699"/>
                </a:lnTo>
                <a:lnTo>
                  <a:pt x="210549" y="4165599"/>
                </a:lnTo>
                <a:lnTo>
                  <a:pt x="230898" y="4114799"/>
                </a:lnTo>
                <a:lnTo>
                  <a:pt x="251563" y="4076699"/>
                </a:lnTo>
                <a:lnTo>
                  <a:pt x="272545" y="4025899"/>
                </a:lnTo>
                <a:lnTo>
                  <a:pt x="293841" y="3987799"/>
                </a:lnTo>
                <a:lnTo>
                  <a:pt x="315446" y="3936999"/>
                </a:lnTo>
                <a:lnTo>
                  <a:pt x="337362" y="3898899"/>
                </a:lnTo>
                <a:lnTo>
                  <a:pt x="359586" y="3848099"/>
                </a:lnTo>
                <a:lnTo>
                  <a:pt x="382121" y="3809999"/>
                </a:lnTo>
                <a:lnTo>
                  <a:pt x="404965" y="3759199"/>
                </a:lnTo>
                <a:lnTo>
                  <a:pt x="428119" y="3721099"/>
                </a:lnTo>
                <a:lnTo>
                  <a:pt x="451578" y="3670299"/>
                </a:lnTo>
                <a:lnTo>
                  <a:pt x="475339" y="3632199"/>
                </a:lnTo>
                <a:lnTo>
                  <a:pt x="499402" y="3594099"/>
                </a:lnTo>
                <a:lnTo>
                  <a:pt x="523766" y="3543299"/>
                </a:lnTo>
                <a:lnTo>
                  <a:pt x="548432" y="3505199"/>
                </a:lnTo>
                <a:lnTo>
                  <a:pt x="573400" y="3467099"/>
                </a:lnTo>
                <a:lnTo>
                  <a:pt x="598670" y="3416299"/>
                </a:lnTo>
                <a:lnTo>
                  <a:pt x="624236" y="3378199"/>
                </a:lnTo>
                <a:lnTo>
                  <a:pt x="650096" y="3340099"/>
                </a:lnTo>
                <a:lnTo>
                  <a:pt x="676249" y="3289299"/>
                </a:lnTo>
                <a:lnTo>
                  <a:pt x="702694" y="3251199"/>
                </a:lnTo>
                <a:lnTo>
                  <a:pt x="729432" y="3213099"/>
                </a:lnTo>
                <a:lnTo>
                  <a:pt x="756464" y="3162299"/>
                </a:lnTo>
                <a:lnTo>
                  <a:pt x="783788" y="3124199"/>
                </a:lnTo>
                <a:lnTo>
                  <a:pt x="811400" y="3086099"/>
                </a:lnTo>
                <a:lnTo>
                  <a:pt x="839296" y="3047999"/>
                </a:lnTo>
                <a:lnTo>
                  <a:pt x="867475" y="3009899"/>
                </a:lnTo>
                <a:lnTo>
                  <a:pt x="895938" y="2959099"/>
                </a:lnTo>
                <a:lnTo>
                  <a:pt x="924684" y="2920999"/>
                </a:lnTo>
                <a:lnTo>
                  <a:pt x="953714" y="2882899"/>
                </a:lnTo>
                <a:lnTo>
                  <a:pt x="983027" y="2844799"/>
                </a:lnTo>
                <a:lnTo>
                  <a:pt x="1012619" y="2806699"/>
                </a:lnTo>
                <a:lnTo>
                  <a:pt x="1042484" y="2768599"/>
                </a:lnTo>
                <a:lnTo>
                  <a:pt x="1072622" y="2730499"/>
                </a:lnTo>
                <a:lnTo>
                  <a:pt x="1103034" y="2692399"/>
                </a:lnTo>
                <a:lnTo>
                  <a:pt x="1133718" y="2641599"/>
                </a:lnTo>
                <a:lnTo>
                  <a:pt x="1164677" y="2603499"/>
                </a:lnTo>
                <a:lnTo>
                  <a:pt x="1195908" y="2565399"/>
                </a:lnTo>
                <a:lnTo>
                  <a:pt x="1227407" y="2527299"/>
                </a:lnTo>
                <a:lnTo>
                  <a:pt x="1291194" y="2451099"/>
                </a:lnTo>
                <a:lnTo>
                  <a:pt x="1323481" y="2425699"/>
                </a:lnTo>
                <a:lnTo>
                  <a:pt x="1356030" y="2387599"/>
                </a:lnTo>
                <a:lnTo>
                  <a:pt x="1421917" y="2311399"/>
                </a:lnTo>
                <a:lnTo>
                  <a:pt x="1488831" y="2235199"/>
                </a:lnTo>
                <a:lnTo>
                  <a:pt x="1556749" y="2158999"/>
                </a:lnTo>
                <a:lnTo>
                  <a:pt x="1591085" y="2133599"/>
                </a:lnTo>
                <a:lnTo>
                  <a:pt x="1625672" y="2095499"/>
                </a:lnTo>
                <a:lnTo>
                  <a:pt x="1695593" y="2019299"/>
                </a:lnTo>
                <a:lnTo>
                  <a:pt x="1730915" y="1993899"/>
                </a:lnTo>
                <a:lnTo>
                  <a:pt x="1802276" y="1917699"/>
                </a:lnTo>
                <a:lnTo>
                  <a:pt x="1838316" y="1892299"/>
                </a:lnTo>
                <a:lnTo>
                  <a:pt x="1911111" y="1816099"/>
                </a:lnTo>
                <a:lnTo>
                  <a:pt x="1947862" y="1790699"/>
                </a:lnTo>
                <a:lnTo>
                  <a:pt x="1984838" y="1752599"/>
                </a:lnTo>
                <a:lnTo>
                  <a:pt x="2022042" y="1727199"/>
                </a:lnTo>
                <a:lnTo>
                  <a:pt x="2097127" y="1650999"/>
                </a:lnTo>
                <a:lnTo>
                  <a:pt x="2173119" y="1600199"/>
                </a:lnTo>
                <a:lnTo>
                  <a:pt x="2211447" y="1562099"/>
                </a:lnTo>
                <a:lnTo>
                  <a:pt x="2249989" y="1536699"/>
                </a:lnTo>
                <a:lnTo>
                  <a:pt x="2288745" y="1498599"/>
                </a:lnTo>
                <a:lnTo>
                  <a:pt x="2327714" y="1473199"/>
                </a:lnTo>
                <a:lnTo>
                  <a:pt x="2366896" y="1435099"/>
                </a:lnTo>
                <a:lnTo>
                  <a:pt x="2445900" y="1384299"/>
                </a:lnTo>
                <a:lnTo>
                  <a:pt x="2485715" y="1346199"/>
                </a:lnTo>
                <a:lnTo>
                  <a:pt x="2606358" y="1269999"/>
                </a:lnTo>
                <a:lnTo>
                  <a:pt x="2646971" y="1231899"/>
                </a:lnTo>
                <a:lnTo>
                  <a:pt x="2687785" y="1206499"/>
                </a:lnTo>
                <a:lnTo>
                  <a:pt x="2936680" y="1054099"/>
                </a:lnTo>
                <a:lnTo>
                  <a:pt x="2978813" y="1015999"/>
                </a:lnTo>
                <a:lnTo>
                  <a:pt x="3063628" y="965199"/>
                </a:lnTo>
                <a:lnTo>
                  <a:pt x="3106295" y="952499"/>
                </a:lnTo>
                <a:lnTo>
                  <a:pt x="3409723" y="774699"/>
                </a:lnTo>
                <a:lnTo>
                  <a:pt x="3453720" y="761999"/>
                </a:lnTo>
                <a:lnTo>
                  <a:pt x="3586646" y="685799"/>
                </a:lnTo>
                <a:lnTo>
                  <a:pt x="3631266" y="673099"/>
                </a:lnTo>
                <a:lnTo>
                  <a:pt x="3676035" y="647699"/>
                </a:lnTo>
                <a:lnTo>
                  <a:pt x="3720945" y="634999"/>
                </a:lnTo>
                <a:lnTo>
                  <a:pt x="3811185" y="584199"/>
                </a:lnTo>
                <a:lnTo>
                  <a:pt x="3856516" y="571499"/>
                </a:lnTo>
                <a:lnTo>
                  <a:pt x="3901987" y="546099"/>
                </a:lnTo>
                <a:lnTo>
                  <a:pt x="3947599" y="533399"/>
                </a:lnTo>
                <a:lnTo>
                  <a:pt x="3993343" y="507999"/>
                </a:lnTo>
                <a:lnTo>
                  <a:pt x="4039212" y="495299"/>
                </a:lnTo>
                <a:lnTo>
                  <a:pt x="4085206" y="469899"/>
                </a:lnTo>
                <a:lnTo>
                  <a:pt x="4177569" y="444499"/>
                </a:lnTo>
                <a:lnTo>
                  <a:pt x="4223937" y="419099"/>
                </a:lnTo>
                <a:lnTo>
                  <a:pt x="4317040" y="393699"/>
                </a:lnTo>
                <a:lnTo>
                  <a:pt x="4363759" y="368299"/>
                </a:lnTo>
                <a:lnTo>
                  <a:pt x="4551721" y="317499"/>
                </a:lnTo>
                <a:lnTo>
                  <a:pt x="4598983" y="292099"/>
                </a:lnTo>
                <a:lnTo>
                  <a:pt x="5076700" y="165099"/>
                </a:lnTo>
                <a:lnTo>
                  <a:pt x="8214110" y="165099"/>
                </a:lnTo>
                <a:lnTo>
                  <a:pt x="8691827" y="292099"/>
                </a:lnTo>
                <a:lnTo>
                  <a:pt x="8739089" y="317499"/>
                </a:lnTo>
                <a:lnTo>
                  <a:pt x="8927051" y="368299"/>
                </a:lnTo>
                <a:lnTo>
                  <a:pt x="8973770" y="393699"/>
                </a:lnTo>
                <a:lnTo>
                  <a:pt x="9066873" y="419099"/>
                </a:lnTo>
                <a:lnTo>
                  <a:pt x="9113241" y="444499"/>
                </a:lnTo>
                <a:lnTo>
                  <a:pt x="9205603" y="469899"/>
                </a:lnTo>
                <a:lnTo>
                  <a:pt x="9251597" y="495299"/>
                </a:lnTo>
                <a:lnTo>
                  <a:pt x="9297466" y="507999"/>
                </a:lnTo>
                <a:lnTo>
                  <a:pt x="9343211" y="533399"/>
                </a:lnTo>
                <a:lnTo>
                  <a:pt x="9388822" y="546099"/>
                </a:lnTo>
                <a:lnTo>
                  <a:pt x="9434294" y="571499"/>
                </a:lnTo>
                <a:lnTo>
                  <a:pt x="9479624" y="584199"/>
                </a:lnTo>
                <a:lnTo>
                  <a:pt x="9569864" y="634999"/>
                </a:lnTo>
                <a:lnTo>
                  <a:pt x="9614773" y="647699"/>
                </a:lnTo>
                <a:lnTo>
                  <a:pt x="9659542" y="673099"/>
                </a:lnTo>
                <a:lnTo>
                  <a:pt x="9704163" y="685799"/>
                </a:lnTo>
                <a:lnTo>
                  <a:pt x="9837090" y="761999"/>
                </a:lnTo>
                <a:lnTo>
                  <a:pt x="9881087" y="774699"/>
                </a:lnTo>
                <a:lnTo>
                  <a:pt x="10184514" y="952499"/>
                </a:lnTo>
                <a:lnTo>
                  <a:pt x="10227181" y="965199"/>
                </a:lnTo>
                <a:lnTo>
                  <a:pt x="10311996" y="1015999"/>
                </a:lnTo>
                <a:lnTo>
                  <a:pt x="10354129" y="1054099"/>
                </a:lnTo>
                <a:lnTo>
                  <a:pt x="10603024" y="1206499"/>
                </a:lnTo>
                <a:lnTo>
                  <a:pt x="10643837" y="1231899"/>
                </a:lnTo>
                <a:lnTo>
                  <a:pt x="10684451" y="1269999"/>
                </a:lnTo>
                <a:lnTo>
                  <a:pt x="10805095" y="1346199"/>
                </a:lnTo>
                <a:lnTo>
                  <a:pt x="10844910" y="1384299"/>
                </a:lnTo>
                <a:lnTo>
                  <a:pt x="10923914" y="1435099"/>
                </a:lnTo>
                <a:lnTo>
                  <a:pt x="10963096" y="1473199"/>
                </a:lnTo>
                <a:lnTo>
                  <a:pt x="11002065" y="1498599"/>
                </a:lnTo>
                <a:lnTo>
                  <a:pt x="11040821" y="1536699"/>
                </a:lnTo>
                <a:lnTo>
                  <a:pt x="11079363" y="1562099"/>
                </a:lnTo>
                <a:lnTo>
                  <a:pt x="11117692" y="1600199"/>
                </a:lnTo>
                <a:lnTo>
                  <a:pt x="11193683" y="1650999"/>
                </a:lnTo>
                <a:lnTo>
                  <a:pt x="11268769" y="1727199"/>
                </a:lnTo>
                <a:lnTo>
                  <a:pt x="11305972" y="1752599"/>
                </a:lnTo>
                <a:lnTo>
                  <a:pt x="11342949" y="1790699"/>
                </a:lnTo>
                <a:lnTo>
                  <a:pt x="11379699" y="1816099"/>
                </a:lnTo>
                <a:lnTo>
                  <a:pt x="11452494" y="1892299"/>
                </a:lnTo>
                <a:lnTo>
                  <a:pt x="11488533" y="1917699"/>
                </a:lnTo>
                <a:lnTo>
                  <a:pt x="11559895" y="1993899"/>
                </a:lnTo>
                <a:lnTo>
                  <a:pt x="11595217" y="2019299"/>
                </a:lnTo>
                <a:lnTo>
                  <a:pt x="11665138" y="2095499"/>
                </a:lnTo>
                <a:lnTo>
                  <a:pt x="11699725" y="2133599"/>
                </a:lnTo>
                <a:lnTo>
                  <a:pt x="11734061" y="2158999"/>
                </a:lnTo>
                <a:lnTo>
                  <a:pt x="11768146" y="2197099"/>
                </a:lnTo>
                <a:lnTo>
                  <a:pt x="11786195" y="2222499"/>
                </a:lnTo>
                <a:lnTo>
                  <a:pt x="11786195" y="4686299"/>
                </a:lnTo>
                <a:close/>
              </a:path>
            </a:pathLst>
          </a:custGeom>
          <a:solidFill>
            <a:srgbClr val="135C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420234" y="30522"/>
            <a:ext cx="1769745" cy="1985010"/>
          </a:xfrm>
          <a:custGeom>
            <a:avLst/>
            <a:gdLst/>
            <a:ahLst/>
            <a:cxnLst/>
            <a:rect l="l" t="t" r="r" b="b"/>
            <a:pathLst>
              <a:path w="1769744" h="1985010">
                <a:moveTo>
                  <a:pt x="3968" y="0"/>
                </a:moveTo>
                <a:lnTo>
                  <a:pt x="2651" y="21440"/>
                </a:lnTo>
              </a:path>
              <a:path w="1769744" h="1985010">
                <a:moveTo>
                  <a:pt x="0" y="119645"/>
                </a:moveTo>
                <a:lnTo>
                  <a:pt x="639" y="165495"/>
                </a:lnTo>
                <a:lnTo>
                  <a:pt x="1593" y="192651"/>
                </a:lnTo>
              </a:path>
              <a:path w="1769744" h="1985010">
                <a:moveTo>
                  <a:pt x="2651" y="217850"/>
                </a:moveTo>
                <a:lnTo>
                  <a:pt x="3968" y="239291"/>
                </a:lnTo>
              </a:path>
              <a:path w="1769744" h="1985010">
                <a:moveTo>
                  <a:pt x="5892" y="266704"/>
                </a:moveTo>
                <a:lnTo>
                  <a:pt x="7860" y="289560"/>
                </a:lnTo>
              </a:path>
              <a:path w="1769744" h="1985010">
                <a:moveTo>
                  <a:pt x="10448" y="315837"/>
                </a:moveTo>
                <a:lnTo>
                  <a:pt x="12979" y="338659"/>
                </a:lnTo>
              </a:path>
              <a:path w="1769744" h="1985010">
                <a:moveTo>
                  <a:pt x="16433" y="365863"/>
                </a:moveTo>
                <a:lnTo>
                  <a:pt x="20339" y="393684"/>
                </a:lnTo>
                <a:lnTo>
                  <a:pt x="26458" y="432392"/>
                </a:lnTo>
              </a:path>
              <a:path w="1769744" h="1985010">
                <a:moveTo>
                  <a:pt x="35887" y="484028"/>
                </a:moveTo>
                <a:lnTo>
                  <a:pt x="45460" y="528872"/>
                </a:lnTo>
                <a:lnTo>
                  <a:pt x="56096" y="573446"/>
                </a:lnTo>
                <a:lnTo>
                  <a:pt x="64276" y="604831"/>
                </a:lnTo>
              </a:path>
              <a:path w="1769744" h="1985010">
                <a:moveTo>
                  <a:pt x="70337" y="627046"/>
                </a:moveTo>
                <a:lnTo>
                  <a:pt x="76773" y="649236"/>
                </a:lnTo>
              </a:path>
              <a:path w="1769744" h="1985010">
                <a:moveTo>
                  <a:pt x="84381" y="674316"/>
                </a:moveTo>
                <a:lnTo>
                  <a:pt x="91370" y="696379"/>
                </a:lnTo>
              </a:path>
              <a:path w="1769744" h="1985010">
                <a:moveTo>
                  <a:pt x="142173" y="834409"/>
                </a:moveTo>
                <a:lnTo>
                  <a:pt x="160310" y="876524"/>
                </a:lnTo>
                <a:lnTo>
                  <a:pt x="179438" y="918165"/>
                </a:lnTo>
                <a:lnTo>
                  <a:pt x="193600" y="947385"/>
                </a:lnTo>
              </a:path>
              <a:path w="1769744" h="1985010">
                <a:moveTo>
                  <a:pt x="203849" y="967929"/>
                </a:moveTo>
                <a:lnTo>
                  <a:pt x="214513" y="988481"/>
                </a:lnTo>
              </a:path>
              <a:path w="1769744" h="1985010">
                <a:moveTo>
                  <a:pt x="226862" y="1011584"/>
                </a:moveTo>
                <a:lnTo>
                  <a:pt x="238008" y="1031836"/>
                </a:lnTo>
              </a:path>
              <a:path w="1769744" h="1985010">
                <a:moveTo>
                  <a:pt x="286286" y="1113232"/>
                </a:moveTo>
                <a:lnTo>
                  <a:pt x="289888" y="1118806"/>
                </a:lnTo>
                <a:lnTo>
                  <a:pt x="314774" y="1157320"/>
                </a:lnTo>
                <a:lnTo>
                  <a:pt x="340779" y="1195088"/>
                </a:lnTo>
                <a:lnTo>
                  <a:pt x="344657" y="1200473"/>
                </a:lnTo>
              </a:path>
              <a:path w="1769744" h="1985010">
                <a:moveTo>
                  <a:pt x="510513" y="1402672"/>
                </a:moveTo>
                <a:lnTo>
                  <a:pt x="515133" y="1407436"/>
                </a:lnTo>
                <a:lnTo>
                  <a:pt x="547055" y="1440355"/>
                </a:lnTo>
                <a:lnTo>
                  <a:pt x="579928" y="1472324"/>
                </a:lnTo>
                <a:lnTo>
                  <a:pt x="613560" y="1503450"/>
                </a:lnTo>
                <a:lnTo>
                  <a:pt x="647881" y="1533809"/>
                </a:lnTo>
                <a:lnTo>
                  <a:pt x="682969" y="1563323"/>
                </a:lnTo>
                <a:lnTo>
                  <a:pt x="718761" y="1591979"/>
                </a:lnTo>
                <a:lnTo>
                  <a:pt x="755212" y="1619747"/>
                </a:lnTo>
                <a:lnTo>
                  <a:pt x="786909" y="1642790"/>
                </a:lnTo>
              </a:path>
              <a:path w="1769744" h="1985010">
                <a:moveTo>
                  <a:pt x="830089" y="1672636"/>
                </a:moveTo>
                <a:lnTo>
                  <a:pt x="868568" y="1697577"/>
                </a:lnTo>
                <a:lnTo>
                  <a:pt x="874211" y="1701067"/>
                </a:lnTo>
              </a:path>
              <a:path w="1769744" h="1985010">
                <a:moveTo>
                  <a:pt x="956786" y="1750070"/>
                </a:moveTo>
                <a:lnTo>
                  <a:pt x="975777" y="1760522"/>
                </a:lnTo>
              </a:path>
              <a:path w="1769744" h="1985010">
                <a:moveTo>
                  <a:pt x="998990" y="1772929"/>
                </a:moveTo>
                <a:lnTo>
                  <a:pt x="1019424" y="1783531"/>
                </a:lnTo>
              </a:path>
              <a:path w="1769744" h="1985010">
                <a:moveTo>
                  <a:pt x="1153002" y="1845236"/>
                </a:moveTo>
                <a:lnTo>
                  <a:pt x="1195607" y="1862191"/>
                </a:lnTo>
                <a:lnTo>
                  <a:pt x="1238577" y="1878110"/>
                </a:lnTo>
                <a:lnTo>
                  <a:pt x="1269155" y="1888724"/>
                </a:lnTo>
              </a:path>
              <a:path w="1769744" h="1985010">
                <a:moveTo>
                  <a:pt x="1291124" y="1896070"/>
                </a:moveTo>
                <a:lnTo>
                  <a:pt x="1312983" y="1902994"/>
                </a:lnTo>
              </a:path>
              <a:path w="1769744" h="1985010">
                <a:moveTo>
                  <a:pt x="1338274" y="1910666"/>
                </a:moveTo>
                <a:lnTo>
                  <a:pt x="1360295" y="1917052"/>
                </a:lnTo>
              </a:path>
              <a:path w="1769744" h="1985010">
                <a:moveTo>
                  <a:pt x="1503382" y="1951522"/>
                </a:moveTo>
                <a:lnTo>
                  <a:pt x="1548476" y="1959840"/>
                </a:lnTo>
                <a:lnTo>
                  <a:pt x="1593726" y="1967070"/>
                </a:lnTo>
                <a:lnTo>
                  <a:pt x="1625779" y="1971514"/>
                </a:lnTo>
              </a:path>
              <a:path w="1769744" h="1985010">
                <a:moveTo>
                  <a:pt x="1648777" y="1974434"/>
                </a:moveTo>
                <a:lnTo>
                  <a:pt x="1671541" y="1976959"/>
                </a:lnTo>
              </a:path>
              <a:path w="1769744" h="1985010">
                <a:moveTo>
                  <a:pt x="1697877" y="1979553"/>
                </a:moveTo>
                <a:lnTo>
                  <a:pt x="1720688" y="1981517"/>
                </a:lnTo>
              </a:path>
              <a:path w="1769744" h="1985010">
                <a:moveTo>
                  <a:pt x="1748142" y="1983443"/>
                </a:moveTo>
                <a:lnTo>
                  <a:pt x="1769553" y="1984759"/>
                </a:lnTo>
              </a:path>
            </a:pathLst>
          </a:custGeom>
          <a:ln w="1905000">
            <a:solidFill>
              <a:srgbClr val="135C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47856" y="0"/>
            <a:ext cx="1287145" cy="643890"/>
          </a:xfrm>
          <a:custGeom>
            <a:avLst/>
            <a:gdLst/>
            <a:ahLst/>
            <a:cxnLst/>
            <a:rect l="l" t="t" r="r" b="b"/>
            <a:pathLst>
              <a:path w="1287145" h="643890">
                <a:moveTo>
                  <a:pt x="643474" y="643474"/>
                </a:moveTo>
                <a:lnTo>
                  <a:pt x="580402" y="640383"/>
                </a:lnTo>
                <a:lnTo>
                  <a:pt x="517939" y="631110"/>
                </a:lnTo>
                <a:lnTo>
                  <a:pt x="456681" y="615774"/>
                </a:lnTo>
                <a:lnTo>
                  <a:pt x="397227" y="594493"/>
                </a:lnTo>
                <a:lnTo>
                  <a:pt x="340139" y="567500"/>
                </a:lnTo>
                <a:lnTo>
                  <a:pt x="285979" y="535029"/>
                </a:lnTo>
                <a:lnTo>
                  <a:pt x="235254" y="497418"/>
                </a:lnTo>
                <a:lnTo>
                  <a:pt x="188469" y="455005"/>
                </a:lnTo>
                <a:lnTo>
                  <a:pt x="146056" y="408220"/>
                </a:lnTo>
                <a:lnTo>
                  <a:pt x="108445" y="357495"/>
                </a:lnTo>
                <a:lnTo>
                  <a:pt x="75974" y="303335"/>
                </a:lnTo>
                <a:lnTo>
                  <a:pt x="48981" y="246247"/>
                </a:lnTo>
                <a:lnTo>
                  <a:pt x="27700" y="186792"/>
                </a:lnTo>
                <a:lnTo>
                  <a:pt x="12364" y="125535"/>
                </a:lnTo>
                <a:lnTo>
                  <a:pt x="3091" y="63072"/>
                </a:lnTo>
                <a:lnTo>
                  <a:pt x="0" y="0"/>
                </a:lnTo>
                <a:lnTo>
                  <a:pt x="1286949" y="0"/>
                </a:lnTo>
                <a:lnTo>
                  <a:pt x="1283858" y="63072"/>
                </a:lnTo>
                <a:lnTo>
                  <a:pt x="1274585" y="125535"/>
                </a:lnTo>
                <a:lnTo>
                  <a:pt x="1259249" y="186792"/>
                </a:lnTo>
                <a:lnTo>
                  <a:pt x="1237968" y="246247"/>
                </a:lnTo>
                <a:lnTo>
                  <a:pt x="1210975" y="303335"/>
                </a:lnTo>
                <a:lnTo>
                  <a:pt x="1178504" y="357495"/>
                </a:lnTo>
                <a:lnTo>
                  <a:pt x="1140893" y="408220"/>
                </a:lnTo>
                <a:lnTo>
                  <a:pt x="1098480" y="455005"/>
                </a:lnTo>
                <a:lnTo>
                  <a:pt x="1051695" y="497418"/>
                </a:lnTo>
                <a:lnTo>
                  <a:pt x="1000970" y="535029"/>
                </a:lnTo>
                <a:lnTo>
                  <a:pt x="946810" y="567500"/>
                </a:lnTo>
                <a:lnTo>
                  <a:pt x="889722" y="594493"/>
                </a:lnTo>
                <a:lnTo>
                  <a:pt x="830267" y="615774"/>
                </a:lnTo>
                <a:lnTo>
                  <a:pt x="769010" y="631110"/>
                </a:lnTo>
                <a:lnTo>
                  <a:pt x="706547" y="640383"/>
                </a:lnTo>
                <a:lnTo>
                  <a:pt x="643474" y="643474"/>
                </a:lnTo>
                <a:close/>
              </a:path>
            </a:pathLst>
          </a:custGeom>
          <a:solidFill>
            <a:srgbClr val="135C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781" y="8392221"/>
            <a:ext cx="1769745" cy="1894839"/>
          </a:xfrm>
          <a:custGeom>
            <a:avLst/>
            <a:gdLst/>
            <a:ahLst/>
            <a:cxnLst/>
            <a:rect l="l" t="t" r="r" b="b"/>
            <a:pathLst>
              <a:path w="1769745" h="1894840">
                <a:moveTo>
                  <a:pt x="1769191" y="1894778"/>
                </a:moveTo>
                <a:lnTo>
                  <a:pt x="1769554" y="1865113"/>
                </a:lnTo>
                <a:lnTo>
                  <a:pt x="1768914" y="1819263"/>
                </a:lnTo>
                <a:lnTo>
                  <a:pt x="1767961" y="1792124"/>
                </a:lnTo>
              </a:path>
              <a:path w="1769745" h="1894840">
                <a:moveTo>
                  <a:pt x="1766902" y="1766897"/>
                </a:moveTo>
                <a:lnTo>
                  <a:pt x="1765588" y="1745502"/>
                </a:lnTo>
              </a:path>
              <a:path w="1769745" h="1894840">
                <a:moveTo>
                  <a:pt x="1763660" y="1718028"/>
                </a:moveTo>
                <a:lnTo>
                  <a:pt x="1761697" y="1695238"/>
                </a:lnTo>
              </a:path>
              <a:path w="1769745" h="1894840">
                <a:moveTo>
                  <a:pt x="1759100" y="1668873"/>
                </a:moveTo>
                <a:lnTo>
                  <a:pt x="1756580" y="1646140"/>
                </a:lnTo>
              </a:path>
              <a:path w="1769745" h="1894840">
                <a:moveTo>
                  <a:pt x="1753110" y="1618815"/>
                </a:moveTo>
                <a:lnTo>
                  <a:pt x="1749214" y="1591075"/>
                </a:lnTo>
                <a:lnTo>
                  <a:pt x="1743095" y="1552366"/>
                </a:lnTo>
              </a:path>
              <a:path w="1769745" h="1894840">
                <a:moveTo>
                  <a:pt x="1733665" y="1500730"/>
                </a:moveTo>
                <a:lnTo>
                  <a:pt x="1724093" y="1455886"/>
                </a:lnTo>
                <a:lnTo>
                  <a:pt x="1713457" y="1411313"/>
                </a:lnTo>
                <a:lnTo>
                  <a:pt x="1705294" y="1379991"/>
                </a:lnTo>
              </a:path>
              <a:path w="1769745" h="1894840">
                <a:moveTo>
                  <a:pt x="1699196" y="1357643"/>
                </a:moveTo>
                <a:lnTo>
                  <a:pt x="1692809" y="1335621"/>
                </a:lnTo>
              </a:path>
              <a:path w="1769745" h="1894840">
                <a:moveTo>
                  <a:pt x="1685138" y="1310333"/>
                </a:moveTo>
                <a:lnTo>
                  <a:pt x="1678212" y="1288470"/>
                </a:lnTo>
              </a:path>
              <a:path w="1769745" h="1894840">
                <a:moveTo>
                  <a:pt x="1627379" y="1150350"/>
                </a:moveTo>
                <a:lnTo>
                  <a:pt x="1609242" y="1108235"/>
                </a:lnTo>
                <a:lnTo>
                  <a:pt x="1590114" y="1066593"/>
                </a:lnTo>
                <a:lnTo>
                  <a:pt x="1575991" y="1037453"/>
                </a:lnTo>
              </a:path>
              <a:path w="1769745" h="1894840">
                <a:moveTo>
                  <a:pt x="1565664" y="1016751"/>
                </a:moveTo>
                <a:lnTo>
                  <a:pt x="1555086" y="996363"/>
                </a:lnTo>
              </a:path>
              <a:path w="1769745" h="1894840">
                <a:moveTo>
                  <a:pt x="1542651" y="973100"/>
                </a:moveTo>
                <a:lnTo>
                  <a:pt x="1531572" y="952969"/>
                </a:lnTo>
              </a:path>
              <a:path w="1769745" h="1894840">
                <a:moveTo>
                  <a:pt x="1483267" y="871525"/>
                </a:moveTo>
                <a:lnTo>
                  <a:pt x="1479665" y="865952"/>
                </a:lnTo>
                <a:lnTo>
                  <a:pt x="1454779" y="827438"/>
                </a:lnTo>
                <a:lnTo>
                  <a:pt x="1428774" y="789670"/>
                </a:lnTo>
                <a:lnTo>
                  <a:pt x="1424895" y="784285"/>
                </a:lnTo>
              </a:path>
              <a:path w="1769745" h="1894840">
                <a:moveTo>
                  <a:pt x="1259041" y="582087"/>
                </a:moveTo>
                <a:lnTo>
                  <a:pt x="1222499" y="544403"/>
                </a:lnTo>
                <a:lnTo>
                  <a:pt x="1189625" y="512434"/>
                </a:lnTo>
                <a:lnTo>
                  <a:pt x="1155994" y="481308"/>
                </a:lnTo>
                <a:lnTo>
                  <a:pt x="1121673" y="450949"/>
                </a:lnTo>
                <a:lnTo>
                  <a:pt x="1086584" y="421436"/>
                </a:lnTo>
                <a:lnTo>
                  <a:pt x="1050792" y="392779"/>
                </a:lnTo>
                <a:lnTo>
                  <a:pt x="1014341" y="365011"/>
                </a:lnTo>
                <a:lnTo>
                  <a:pt x="982644" y="341967"/>
                </a:lnTo>
              </a:path>
              <a:path w="1769745" h="1894840">
                <a:moveTo>
                  <a:pt x="939463" y="312122"/>
                </a:moveTo>
                <a:lnTo>
                  <a:pt x="900985" y="287181"/>
                </a:lnTo>
                <a:lnTo>
                  <a:pt x="895341" y="283690"/>
                </a:lnTo>
              </a:path>
              <a:path w="1769745" h="1894840">
                <a:moveTo>
                  <a:pt x="812754" y="234682"/>
                </a:moveTo>
                <a:lnTo>
                  <a:pt x="793793" y="224246"/>
                </a:lnTo>
              </a:path>
              <a:path w="1769745" h="1894840">
                <a:moveTo>
                  <a:pt x="770551" y="211823"/>
                </a:moveTo>
                <a:lnTo>
                  <a:pt x="750136" y="201230"/>
                </a:lnTo>
              </a:path>
              <a:path w="1769745" h="1894840">
                <a:moveTo>
                  <a:pt x="616552" y="139522"/>
                </a:moveTo>
                <a:lnTo>
                  <a:pt x="573947" y="122567"/>
                </a:lnTo>
                <a:lnTo>
                  <a:pt x="530976" y="106648"/>
                </a:lnTo>
                <a:lnTo>
                  <a:pt x="500391" y="96031"/>
                </a:lnTo>
              </a:path>
              <a:path w="1769745" h="1894840">
                <a:moveTo>
                  <a:pt x="478435" y="88690"/>
                </a:moveTo>
                <a:lnTo>
                  <a:pt x="456567" y="81763"/>
                </a:lnTo>
              </a:path>
              <a:path w="1769745" h="1894840">
                <a:moveTo>
                  <a:pt x="431279" y="74092"/>
                </a:moveTo>
                <a:lnTo>
                  <a:pt x="409261" y="67707"/>
                </a:lnTo>
              </a:path>
              <a:path w="1769745" h="1894840">
                <a:moveTo>
                  <a:pt x="266171" y="33236"/>
                </a:moveTo>
                <a:lnTo>
                  <a:pt x="221078" y="24919"/>
                </a:lnTo>
                <a:lnTo>
                  <a:pt x="175827" y="17688"/>
                </a:lnTo>
                <a:lnTo>
                  <a:pt x="143777" y="13245"/>
                </a:lnTo>
              </a:path>
              <a:path w="1769745" h="1894840">
                <a:moveTo>
                  <a:pt x="120775" y="10324"/>
                </a:moveTo>
                <a:lnTo>
                  <a:pt x="98012" y="7800"/>
                </a:lnTo>
              </a:path>
              <a:path w="1769745" h="1894840">
                <a:moveTo>
                  <a:pt x="71679" y="5206"/>
                </a:moveTo>
                <a:lnTo>
                  <a:pt x="48863" y="3241"/>
                </a:lnTo>
              </a:path>
              <a:path w="1769745" h="1894840">
                <a:moveTo>
                  <a:pt x="21415" y="1315"/>
                </a:moveTo>
                <a:lnTo>
                  <a:pt x="0" y="0"/>
                </a:lnTo>
              </a:path>
            </a:pathLst>
          </a:custGeom>
          <a:ln w="1905000">
            <a:solidFill>
              <a:srgbClr val="135C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7559417" y="2956538"/>
            <a:ext cx="10203180" cy="6299835"/>
            <a:chOff x="7559417" y="2956538"/>
            <a:chExt cx="10203180" cy="62998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57394" y="7522581"/>
              <a:ext cx="8782050" cy="173355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539101" y="2984174"/>
              <a:ext cx="8253730" cy="5539105"/>
            </a:xfrm>
            <a:custGeom>
              <a:avLst/>
              <a:gdLst/>
              <a:ahLst/>
              <a:cxnLst/>
              <a:rect l="l" t="t" r="r" b="b"/>
              <a:pathLst>
                <a:path w="8253730" h="5539105">
                  <a:moveTo>
                    <a:pt x="8253388" y="5538565"/>
                  </a:moveTo>
                  <a:lnTo>
                    <a:pt x="0" y="5538565"/>
                  </a:lnTo>
                  <a:lnTo>
                    <a:pt x="0" y="289364"/>
                  </a:lnTo>
                  <a:lnTo>
                    <a:pt x="3798" y="242549"/>
                  </a:lnTo>
                  <a:lnTo>
                    <a:pt x="14791" y="198094"/>
                  </a:lnTo>
                  <a:lnTo>
                    <a:pt x="32373" y="156604"/>
                  </a:lnTo>
                  <a:lnTo>
                    <a:pt x="55941" y="118684"/>
                  </a:lnTo>
                  <a:lnTo>
                    <a:pt x="84889" y="84939"/>
                  </a:lnTo>
                  <a:lnTo>
                    <a:pt x="118614" y="55974"/>
                  </a:lnTo>
                  <a:lnTo>
                    <a:pt x="156512" y="32392"/>
                  </a:lnTo>
                  <a:lnTo>
                    <a:pt x="197977" y="14799"/>
                  </a:lnTo>
                  <a:lnTo>
                    <a:pt x="242405" y="3800"/>
                  </a:lnTo>
                  <a:lnTo>
                    <a:pt x="289193" y="0"/>
                  </a:lnTo>
                  <a:lnTo>
                    <a:pt x="7962569" y="0"/>
                  </a:lnTo>
                  <a:lnTo>
                    <a:pt x="8009359" y="3800"/>
                  </a:lnTo>
                  <a:lnTo>
                    <a:pt x="8053799" y="14799"/>
                  </a:lnTo>
                  <a:lnTo>
                    <a:pt x="8095295" y="32392"/>
                  </a:lnTo>
                  <a:lnTo>
                    <a:pt x="8133253" y="55974"/>
                  </a:lnTo>
                  <a:lnTo>
                    <a:pt x="8167077" y="84939"/>
                  </a:lnTo>
                  <a:lnTo>
                    <a:pt x="8196173" y="118684"/>
                  </a:lnTo>
                  <a:lnTo>
                    <a:pt x="8219947" y="156604"/>
                  </a:lnTo>
                  <a:lnTo>
                    <a:pt x="8237804" y="198094"/>
                  </a:lnTo>
                  <a:lnTo>
                    <a:pt x="8249149" y="242549"/>
                  </a:lnTo>
                  <a:lnTo>
                    <a:pt x="8253388" y="289364"/>
                  </a:lnTo>
                  <a:lnTo>
                    <a:pt x="8253388" y="326754"/>
                  </a:lnTo>
                  <a:lnTo>
                    <a:pt x="251826" y="326754"/>
                  </a:lnTo>
                  <a:lnTo>
                    <a:pt x="251826" y="5176047"/>
                  </a:lnTo>
                  <a:lnTo>
                    <a:pt x="8253388" y="5176047"/>
                  </a:lnTo>
                  <a:lnTo>
                    <a:pt x="8253388" y="5538565"/>
                  </a:lnTo>
                  <a:close/>
                </a:path>
                <a:path w="8253730" h="5539105">
                  <a:moveTo>
                    <a:pt x="8253388" y="5176047"/>
                  </a:moveTo>
                  <a:lnTo>
                    <a:pt x="7998313" y="5176047"/>
                  </a:lnTo>
                  <a:lnTo>
                    <a:pt x="7998313" y="326754"/>
                  </a:lnTo>
                  <a:lnTo>
                    <a:pt x="8253388" y="326754"/>
                  </a:lnTo>
                  <a:lnTo>
                    <a:pt x="8253388" y="5176047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59417" y="2956538"/>
              <a:ext cx="10203180" cy="5815330"/>
            </a:xfrm>
            <a:custGeom>
              <a:avLst/>
              <a:gdLst/>
              <a:ahLst/>
              <a:cxnLst/>
              <a:rect l="l" t="t" r="r" b="b"/>
              <a:pathLst>
                <a:path w="10203180" h="5815330">
                  <a:moveTo>
                    <a:pt x="10089279" y="5814924"/>
                  </a:moveTo>
                  <a:lnTo>
                    <a:pt x="121850" y="5814924"/>
                  </a:lnTo>
                  <a:lnTo>
                    <a:pt x="74709" y="5805475"/>
                  </a:lnTo>
                  <a:lnTo>
                    <a:pt x="35945" y="5779566"/>
                  </a:lnTo>
                  <a:lnTo>
                    <a:pt x="9671" y="5740856"/>
                  </a:lnTo>
                  <a:lnTo>
                    <a:pt x="0" y="5693001"/>
                  </a:lnTo>
                  <a:lnTo>
                    <a:pt x="0" y="5567826"/>
                  </a:lnTo>
                  <a:lnTo>
                    <a:pt x="950438" y="5567826"/>
                  </a:lnTo>
                  <a:lnTo>
                    <a:pt x="950438" y="312123"/>
                  </a:lnTo>
                  <a:lnTo>
                    <a:pt x="953821" y="266014"/>
                  </a:lnTo>
                  <a:lnTo>
                    <a:pt x="963641" y="222000"/>
                  </a:lnTo>
                  <a:lnTo>
                    <a:pt x="979408" y="180566"/>
                  </a:lnTo>
                  <a:lnTo>
                    <a:pt x="1000632" y="142196"/>
                  </a:lnTo>
                  <a:lnTo>
                    <a:pt x="1026821" y="107372"/>
                  </a:lnTo>
                  <a:lnTo>
                    <a:pt x="1057484" y="76579"/>
                  </a:lnTo>
                  <a:lnTo>
                    <a:pt x="1092133" y="50300"/>
                  </a:lnTo>
                  <a:lnTo>
                    <a:pt x="1130274" y="29019"/>
                  </a:lnTo>
                  <a:lnTo>
                    <a:pt x="1171419" y="13219"/>
                  </a:lnTo>
                  <a:lnTo>
                    <a:pt x="1215075" y="3385"/>
                  </a:lnTo>
                  <a:lnTo>
                    <a:pt x="1260753" y="0"/>
                  </a:lnTo>
                  <a:lnTo>
                    <a:pt x="8948752" y="0"/>
                  </a:lnTo>
                  <a:lnTo>
                    <a:pt x="8994834" y="3385"/>
                  </a:lnTo>
                  <a:lnTo>
                    <a:pt x="9038821" y="13219"/>
                  </a:lnTo>
                  <a:lnTo>
                    <a:pt x="9076604" y="27635"/>
                  </a:lnTo>
                  <a:lnTo>
                    <a:pt x="1268876" y="27635"/>
                  </a:lnTo>
                  <a:lnTo>
                    <a:pt x="1222089" y="31436"/>
                  </a:lnTo>
                  <a:lnTo>
                    <a:pt x="1177660" y="42435"/>
                  </a:lnTo>
                  <a:lnTo>
                    <a:pt x="1136195" y="60028"/>
                  </a:lnTo>
                  <a:lnTo>
                    <a:pt x="1098298" y="83610"/>
                  </a:lnTo>
                  <a:lnTo>
                    <a:pt x="1064572" y="112575"/>
                  </a:lnTo>
                  <a:lnTo>
                    <a:pt x="1035624" y="146320"/>
                  </a:lnTo>
                  <a:lnTo>
                    <a:pt x="1012056" y="184240"/>
                  </a:lnTo>
                  <a:lnTo>
                    <a:pt x="994474" y="225730"/>
                  </a:lnTo>
                  <a:lnTo>
                    <a:pt x="983481" y="270185"/>
                  </a:lnTo>
                  <a:lnTo>
                    <a:pt x="979683" y="317000"/>
                  </a:lnTo>
                  <a:lnTo>
                    <a:pt x="979683" y="5566201"/>
                  </a:lnTo>
                  <a:lnTo>
                    <a:pt x="4428884" y="5566201"/>
                  </a:lnTo>
                  <a:lnTo>
                    <a:pt x="4428884" y="5567826"/>
                  </a:lnTo>
                  <a:lnTo>
                    <a:pt x="4438328" y="5614996"/>
                  </a:lnTo>
                  <a:lnTo>
                    <a:pt x="4464221" y="5653782"/>
                  </a:lnTo>
                  <a:lnTo>
                    <a:pt x="4502909" y="5680072"/>
                  </a:lnTo>
                  <a:lnTo>
                    <a:pt x="4550735" y="5689750"/>
                  </a:lnTo>
                  <a:lnTo>
                    <a:pt x="10203013" y="5689750"/>
                  </a:lnTo>
                  <a:lnTo>
                    <a:pt x="10203013" y="5733545"/>
                  </a:lnTo>
                  <a:lnTo>
                    <a:pt x="10201687" y="5740170"/>
                  </a:lnTo>
                  <a:lnTo>
                    <a:pt x="10175793" y="5778957"/>
                  </a:lnTo>
                  <a:lnTo>
                    <a:pt x="10137106" y="5805246"/>
                  </a:lnTo>
                  <a:lnTo>
                    <a:pt x="10089279" y="5814924"/>
                  </a:lnTo>
                  <a:close/>
                </a:path>
                <a:path w="10203180" h="5815330">
                  <a:moveTo>
                    <a:pt x="10203013" y="5689750"/>
                  </a:moveTo>
                  <a:lnTo>
                    <a:pt x="5660394" y="5689750"/>
                  </a:lnTo>
                  <a:lnTo>
                    <a:pt x="5707535" y="5680301"/>
                  </a:lnTo>
                  <a:lnTo>
                    <a:pt x="5746299" y="5654392"/>
                  </a:lnTo>
                  <a:lnTo>
                    <a:pt x="5772573" y="5615681"/>
                  </a:lnTo>
                  <a:lnTo>
                    <a:pt x="5782245" y="5567826"/>
                  </a:lnTo>
                  <a:lnTo>
                    <a:pt x="5782245" y="5566201"/>
                  </a:lnTo>
                  <a:lnTo>
                    <a:pt x="9231446" y="5566201"/>
                  </a:lnTo>
                  <a:lnTo>
                    <a:pt x="9231446" y="317000"/>
                  </a:lnTo>
                  <a:lnTo>
                    <a:pt x="9227647" y="270185"/>
                  </a:lnTo>
                  <a:lnTo>
                    <a:pt x="9216655" y="225730"/>
                  </a:lnTo>
                  <a:lnTo>
                    <a:pt x="9199072" y="184240"/>
                  </a:lnTo>
                  <a:lnTo>
                    <a:pt x="9175505" y="146320"/>
                  </a:lnTo>
                  <a:lnTo>
                    <a:pt x="9146556" y="112575"/>
                  </a:lnTo>
                  <a:lnTo>
                    <a:pt x="9112831" y="83610"/>
                  </a:lnTo>
                  <a:lnTo>
                    <a:pt x="9074934" y="60028"/>
                  </a:lnTo>
                  <a:lnTo>
                    <a:pt x="9033468" y="42435"/>
                  </a:lnTo>
                  <a:lnTo>
                    <a:pt x="8989040" y="31436"/>
                  </a:lnTo>
                  <a:lnTo>
                    <a:pt x="8942252" y="27635"/>
                  </a:lnTo>
                  <a:lnTo>
                    <a:pt x="9076604" y="27635"/>
                  </a:lnTo>
                  <a:lnTo>
                    <a:pt x="9118578" y="50300"/>
                  </a:lnTo>
                  <a:lnTo>
                    <a:pt x="9153381" y="76579"/>
                  </a:lnTo>
                  <a:lnTo>
                    <a:pt x="9184156" y="107372"/>
                  </a:lnTo>
                  <a:lnTo>
                    <a:pt x="9210420" y="142196"/>
                  </a:lnTo>
                  <a:lnTo>
                    <a:pt x="9231688" y="180566"/>
                  </a:lnTo>
                  <a:lnTo>
                    <a:pt x="9247479" y="222000"/>
                  </a:lnTo>
                  <a:lnTo>
                    <a:pt x="9257307" y="266014"/>
                  </a:lnTo>
                  <a:lnTo>
                    <a:pt x="9260691" y="312123"/>
                  </a:lnTo>
                  <a:lnTo>
                    <a:pt x="9260691" y="5567826"/>
                  </a:lnTo>
                  <a:lnTo>
                    <a:pt x="10203013" y="5567826"/>
                  </a:lnTo>
                  <a:lnTo>
                    <a:pt x="10203013" y="568975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68996" y="8524366"/>
              <a:ext cx="9792335" cy="285115"/>
            </a:xfrm>
            <a:custGeom>
              <a:avLst/>
              <a:gdLst/>
              <a:ahLst/>
              <a:cxnLst/>
              <a:rect l="l" t="t" r="r" b="b"/>
              <a:pathLst>
                <a:path w="9792335" h="285115">
                  <a:moveTo>
                    <a:pt x="5572658" y="0"/>
                  </a:moveTo>
                  <a:lnTo>
                    <a:pt x="4217670" y="0"/>
                  </a:lnTo>
                  <a:lnTo>
                    <a:pt x="4217670" y="1625"/>
                  </a:lnTo>
                  <a:lnTo>
                    <a:pt x="4227373" y="48806"/>
                  </a:lnTo>
                  <a:lnTo>
                    <a:pt x="4253827" y="87591"/>
                  </a:lnTo>
                  <a:lnTo>
                    <a:pt x="4293070" y="113880"/>
                  </a:lnTo>
                  <a:lnTo>
                    <a:pt x="4341152" y="123558"/>
                  </a:lnTo>
                  <a:lnTo>
                    <a:pt x="5450814" y="123558"/>
                  </a:lnTo>
                  <a:lnTo>
                    <a:pt x="5498643" y="113880"/>
                  </a:lnTo>
                  <a:lnTo>
                    <a:pt x="5537327" y="87591"/>
                  </a:lnTo>
                  <a:lnTo>
                    <a:pt x="5563222" y="48806"/>
                  </a:lnTo>
                  <a:lnTo>
                    <a:pt x="5572658" y="1625"/>
                  </a:lnTo>
                  <a:lnTo>
                    <a:pt x="5572658" y="0"/>
                  </a:lnTo>
                  <a:close/>
                </a:path>
                <a:path w="9792335" h="285115">
                  <a:moveTo>
                    <a:pt x="9791967" y="247103"/>
                  </a:moveTo>
                  <a:lnTo>
                    <a:pt x="0" y="247103"/>
                  </a:lnTo>
                  <a:lnTo>
                    <a:pt x="3683" y="265188"/>
                  </a:lnTo>
                  <a:lnTo>
                    <a:pt x="13601" y="279615"/>
                  </a:lnTo>
                  <a:lnTo>
                    <a:pt x="21018" y="284505"/>
                  </a:lnTo>
                  <a:lnTo>
                    <a:pt x="9770986" y="284505"/>
                  </a:lnTo>
                  <a:lnTo>
                    <a:pt x="9778962" y="279006"/>
                  </a:lnTo>
                  <a:lnTo>
                    <a:pt x="9788512" y="264502"/>
                  </a:lnTo>
                  <a:lnTo>
                    <a:pt x="9791967" y="247103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89947" y="3310437"/>
              <a:ext cx="7740329" cy="484419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914543" y="822259"/>
            <a:ext cx="12073890" cy="1276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200" spc="-120" dirty="0">
                <a:solidFill>
                  <a:srgbClr val="041C40"/>
                </a:solidFill>
              </a:rPr>
              <a:t>Banking</a:t>
            </a:r>
            <a:r>
              <a:rPr sz="8200" spc="-330" dirty="0">
                <a:solidFill>
                  <a:srgbClr val="041C40"/>
                </a:solidFill>
              </a:rPr>
              <a:t> </a:t>
            </a:r>
            <a:r>
              <a:rPr sz="8200" spc="-160" dirty="0">
                <a:solidFill>
                  <a:srgbClr val="041C40"/>
                </a:solidFill>
              </a:rPr>
              <a:t>Dashboard</a:t>
            </a:r>
            <a:r>
              <a:rPr sz="8200" spc="-325" dirty="0">
                <a:solidFill>
                  <a:srgbClr val="041C40"/>
                </a:solidFill>
              </a:rPr>
              <a:t> </a:t>
            </a:r>
            <a:r>
              <a:rPr sz="8200" spc="-20" dirty="0">
                <a:solidFill>
                  <a:srgbClr val="041C40"/>
                </a:solidFill>
              </a:rPr>
              <a:t>Project</a:t>
            </a:r>
            <a:endParaRPr sz="8200"/>
          </a:p>
        </p:txBody>
      </p:sp>
      <p:sp>
        <p:nvSpPr>
          <p:cNvPr id="13" name="object 13"/>
          <p:cNvSpPr txBox="1"/>
          <p:nvPr/>
        </p:nvSpPr>
        <p:spPr>
          <a:xfrm>
            <a:off x="433878" y="4730082"/>
            <a:ext cx="6548120" cy="559769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lang="en-IN" sz="3050" dirty="0">
                <a:latin typeface="Times New Roman"/>
                <a:cs typeface="Times New Roman"/>
              </a:rPr>
              <a:t>BY : MADHUR GAHANE</a:t>
            </a:r>
            <a:endParaRPr sz="30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517814" y="0"/>
            <a:ext cx="3770629" cy="10287000"/>
          </a:xfrm>
          <a:custGeom>
            <a:avLst/>
            <a:gdLst/>
            <a:ahLst/>
            <a:cxnLst/>
            <a:rect l="l" t="t" r="r" b="b"/>
            <a:pathLst>
              <a:path w="3770630" h="10287000">
                <a:moveTo>
                  <a:pt x="3770185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3770185" y="0"/>
                </a:lnTo>
                <a:lnTo>
                  <a:pt x="3770185" y="10286999"/>
                </a:lnTo>
                <a:close/>
              </a:path>
            </a:pathLst>
          </a:custGeom>
          <a:solidFill>
            <a:srgbClr val="135C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4579"/>
            <a:ext cx="1868170" cy="2087245"/>
          </a:xfrm>
          <a:custGeom>
            <a:avLst/>
            <a:gdLst/>
            <a:ahLst/>
            <a:cxnLst/>
            <a:rect l="l" t="t" r="r" b="b"/>
            <a:pathLst>
              <a:path w="1868170" h="2087245">
                <a:moveTo>
                  <a:pt x="0" y="2086735"/>
                </a:moveTo>
                <a:lnTo>
                  <a:pt x="45849" y="2086095"/>
                </a:lnTo>
                <a:lnTo>
                  <a:pt x="72981" y="2085142"/>
                </a:lnTo>
              </a:path>
              <a:path w="1868170" h="2087245">
                <a:moveTo>
                  <a:pt x="98219" y="2084083"/>
                </a:moveTo>
                <a:lnTo>
                  <a:pt x="119603" y="2082769"/>
                </a:lnTo>
              </a:path>
              <a:path w="1868170" h="2087245">
                <a:moveTo>
                  <a:pt x="147088" y="2080841"/>
                </a:moveTo>
                <a:lnTo>
                  <a:pt x="169871" y="2078878"/>
                </a:lnTo>
              </a:path>
              <a:path w="1868170" h="2087245">
                <a:moveTo>
                  <a:pt x="196241" y="2076281"/>
                </a:moveTo>
                <a:lnTo>
                  <a:pt x="218972" y="2073761"/>
                </a:lnTo>
              </a:path>
              <a:path w="1868170" h="2087245">
                <a:moveTo>
                  <a:pt x="246296" y="2070291"/>
                </a:moveTo>
                <a:lnTo>
                  <a:pt x="274038" y="2066395"/>
                </a:lnTo>
                <a:lnTo>
                  <a:pt x="312746" y="2060276"/>
                </a:lnTo>
              </a:path>
              <a:path w="1868170" h="2087245">
                <a:moveTo>
                  <a:pt x="364382" y="2050846"/>
                </a:moveTo>
                <a:lnTo>
                  <a:pt x="409227" y="2041274"/>
                </a:lnTo>
                <a:lnTo>
                  <a:pt x="453800" y="2030638"/>
                </a:lnTo>
                <a:lnTo>
                  <a:pt x="485108" y="2022479"/>
                </a:lnTo>
              </a:path>
              <a:path w="1868170" h="2087245">
                <a:moveTo>
                  <a:pt x="507483" y="2016373"/>
                </a:moveTo>
                <a:lnTo>
                  <a:pt x="529471" y="2009996"/>
                </a:lnTo>
              </a:path>
              <a:path w="1868170" h="2087245">
                <a:moveTo>
                  <a:pt x="554802" y="2002312"/>
                </a:moveTo>
                <a:lnTo>
                  <a:pt x="576625" y="1995399"/>
                </a:lnTo>
              </a:path>
              <a:path w="1868170" h="2087245">
                <a:moveTo>
                  <a:pt x="714762" y="1944560"/>
                </a:moveTo>
                <a:lnTo>
                  <a:pt x="756877" y="1926423"/>
                </a:lnTo>
                <a:lnTo>
                  <a:pt x="798519" y="1907295"/>
                </a:lnTo>
                <a:lnTo>
                  <a:pt x="827638" y="1893182"/>
                </a:lnTo>
              </a:path>
              <a:path w="1868170" h="2087245">
                <a:moveTo>
                  <a:pt x="848382" y="1882834"/>
                </a:moveTo>
                <a:lnTo>
                  <a:pt x="868719" y="1872282"/>
                </a:lnTo>
              </a:path>
              <a:path w="1868170" h="2087245">
                <a:moveTo>
                  <a:pt x="892043" y="1859815"/>
                </a:moveTo>
                <a:lnTo>
                  <a:pt x="912116" y="1848767"/>
                </a:lnTo>
              </a:path>
              <a:path w="1868170" h="2087245">
                <a:moveTo>
                  <a:pt x="993586" y="1800448"/>
                </a:moveTo>
                <a:lnTo>
                  <a:pt x="999161" y="1796846"/>
                </a:lnTo>
                <a:lnTo>
                  <a:pt x="1037674" y="1771960"/>
                </a:lnTo>
                <a:lnTo>
                  <a:pt x="1075442" y="1745955"/>
                </a:lnTo>
                <a:lnTo>
                  <a:pt x="1080827" y="1742076"/>
                </a:lnTo>
              </a:path>
              <a:path w="1868170" h="2087245">
                <a:moveTo>
                  <a:pt x="1283026" y="1576221"/>
                </a:moveTo>
                <a:lnTo>
                  <a:pt x="1320709" y="1539679"/>
                </a:lnTo>
                <a:lnTo>
                  <a:pt x="1352678" y="1506806"/>
                </a:lnTo>
                <a:lnTo>
                  <a:pt x="1383804" y="1473174"/>
                </a:lnTo>
                <a:lnTo>
                  <a:pt x="1414163" y="1438853"/>
                </a:lnTo>
                <a:lnTo>
                  <a:pt x="1443676" y="1403765"/>
                </a:lnTo>
                <a:lnTo>
                  <a:pt x="1472333" y="1367973"/>
                </a:lnTo>
                <a:lnTo>
                  <a:pt x="1500101" y="1331522"/>
                </a:lnTo>
                <a:lnTo>
                  <a:pt x="1523145" y="1299825"/>
                </a:lnTo>
              </a:path>
              <a:path w="1868170" h="2087245">
                <a:moveTo>
                  <a:pt x="1552990" y="1256644"/>
                </a:moveTo>
                <a:lnTo>
                  <a:pt x="1577931" y="1218166"/>
                </a:lnTo>
                <a:lnTo>
                  <a:pt x="1581422" y="1212522"/>
                </a:lnTo>
              </a:path>
              <a:path w="1868170" h="2087245">
                <a:moveTo>
                  <a:pt x="1630447" y="1129906"/>
                </a:moveTo>
                <a:lnTo>
                  <a:pt x="1640836" y="1111031"/>
                </a:lnTo>
              </a:path>
              <a:path w="1868170" h="2087245">
                <a:moveTo>
                  <a:pt x="1653322" y="1087671"/>
                </a:moveTo>
                <a:lnTo>
                  <a:pt x="1663859" y="1067363"/>
                </a:lnTo>
              </a:path>
              <a:path w="1868170" h="2087245">
                <a:moveTo>
                  <a:pt x="1725590" y="933732"/>
                </a:moveTo>
                <a:lnTo>
                  <a:pt x="1742545" y="891128"/>
                </a:lnTo>
                <a:lnTo>
                  <a:pt x="1758464" y="848157"/>
                </a:lnTo>
                <a:lnTo>
                  <a:pt x="1769072" y="817599"/>
                </a:lnTo>
              </a:path>
              <a:path w="1868170" h="2087245">
                <a:moveTo>
                  <a:pt x="1776431" y="795590"/>
                </a:moveTo>
                <a:lnTo>
                  <a:pt x="1783340" y="773778"/>
                </a:lnTo>
              </a:path>
              <a:path w="1868170" h="2087245">
                <a:moveTo>
                  <a:pt x="1791028" y="748435"/>
                </a:moveTo>
                <a:lnTo>
                  <a:pt x="1797401" y="726459"/>
                </a:lnTo>
              </a:path>
              <a:path w="1868170" h="2087245">
                <a:moveTo>
                  <a:pt x="1831876" y="583352"/>
                </a:moveTo>
                <a:lnTo>
                  <a:pt x="1840194" y="538259"/>
                </a:lnTo>
                <a:lnTo>
                  <a:pt x="1847424" y="493008"/>
                </a:lnTo>
                <a:lnTo>
                  <a:pt x="1851866" y="460973"/>
                </a:lnTo>
              </a:path>
              <a:path w="1868170" h="2087245">
                <a:moveTo>
                  <a:pt x="1854791" y="437939"/>
                </a:moveTo>
                <a:lnTo>
                  <a:pt x="1857311" y="415216"/>
                </a:lnTo>
              </a:path>
              <a:path w="1868170" h="2087245">
                <a:moveTo>
                  <a:pt x="1859909" y="388837"/>
                </a:moveTo>
                <a:lnTo>
                  <a:pt x="1861870" y="366061"/>
                </a:lnTo>
              </a:path>
              <a:path w="1868170" h="2087245">
                <a:moveTo>
                  <a:pt x="1863799" y="338570"/>
                </a:moveTo>
                <a:lnTo>
                  <a:pt x="1865113" y="317190"/>
                </a:lnTo>
              </a:path>
              <a:path w="1868170" h="2087245">
                <a:moveTo>
                  <a:pt x="1867765" y="218970"/>
                </a:moveTo>
                <a:lnTo>
                  <a:pt x="1867125" y="173120"/>
                </a:lnTo>
                <a:lnTo>
                  <a:pt x="1866172" y="145987"/>
                </a:lnTo>
              </a:path>
              <a:path w="1868170" h="2087245">
                <a:moveTo>
                  <a:pt x="1865113" y="120749"/>
                </a:moveTo>
                <a:lnTo>
                  <a:pt x="1863799" y="99368"/>
                </a:lnTo>
              </a:path>
              <a:path w="1868170" h="2087245">
                <a:moveTo>
                  <a:pt x="1861870" y="71879"/>
                </a:moveTo>
                <a:lnTo>
                  <a:pt x="1859909" y="49101"/>
                </a:lnTo>
              </a:path>
              <a:path w="1868170" h="2087245">
                <a:moveTo>
                  <a:pt x="1857311" y="22725"/>
                </a:moveTo>
                <a:lnTo>
                  <a:pt x="1854791" y="0"/>
                </a:lnTo>
              </a:path>
            </a:pathLst>
          </a:custGeom>
          <a:ln w="1905000">
            <a:solidFill>
              <a:srgbClr val="135C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07642" y="1662618"/>
            <a:ext cx="7980357" cy="75914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5531" y="2719158"/>
            <a:ext cx="10212070" cy="508317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3200" b="1" spc="-10" dirty="0">
                <a:solidFill>
                  <a:srgbClr val="041C40"/>
                </a:solidFill>
                <a:latin typeface="Times New Roman"/>
                <a:cs typeface="Times New Roman"/>
              </a:rPr>
              <a:t>Objective:</a:t>
            </a:r>
            <a:endParaRPr sz="3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5199"/>
              </a:lnSpc>
            </a:pP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To</a:t>
            </a:r>
            <a:r>
              <a:rPr sz="3200" spc="690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explore,</a:t>
            </a:r>
            <a:r>
              <a:rPr sz="3200" spc="695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visualize,</a:t>
            </a:r>
            <a:r>
              <a:rPr sz="3200" spc="690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spc="160" dirty="0">
                <a:solidFill>
                  <a:srgbClr val="041C40"/>
                </a:solidFill>
                <a:latin typeface="Times New Roman"/>
                <a:cs typeface="Times New Roman"/>
              </a:rPr>
              <a:t>and</a:t>
            </a:r>
            <a:r>
              <a:rPr sz="3200" spc="695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analyze</a:t>
            </a:r>
            <a:r>
              <a:rPr sz="3200" spc="695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spc="155" dirty="0">
                <a:solidFill>
                  <a:srgbClr val="041C40"/>
                </a:solidFill>
                <a:latin typeface="Times New Roman"/>
                <a:cs typeface="Times New Roman"/>
              </a:rPr>
              <a:t>bank</a:t>
            </a:r>
            <a:r>
              <a:rPr sz="3200" spc="690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spc="110" dirty="0">
                <a:solidFill>
                  <a:srgbClr val="041C40"/>
                </a:solidFill>
                <a:latin typeface="Times New Roman"/>
                <a:cs typeface="Times New Roman"/>
              </a:rPr>
              <a:t>loan</a:t>
            </a:r>
            <a:r>
              <a:rPr sz="3200" spc="695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spc="135" dirty="0">
                <a:solidFill>
                  <a:srgbClr val="041C40"/>
                </a:solidFill>
                <a:latin typeface="Times New Roman"/>
                <a:cs typeface="Times New Roman"/>
              </a:rPr>
              <a:t>and </a:t>
            </a:r>
            <a:r>
              <a:rPr sz="3200" spc="105" dirty="0">
                <a:solidFill>
                  <a:srgbClr val="041C40"/>
                </a:solidFill>
                <a:latin typeface="Times New Roman"/>
                <a:cs typeface="Times New Roman"/>
              </a:rPr>
              <a:t>transaction</a:t>
            </a:r>
            <a:r>
              <a:rPr sz="3200" spc="55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140" dirty="0">
                <a:solidFill>
                  <a:srgbClr val="041C40"/>
                </a:solidFill>
                <a:latin typeface="Times New Roman"/>
                <a:cs typeface="Times New Roman"/>
              </a:rPr>
              <a:t>data</a:t>
            </a:r>
            <a:r>
              <a:rPr sz="3200" spc="55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using</a:t>
            </a:r>
            <a:r>
              <a:rPr sz="3200" spc="55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90" dirty="0">
                <a:solidFill>
                  <a:srgbClr val="041C40"/>
                </a:solidFill>
                <a:latin typeface="Times New Roman"/>
                <a:cs typeface="Times New Roman"/>
              </a:rPr>
              <a:t>industry</a:t>
            </a:r>
            <a:r>
              <a:rPr sz="3200" spc="55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85" dirty="0">
                <a:solidFill>
                  <a:srgbClr val="041C40"/>
                </a:solidFill>
                <a:latin typeface="Times New Roman"/>
                <a:cs typeface="Times New Roman"/>
              </a:rPr>
              <a:t>tools</a:t>
            </a:r>
            <a:r>
              <a:rPr sz="3200" spc="55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like</a:t>
            </a:r>
            <a:r>
              <a:rPr sz="3200" spc="55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Excel,</a:t>
            </a:r>
            <a:r>
              <a:rPr sz="3200" spc="55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40" dirty="0">
                <a:solidFill>
                  <a:srgbClr val="041C40"/>
                </a:solidFill>
                <a:latin typeface="Times New Roman"/>
                <a:cs typeface="Times New Roman"/>
              </a:rPr>
              <a:t>Tableau, </a:t>
            </a:r>
            <a:r>
              <a:rPr sz="3200" spc="160" dirty="0">
                <a:solidFill>
                  <a:srgbClr val="041C40"/>
                </a:solidFill>
                <a:latin typeface="Times New Roman"/>
                <a:cs typeface="Times New Roman"/>
              </a:rPr>
              <a:t>and</a:t>
            </a:r>
            <a:r>
              <a:rPr sz="3200" spc="5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Power</a:t>
            </a:r>
            <a:r>
              <a:rPr sz="3200" spc="5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35" dirty="0">
                <a:solidFill>
                  <a:srgbClr val="041C40"/>
                </a:solidFill>
                <a:latin typeface="Times New Roman"/>
                <a:cs typeface="Times New Roman"/>
              </a:rPr>
              <a:t>BI.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b="1" spc="-20" dirty="0">
                <a:solidFill>
                  <a:srgbClr val="041C40"/>
                </a:solidFill>
                <a:latin typeface="Times New Roman"/>
                <a:cs typeface="Times New Roman"/>
              </a:rPr>
              <a:t>Goal:</a:t>
            </a:r>
            <a:endParaRPr sz="3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5199"/>
              </a:lnSpc>
            </a:pPr>
            <a:r>
              <a:rPr sz="3200" spc="70" dirty="0">
                <a:solidFill>
                  <a:srgbClr val="041C40"/>
                </a:solidFill>
                <a:latin typeface="Times New Roman"/>
                <a:cs typeface="Times New Roman"/>
              </a:rPr>
              <a:t>Create</a:t>
            </a:r>
            <a:r>
              <a:rPr sz="3200" spc="40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50" dirty="0">
                <a:solidFill>
                  <a:srgbClr val="041C40"/>
                </a:solidFill>
                <a:latin typeface="Times New Roman"/>
                <a:cs typeface="Times New Roman"/>
              </a:rPr>
              <a:t>interactive</a:t>
            </a:r>
            <a:r>
              <a:rPr sz="3200" spc="409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114" dirty="0">
                <a:solidFill>
                  <a:srgbClr val="041C40"/>
                </a:solidFill>
                <a:latin typeface="Times New Roman"/>
                <a:cs typeface="Times New Roman"/>
              </a:rPr>
              <a:t>dashboards</a:t>
            </a:r>
            <a:r>
              <a:rPr sz="3200" spc="409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145" dirty="0">
                <a:solidFill>
                  <a:srgbClr val="041C40"/>
                </a:solidFill>
                <a:latin typeface="Times New Roman"/>
                <a:cs typeface="Times New Roman"/>
              </a:rPr>
              <a:t>that</a:t>
            </a:r>
            <a:r>
              <a:rPr sz="3200" spc="409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50" dirty="0">
                <a:solidFill>
                  <a:srgbClr val="041C40"/>
                </a:solidFill>
                <a:latin typeface="Times New Roman"/>
                <a:cs typeface="Times New Roman"/>
              </a:rPr>
              <a:t>help</a:t>
            </a:r>
            <a:r>
              <a:rPr sz="3200" spc="409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60" dirty="0">
                <a:solidFill>
                  <a:srgbClr val="041C40"/>
                </a:solidFill>
                <a:latin typeface="Times New Roman"/>
                <a:cs typeface="Times New Roman"/>
              </a:rPr>
              <a:t>in</a:t>
            </a:r>
            <a:r>
              <a:rPr sz="3200" spc="409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45" dirty="0">
                <a:solidFill>
                  <a:srgbClr val="041C40"/>
                </a:solidFill>
                <a:latin typeface="Times New Roman"/>
                <a:cs typeface="Times New Roman"/>
              </a:rPr>
              <a:t>identifying</a:t>
            </a:r>
            <a:r>
              <a:rPr sz="3200" spc="409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41C40"/>
                </a:solidFill>
                <a:latin typeface="Times New Roman"/>
                <a:cs typeface="Times New Roman"/>
              </a:rPr>
              <a:t>key </a:t>
            </a:r>
            <a:r>
              <a:rPr sz="3200" spc="45" dirty="0">
                <a:solidFill>
                  <a:srgbClr val="041C40"/>
                </a:solidFill>
                <a:latin typeface="Times New Roman"/>
                <a:cs typeface="Times New Roman"/>
              </a:rPr>
              <a:t>financial</a:t>
            </a:r>
            <a:r>
              <a:rPr sz="3200" spc="370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spc="80" dirty="0">
                <a:solidFill>
                  <a:srgbClr val="041C40"/>
                </a:solidFill>
                <a:latin typeface="Times New Roman"/>
                <a:cs typeface="Times New Roman"/>
              </a:rPr>
              <a:t>patterns,</a:t>
            </a:r>
            <a:r>
              <a:rPr sz="3200" spc="370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client</a:t>
            </a:r>
            <a:r>
              <a:rPr sz="3200" spc="370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insights,</a:t>
            </a:r>
            <a:r>
              <a:rPr sz="3200" spc="370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spc="160" dirty="0">
                <a:solidFill>
                  <a:srgbClr val="041C40"/>
                </a:solidFill>
                <a:latin typeface="Times New Roman"/>
                <a:cs typeface="Times New Roman"/>
              </a:rPr>
              <a:t>and</a:t>
            </a:r>
            <a:r>
              <a:rPr sz="3200" spc="370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decision-</a:t>
            </a:r>
            <a:r>
              <a:rPr sz="3200" spc="60" dirty="0">
                <a:solidFill>
                  <a:srgbClr val="041C40"/>
                </a:solidFill>
                <a:latin typeface="Times New Roman"/>
                <a:cs typeface="Times New Roman"/>
              </a:rPr>
              <a:t>making </a:t>
            </a:r>
            <a:r>
              <a:rPr sz="3200" spc="70" dirty="0">
                <a:solidFill>
                  <a:srgbClr val="041C40"/>
                </a:solidFill>
                <a:latin typeface="Times New Roman"/>
                <a:cs typeface="Times New Roman"/>
              </a:rPr>
              <a:t>indicators</a:t>
            </a:r>
            <a:r>
              <a:rPr sz="3200" spc="2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60" dirty="0">
                <a:solidFill>
                  <a:srgbClr val="041C40"/>
                </a:solidFill>
                <a:latin typeface="Times New Roman"/>
                <a:cs typeface="Times New Roman"/>
              </a:rPr>
              <a:t>for</a:t>
            </a:r>
            <a:r>
              <a:rPr sz="3200" spc="2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45" dirty="0">
                <a:solidFill>
                  <a:srgbClr val="041C40"/>
                </a:solidFill>
                <a:latin typeface="Times New Roman"/>
                <a:cs typeface="Times New Roman"/>
              </a:rPr>
              <a:t>financial</a:t>
            </a:r>
            <a:r>
              <a:rPr sz="3200" spc="2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55" dirty="0">
                <a:solidFill>
                  <a:srgbClr val="041C40"/>
                </a:solidFill>
                <a:latin typeface="Times New Roman"/>
                <a:cs typeface="Times New Roman"/>
              </a:rPr>
              <a:t>institutions.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936" rIns="0" bIns="0" rtlCol="0">
            <a:spAutoFit/>
          </a:bodyPr>
          <a:lstStyle/>
          <a:p>
            <a:pPr marL="1869439">
              <a:lnSpc>
                <a:spcPct val="100000"/>
              </a:lnSpc>
              <a:spcBef>
                <a:spcPts val="120"/>
              </a:spcBef>
            </a:pPr>
            <a:r>
              <a:rPr sz="7300" spc="130" dirty="0">
                <a:solidFill>
                  <a:srgbClr val="041C40"/>
                </a:solidFill>
              </a:rPr>
              <a:t>INTRODUCTION</a:t>
            </a:r>
            <a:endParaRPr sz="7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374527" y="0"/>
            <a:ext cx="7914005" cy="11239500"/>
            <a:chOff x="10374527" y="0"/>
            <a:chExt cx="7914005" cy="11239500"/>
          </a:xfrm>
        </p:grpSpPr>
        <p:sp>
          <p:nvSpPr>
            <p:cNvPr id="3" name="object 3"/>
            <p:cNvSpPr/>
            <p:nvPr/>
          </p:nvSpPr>
          <p:spPr>
            <a:xfrm>
              <a:off x="13266830" y="0"/>
              <a:ext cx="5021580" cy="10287000"/>
            </a:xfrm>
            <a:custGeom>
              <a:avLst/>
              <a:gdLst/>
              <a:ahLst/>
              <a:cxnLst/>
              <a:rect l="l" t="t" r="r" b="b"/>
              <a:pathLst>
                <a:path w="5021580" h="10287000">
                  <a:moveTo>
                    <a:pt x="5021169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5021169" y="0"/>
                  </a:lnTo>
                  <a:lnTo>
                    <a:pt x="5021169" y="10286999"/>
                  </a:lnTo>
                  <a:close/>
                </a:path>
              </a:pathLst>
            </a:custGeom>
            <a:solidFill>
              <a:srgbClr val="041C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700692" y="9325206"/>
              <a:ext cx="89535" cy="962025"/>
            </a:xfrm>
            <a:custGeom>
              <a:avLst/>
              <a:gdLst/>
              <a:ahLst/>
              <a:cxnLst/>
              <a:rect l="l" t="t" r="r" b="b"/>
              <a:pathLst>
                <a:path w="89534" h="962025">
                  <a:moveTo>
                    <a:pt x="89202" y="0"/>
                  </a:moveTo>
                  <a:lnTo>
                    <a:pt x="89139" y="256"/>
                  </a:lnTo>
                </a:path>
                <a:path w="89534" h="962025">
                  <a:moveTo>
                    <a:pt x="48126" y="190208"/>
                  </a:moveTo>
                  <a:lnTo>
                    <a:pt x="48029" y="190757"/>
                  </a:lnTo>
                </a:path>
                <a:path w="89534" h="962025">
                  <a:moveTo>
                    <a:pt x="284" y="686051"/>
                  </a:moveTo>
                  <a:lnTo>
                    <a:pt x="0" y="722465"/>
                  </a:lnTo>
                  <a:lnTo>
                    <a:pt x="13" y="724151"/>
                  </a:lnTo>
                  <a:lnTo>
                    <a:pt x="355" y="771138"/>
                  </a:lnTo>
                  <a:lnTo>
                    <a:pt x="451" y="774950"/>
                  </a:lnTo>
                  <a:lnTo>
                    <a:pt x="1577" y="819772"/>
                  </a:lnTo>
                  <a:lnTo>
                    <a:pt x="3566" y="868367"/>
                  </a:lnTo>
                  <a:lnTo>
                    <a:pt x="6350" y="916922"/>
                  </a:lnTo>
                  <a:lnTo>
                    <a:pt x="9660" y="961793"/>
                  </a:lnTo>
                </a:path>
              </a:pathLst>
            </a:custGeom>
            <a:ln w="1905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74527" y="1782102"/>
              <a:ext cx="7913472" cy="738187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4381" rIns="0" bIns="0" rtlCol="0">
            <a:spAutoFit/>
          </a:bodyPr>
          <a:lstStyle/>
          <a:p>
            <a:pPr marL="1878330">
              <a:lnSpc>
                <a:spcPct val="100000"/>
              </a:lnSpc>
              <a:spcBef>
                <a:spcPts val="100"/>
              </a:spcBef>
            </a:pPr>
            <a:r>
              <a:rPr sz="6100" spc="100" dirty="0">
                <a:solidFill>
                  <a:srgbClr val="041C40"/>
                </a:solidFill>
              </a:rPr>
              <a:t>PROBLEM</a:t>
            </a:r>
            <a:r>
              <a:rPr sz="6100" spc="20" dirty="0">
                <a:solidFill>
                  <a:srgbClr val="041C40"/>
                </a:solidFill>
              </a:rPr>
              <a:t> </a:t>
            </a:r>
            <a:r>
              <a:rPr sz="6100" spc="65" dirty="0">
                <a:solidFill>
                  <a:srgbClr val="041C40"/>
                </a:solidFill>
              </a:rPr>
              <a:t>STATEMENT</a:t>
            </a:r>
            <a:endParaRPr sz="6100"/>
          </a:p>
        </p:txBody>
      </p:sp>
      <p:sp>
        <p:nvSpPr>
          <p:cNvPr id="7" name="object 7"/>
          <p:cNvSpPr/>
          <p:nvPr/>
        </p:nvSpPr>
        <p:spPr>
          <a:xfrm>
            <a:off x="23872" y="140346"/>
            <a:ext cx="1939289" cy="1642110"/>
          </a:xfrm>
          <a:custGeom>
            <a:avLst/>
            <a:gdLst/>
            <a:ahLst/>
            <a:cxnLst/>
            <a:rect l="l" t="t" r="r" b="b"/>
            <a:pathLst>
              <a:path w="1939289" h="1642110">
                <a:moveTo>
                  <a:pt x="0" y="1634230"/>
                </a:moveTo>
                <a:lnTo>
                  <a:pt x="22064" y="1636131"/>
                </a:lnTo>
              </a:path>
              <a:path w="1939289" h="1642110">
                <a:moveTo>
                  <a:pt x="162409" y="1641755"/>
                </a:moveTo>
                <a:lnTo>
                  <a:pt x="206156" y="1641144"/>
                </a:lnTo>
                <a:lnTo>
                  <a:pt x="249847" y="1639488"/>
                </a:lnTo>
                <a:lnTo>
                  <a:pt x="280651" y="1637681"/>
                </a:lnTo>
              </a:path>
              <a:path w="1939289" h="1642110">
                <a:moveTo>
                  <a:pt x="302754" y="1636131"/>
                </a:moveTo>
                <a:lnTo>
                  <a:pt x="324485" y="1634259"/>
                </a:lnTo>
              </a:path>
              <a:path w="1939289" h="1642110">
                <a:moveTo>
                  <a:pt x="349655" y="1631780"/>
                </a:moveTo>
                <a:lnTo>
                  <a:pt x="371335" y="1629376"/>
                </a:lnTo>
              </a:path>
              <a:path w="1939289" h="1642110">
                <a:moveTo>
                  <a:pt x="510080" y="1607512"/>
                </a:moveTo>
                <a:lnTo>
                  <a:pt x="552867" y="1598379"/>
                </a:lnTo>
                <a:lnTo>
                  <a:pt x="595396" y="1588230"/>
                </a:lnTo>
                <a:lnTo>
                  <a:pt x="625278" y="1580443"/>
                </a:lnTo>
              </a:path>
              <a:path w="1939289" h="1642110">
                <a:moveTo>
                  <a:pt x="646608" y="1574622"/>
                </a:moveTo>
                <a:lnTo>
                  <a:pt x="667609" y="1568532"/>
                </a:lnTo>
              </a:path>
              <a:path w="1939289" h="1642110">
                <a:moveTo>
                  <a:pt x="691754" y="1561208"/>
                </a:moveTo>
                <a:lnTo>
                  <a:pt x="712597" y="1554605"/>
                </a:lnTo>
              </a:path>
              <a:path w="1939289" h="1642110">
                <a:moveTo>
                  <a:pt x="797830" y="1524553"/>
                </a:moveTo>
                <a:lnTo>
                  <a:pt x="803716" y="1522220"/>
                </a:lnTo>
                <a:lnTo>
                  <a:pt x="844390" y="1506100"/>
                </a:lnTo>
                <a:lnTo>
                  <a:pt x="884573" y="1488795"/>
                </a:lnTo>
                <a:lnTo>
                  <a:pt x="890335" y="1486168"/>
                </a:lnTo>
              </a:path>
              <a:path w="1939289" h="1642110">
                <a:moveTo>
                  <a:pt x="973010" y="1446619"/>
                </a:moveTo>
                <a:lnTo>
                  <a:pt x="991295" y="1437132"/>
                </a:lnTo>
              </a:path>
              <a:path w="1939289" h="1642110">
                <a:moveTo>
                  <a:pt x="1013529" y="1425248"/>
                </a:moveTo>
                <a:lnTo>
                  <a:pt x="1032701" y="1414696"/>
                </a:lnTo>
              </a:path>
              <a:path w="1939289" h="1642110">
                <a:moveTo>
                  <a:pt x="1110426" y="1368598"/>
                </a:moveTo>
                <a:lnTo>
                  <a:pt x="1152491" y="1341417"/>
                </a:lnTo>
                <a:lnTo>
                  <a:pt x="1188527" y="1316604"/>
                </a:lnTo>
                <a:lnTo>
                  <a:pt x="1223915" y="1290926"/>
                </a:lnTo>
                <a:lnTo>
                  <a:pt x="1258714" y="1264459"/>
                </a:lnTo>
                <a:lnTo>
                  <a:pt x="1292864" y="1237116"/>
                </a:lnTo>
                <a:lnTo>
                  <a:pt x="1326343" y="1208957"/>
                </a:lnTo>
                <a:lnTo>
                  <a:pt x="1349733" y="1188415"/>
                </a:lnTo>
              </a:path>
              <a:path w="1939289" h="1642110">
                <a:moveTo>
                  <a:pt x="1386591" y="1154655"/>
                </a:moveTo>
                <a:lnTo>
                  <a:pt x="1391137" y="1150247"/>
                </a:lnTo>
                <a:lnTo>
                  <a:pt x="1422545" y="1119789"/>
                </a:lnTo>
                <a:lnTo>
                  <a:pt x="1453047" y="1088424"/>
                </a:lnTo>
                <a:lnTo>
                  <a:pt x="1482746" y="1056335"/>
                </a:lnTo>
                <a:lnTo>
                  <a:pt x="1511713" y="1023587"/>
                </a:lnTo>
                <a:lnTo>
                  <a:pt x="1539873" y="990108"/>
                </a:lnTo>
                <a:lnTo>
                  <a:pt x="1567215" y="955958"/>
                </a:lnTo>
                <a:lnTo>
                  <a:pt x="1593709" y="921179"/>
                </a:lnTo>
                <a:lnTo>
                  <a:pt x="1619297" y="885727"/>
                </a:lnTo>
                <a:lnTo>
                  <a:pt x="1644173" y="849735"/>
                </a:lnTo>
                <a:lnTo>
                  <a:pt x="1667970" y="813022"/>
                </a:lnTo>
                <a:lnTo>
                  <a:pt x="1671300" y="807637"/>
                </a:lnTo>
              </a:path>
              <a:path w="1939289" h="1642110">
                <a:moveTo>
                  <a:pt x="1718075" y="728815"/>
                </a:moveTo>
                <a:lnTo>
                  <a:pt x="1727994" y="710792"/>
                </a:lnTo>
              </a:path>
              <a:path w="1939289" h="1642110">
                <a:moveTo>
                  <a:pt x="1739899" y="688520"/>
                </a:moveTo>
                <a:lnTo>
                  <a:pt x="1749959" y="669131"/>
                </a:lnTo>
              </a:path>
              <a:path w="1939289" h="1642110">
                <a:moveTo>
                  <a:pt x="1788981" y="587605"/>
                </a:moveTo>
                <a:lnTo>
                  <a:pt x="1791494" y="581792"/>
                </a:lnTo>
                <a:lnTo>
                  <a:pt x="1808856" y="541634"/>
                </a:lnTo>
                <a:lnTo>
                  <a:pt x="1825034" y="500983"/>
                </a:lnTo>
                <a:lnTo>
                  <a:pt x="1827250" y="495051"/>
                </a:lnTo>
              </a:path>
              <a:path w="1939289" h="1642110">
                <a:moveTo>
                  <a:pt x="1857752" y="408607"/>
                </a:moveTo>
                <a:lnTo>
                  <a:pt x="1863956" y="389022"/>
                </a:lnTo>
              </a:path>
              <a:path w="1939289" h="1642110">
                <a:moveTo>
                  <a:pt x="1871295" y="364828"/>
                </a:moveTo>
                <a:lnTo>
                  <a:pt x="1877373" y="343871"/>
                </a:lnTo>
              </a:path>
              <a:path w="1939289" h="1642110">
                <a:moveTo>
                  <a:pt x="1910268" y="207324"/>
                </a:moveTo>
                <a:lnTo>
                  <a:pt x="1918204" y="164298"/>
                </a:lnTo>
                <a:lnTo>
                  <a:pt x="1925103" y="121123"/>
                </a:lnTo>
                <a:lnTo>
                  <a:pt x="1929341" y="90559"/>
                </a:lnTo>
              </a:path>
              <a:path w="1939289" h="1642110">
                <a:moveTo>
                  <a:pt x="1932132" y="68578"/>
                </a:moveTo>
                <a:lnTo>
                  <a:pt x="1934536" y="46901"/>
                </a:lnTo>
              </a:path>
              <a:path w="1939289" h="1642110">
                <a:moveTo>
                  <a:pt x="1937015" y="21727"/>
                </a:moveTo>
                <a:lnTo>
                  <a:pt x="1938886" y="0"/>
                </a:lnTo>
              </a:path>
            </a:pathLst>
          </a:custGeom>
          <a:ln w="1905000">
            <a:solidFill>
              <a:srgbClr val="041C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31" y="3604188"/>
            <a:ext cx="95250" cy="952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71137" y="3244912"/>
            <a:ext cx="9765030" cy="4025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17200"/>
              </a:lnSpc>
              <a:spcBef>
                <a:spcPts val="90"/>
              </a:spcBef>
            </a:pPr>
            <a:r>
              <a:rPr sz="3200" spc="75" dirty="0">
                <a:solidFill>
                  <a:srgbClr val="041C40"/>
                </a:solidFill>
                <a:latin typeface="Times New Roman"/>
                <a:cs typeface="Times New Roman"/>
              </a:rPr>
              <a:t>The</a:t>
            </a:r>
            <a:r>
              <a:rPr sz="3200" spc="7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65" dirty="0">
                <a:solidFill>
                  <a:srgbClr val="041C40"/>
                </a:solidFill>
                <a:latin typeface="Times New Roman"/>
                <a:cs typeface="Times New Roman"/>
              </a:rPr>
              <a:t>banking</a:t>
            </a:r>
            <a:r>
              <a:rPr sz="3200" spc="7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sector</a:t>
            </a:r>
            <a:r>
              <a:rPr sz="3200" spc="7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deals</a:t>
            </a:r>
            <a:r>
              <a:rPr sz="3200" spc="7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with</a:t>
            </a:r>
            <a:r>
              <a:rPr sz="3200" spc="7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huge</a:t>
            </a:r>
            <a:r>
              <a:rPr sz="3200" spc="7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90" dirty="0">
                <a:solidFill>
                  <a:srgbClr val="041C40"/>
                </a:solidFill>
                <a:latin typeface="Times New Roman"/>
                <a:cs typeface="Times New Roman"/>
              </a:rPr>
              <a:t>amounts</a:t>
            </a:r>
            <a:r>
              <a:rPr sz="3200" spc="7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60" dirty="0">
                <a:solidFill>
                  <a:srgbClr val="041C40"/>
                </a:solidFill>
                <a:latin typeface="Times New Roman"/>
                <a:cs typeface="Times New Roman"/>
              </a:rPr>
              <a:t>of</a:t>
            </a:r>
            <a:r>
              <a:rPr sz="3200" spc="7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client</a:t>
            </a:r>
            <a:r>
              <a:rPr sz="3200" spc="7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110" dirty="0">
                <a:solidFill>
                  <a:srgbClr val="041C40"/>
                </a:solidFill>
                <a:latin typeface="Times New Roman"/>
                <a:cs typeface="Times New Roman"/>
              </a:rPr>
              <a:t>and </a:t>
            </a:r>
            <a:r>
              <a:rPr sz="3200" spc="80" dirty="0">
                <a:solidFill>
                  <a:srgbClr val="041C40"/>
                </a:solidFill>
                <a:latin typeface="Times New Roman"/>
                <a:cs typeface="Times New Roman"/>
              </a:rPr>
              <a:t>loan</a:t>
            </a:r>
            <a:r>
              <a:rPr sz="3200" spc="-11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105" dirty="0">
                <a:solidFill>
                  <a:srgbClr val="041C40"/>
                </a:solidFill>
                <a:latin typeface="Times New Roman"/>
                <a:cs typeface="Times New Roman"/>
              </a:rPr>
              <a:t>data,</a:t>
            </a:r>
            <a:r>
              <a:rPr sz="3200" spc="-10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which</a:t>
            </a:r>
            <a:r>
              <a:rPr sz="3200" spc="-10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-30" dirty="0">
                <a:solidFill>
                  <a:srgbClr val="041C40"/>
                </a:solidFill>
                <a:latin typeface="Times New Roman"/>
                <a:cs typeface="Times New Roman"/>
              </a:rPr>
              <a:t>is</a:t>
            </a:r>
            <a:r>
              <a:rPr sz="3200" spc="-10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difficult</a:t>
            </a:r>
            <a:r>
              <a:rPr sz="3200" spc="-10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145" dirty="0">
                <a:solidFill>
                  <a:srgbClr val="041C40"/>
                </a:solidFill>
                <a:latin typeface="Times New Roman"/>
                <a:cs typeface="Times New Roman"/>
              </a:rPr>
              <a:t>to</a:t>
            </a:r>
            <a:r>
              <a:rPr sz="3200" spc="-10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analyze</a:t>
            </a:r>
            <a:r>
              <a:rPr sz="3200" spc="-10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41C40"/>
                </a:solidFill>
                <a:latin typeface="Times New Roman"/>
                <a:cs typeface="Times New Roman"/>
              </a:rPr>
              <a:t>manually.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7200"/>
              </a:lnSpc>
            </a:pP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This</a:t>
            </a:r>
            <a:r>
              <a:rPr sz="3200" spc="45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project</a:t>
            </a:r>
            <a:r>
              <a:rPr sz="3200" spc="45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focuses</a:t>
            </a:r>
            <a:r>
              <a:rPr sz="3200" spc="45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spc="140" dirty="0">
                <a:solidFill>
                  <a:srgbClr val="041C40"/>
                </a:solidFill>
                <a:latin typeface="Times New Roman"/>
                <a:cs typeface="Times New Roman"/>
              </a:rPr>
              <a:t>on</a:t>
            </a:r>
            <a:r>
              <a:rPr sz="3200" spc="50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converting</a:t>
            </a:r>
            <a:r>
              <a:rPr sz="3200" spc="45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spc="130" dirty="0">
                <a:solidFill>
                  <a:srgbClr val="041C40"/>
                </a:solidFill>
                <a:latin typeface="Times New Roman"/>
                <a:cs typeface="Times New Roman"/>
              </a:rPr>
              <a:t>that</a:t>
            </a:r>
            <a:r>
              <a:rPr sz="3200" spc="45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spc="75" dirty="0">
                <a:solidFill>
                  <a:srgbClr val="041C40"/>
                </a:solidFill>
                <a:latin typeface="Times New Roman"/>
                <a:cs typeface="Times New Roman"/>
              </a:rPr>
              <a:t>raw</a:t>
            </a:r>
            <a:r>
              <a:rPr sz="3200" spc="50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spc="130" dirty="0">
                <a:solidFill>
                  <a:srgbClr val="041C40"/>
                </a:solidFill>
                <a:latin typeface="Times New Roman"/>
                <a:cs typeface="Times New Roman"/>
              </a:rPr>
              <a:t>data</a:t>
            </a:r>
            <a:r>
              <a:rPr sz="3200" spc="45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spc="60" dirty="0">
                <a:solidFill>
                  <a:srgbClr val="041C40"/>
                </a:solidFill>
                <a:latin typeface="Times New Roman"/>
                <a:cs typeface="Times New Roman"/>
              </a:rPr>
              <a:t>into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clear,</a:t>
            </a:r>
            <a:r>
              <a:rPr sz="3200" spc="670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interactive</a:t>
            </a:r>
            <a:r>
              <a:rPr sz="3200" spc="675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spc="80" dirty="0">
                <a:solidFill>
                  <a:srgbClr val="041C40"/>
                </a:solidFill>
                <a:latin typeface="Times New Roman"/>
                <a:cs typeface="Times New Roman"/>
              </a:rPr>
              <a:t>dashboards</a:t>
            </a:r>
            <a:r>
              <a:rPr sz="3200" spc="670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spc="145" dirty="0">
                <a:solidFill>
                  <a:srgbClr val="041C40"/>
                </a:solidFill>
                <a:latin typeface="Times New Roman"/>
                <a:cs typeface="Times New Roman"/>
              </a:rPr>
              <a:t>to</a:t>
            </a:r>
            <a:r>
              <a:rPr sz="3200" spc="670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help</a:t>
            </a:r>
            <a:r>
              <a:rPr sz="3200" spc="670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spc="85" dirty="0">
                <a:solidFill>
                  <a:srgbClr val="041C40"/>
                </a:solidFill>
                <a:latin typeface="Times New Roman"/>
                <a:cs typeface="Times New Roman"/>
              </a:rPr>
              <a:t>banks</a:t>
            </a:r>
            <a:r>
              <a:rPr sz="3200" spc="675" dirty="0">
                <a:solidFill>
                  <a:srgbClr val="041C40"/>
                </a:solidFill>
                <a:latin typeface="Times New Roman"/>
                <a:cs typeface="Times New Roman"/>
              </a:rPr>
              <a:t>  </a:t>
            </a:r>
            <a:r>
              <a:rPr sz="3200" spc="80" dirty="0">
                <a:solidFill>
                  <a:srgbClr val="041C40"/>
                </a:solidFill>
                <a:latin typeface="Times New Roman"/>
                <a:cs typeface="Times New Roman"/>
              </a:rPr>
              <a:t>track </a:t>
            </a:r>
            <a:r>
              <a:rPr sz="3200" spc="45" dirty="0">
                <a:solidFill>
                  <a:srgbClr val="041C40"/>
                </a:solidFill>
                <a:latin typeface="Times New Roman"/>
                <a:cs typeface="Times New Roman"/>
              </a:rPr>
              <a:t>performance,</a:t>
            </a:r>
            <a:r>
              <a:rPr sz="3200" spc="64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80" dirty="0">
                <a:solidFill>
                  <a:srgbClr val="041C40"/>
                </a:solidFill>
                <a:latin typeface="Times New Roman"/>
                <a:cs typeface="Times New Roman"/>
              </a:rPr>
              <a:t>understand</a:t>
            </a:r>
            <a:r>
              <a:rPr sz="3200" spc="65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45" dirty="0">
                <a:solidFill>
                  <a:srgbClr val="041C40"/>
                </a:solidFill>
                <a:latin typeface="Times New Roman"/>
                <a:cs typeface="Times New Roman"/>
              </a:rPr>
              <a:t>customer</a:t>
            </a:r>
            <a:r>
              <a:rPr sz="3200" spc="65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45" dirty="0">
                <a:solidFill>
                  <a:srgbClr val="041C40"/>
                </a:solidFill>
                <a:latin typeface="Times New Roman"/>
                <a:cs typeface="Times New Roman"/>
              </a:rPr>
              <a:t>behavior,</a:t>
            </a:r>
            <a:r>
              <a:rPr sz="3200" spc="64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135" dirty="0">
                <a:solidFill>
                  <a:srgbClr val="041C40"/>
                </a:solidFill>
                <a:latin typeface="Times New Roman"/>
                <a:cs typeface="Times New Roman"/>
              </a:rPr>
              <a:t>and</a:t>
            </a:r>
            <a:r>
              <a:rPr sz="3200" spc="65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50" dirty="0">
                <a:solidFill>
                  <a:srgbClr val="041C40"/>
                </a:solidFill>
                <a:latin typeface="Times New Roman"/>
                <a:cs typeface="Times New Roman"/>
              </a:rPr>
              <a:t>make </a:t>
            </a:r>
            <a:r>
              <a:rPr sz="3200" spc="80" dirty="0">
                <a:solidFill>
                  <a:srgbClr val="041C40"/>
                </a:solidFill>
                <a:latin typeface="Times New Roman"/>
                <a:cs typeface="Times New Roman"/>
              </a:rPr>
              <a:t>data-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driven</a:t>
            </a:r>
            <a:r>
              <a:rPr sz="3200" spc="6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41C40"/>
                </a:solidFill>
                <a:latin typeface="Times New Roman"/>
                <a:cs typeface="Times New Roman"/>
              </a:rPr>
              <a:t>decisions.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31" y="5318688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2569210" cy="2346960"/>
          </a:xfrm>
          <a:custGeom>
            <a:avLst/>
            <a:gdLst/>
            <a:ahLst/>
            <a:cxnLst/>
            <a:rect l="l" t="t" r="r" b="b"/>
            <a:pathLst>
              <a:path w="2569210" h="2346960">
                <a:moveTo>
                  <a:pt x="0" y="2335874"/>
                </a:moveTo>
                <a:lnTo>
                  <a:pt x="38548" y="2339289"/>
                </a:lnTo>
                <a:lnTo>
                  <a:pt x="84503" y="2342453"/>
                </a:lnTo>
                <a:lnTo>
                  <a:pt x="130503" y="2344713"/>
                </a:lnTo>
                <a:lnTo>
                  <a:pt x="176547" y="2346068"/>
                </a:lnTo>
                <a:lnTo>
                  <a:pt x="222636" y="2346520"/>
                </a:lnTo>
                <a:lnTo>
                  <a:pt x="268725" y="2346068"/>
                </a:lnTo>
                <a:lnTo>
                  <a:pt x="314769" y="2344713"/>
                </a:lnTo>
                <a:lnTo>
                  <a:pt x="360769" y="2342453"/>
                </a:lnTo>
                <a:lnTo>
                  <a:pt x="406724" y="2339289"/>
                </a:lnTo>
                <a:lnTo>
                  <a:pt x="452635" y="2335221"/>
                </a:lnTo>
                <a:lnTo>
                  <a:pt x="465559" y="2333820"/>
                </a:lnTo>
              </a:path>
              <a:path w="2569210" h="2346960">
                <a:moveTo>
                  <a:pt x="465559" y="2333820"/>
                </a:moveTo>
                <a:lnTo>
                  <a:pt x="498458" y="2330254"/>
                </a:lnTo>
                <a:lnTo>
                  <a:pt x="544147" y="2324392"/>
                </a:lnTo>
                <a:lnTo>
                  <a:pt x="566199" y="2321120"/>
                </a:lnTo>
              </a:path>
              <a:path w="2569210" h="2346960">
                <a:moveTo>
                  <a:pt x="566199" y="2321120"/>
                </a:moveTo>
                <a:lnTo>
                  <a:pt x="635128" y="2309981"/>
                </a:lnTo>
                <a:lnTo>
                  <a:pt x="680420" y="2301432"/>
                </a:lnTo>
                <a:lnTo>
                  <a:pt x="725535" y="2291997"/>
                </a:lnTo>
                <a:lnTo>
                  <a:pt x="770430" y="2281685"/>
                </a:lnTo>
                <a:lnTo>
                  <a:pt x="815105" y="2270494"/>
                </a:lnTo>
                <a:lnTo>
                  <a:pt x="859560" y="2258426"/>
                </a:lnTo>
                <a:lnTo>
                  <a:pt x="903795" y="2245480"/>
                </a:lnTo>
                <a:lnTo>
                  <a:pt x="947768" y="2231668"/>
                </a:lnTo>
                <a:lnTo>
                  <a:pt x="991436" y="2217005"/>
                </a:lnTo>
                <a:lnTo>
                  <a:pt x="1034800" y="2201489"/>
                </a:lnTo>
                <a:lnTo>
                  <a:pt x="1077858" y="2185121"/>
                </a:lnTo>
                <a:lnTo>
                  <a:pt x="1120611" y="2167901"/>
                </a:lnTo>
                <a:lnTo>
                  <a:pt x="1163019" y="2149847"/>
                </a:lnTo>
                <a:lnTo>
                  <a:pt x="1205039" y="2130974"/>
                </a:lnTo>
                <a:lnTo>
                  <a:pt x="1246673" y="2111282"/>
                </a:lnTo>
                <a:lnTo>
                  <a:pt x="1287919" y="2090773"/>
                </a:lnTo>
                <a:lnTo>
                  <a:pt x="1328779" y="2069445"/>
                </a:lnTo>
                <a:lnTo>
                  <a:pt x="1369212" y="2047321"/>
                </a:lnTo>
                <a:lnTo>
                  <a:pt x="1409181" y="2024420"/>
                </a:lnTo>
                <a:lnTo>
                  <a:pt x="1448684" y="2000743"/>
                </a:lnTo>
                <a:lnTo>
                  <a:pt x="1487721" y="1976289"/>
                </a:lnTo>
                <a:lnTo>
                  <a:pt x="1526293" y="1951059"/>
                </a:lnTo>
                <a:lnTo>
                  <a:pt x="1564364" y="1925078"/>
                </a:lnTo>
                <a:lnTo>
                  <a:pt x="1601895" y="1898370"/>
                </a:lnTo>
                <a:lnTo>
                  <a:pt x="1638887" y="1870935"/>
                </a:lnTo>
                <a:lnTo>
                  <a:pt x="1675340" y="1842773"/>
                </a:lnTo>
                <a:lnTo>
                  <a:pt x="1711254" y="1813884"/>
                </a:lnTo>
                <a:lnTo>
                  <a:pt x="1746595" y="1784296"/>
                </a:lnTo>
                <a:lnTo>
                  <a:pt x="1781327" y="1754038"/>
                </a:lnTo>
                <a:lnTo>
                  <a:pt x="1815452" y="1723109"/>
                </a:lnTo>
                <a:lnTo>
                  <a:pt x="1848969" y="1691509"/>
                </a:lnTo>
                <a:lnTo>
                  <a:pt x="1881878" y="1659239"/>
                </a:lnTo>
                <a:lnTo>
                  <a:pt x="1914211" y="1626390"/>
                </a:lnTo>
                <a:lnTo>
                  <a:pt x="1917756" y="1622616"/>
                </a:lnTo>
                <a:lnTo>
                  <a:pt x="1945747" y="1592813"/>
                </a:lnTo>
                <a:lnTo>
                  <a:pt x="1976676" y="1558689"/>
                </a:lnTo>
                <a:lnTo>
                  <a:pt x="2006935" y="1523956"/>
                </a:lnTo>
                <a:lnTo>
                  <a:pt x="2020107" y="1508223"/>
                </a:lnTo>
                <a:lnTo>
                  <a:pt x="2036522" y="1488616"/>
                </a:lnTo>
                <a:lnTo>
                  <a:pt x="2065411" y="1452702"/>
                </a:lnTo>
                <a:lnTo>
                  <a:pt x="2093573" y="1416249"/>
                </a:lnTo>
                <a:lnTo>
                  <a:pt x="2121009" y="1379257"/>
                </a:lnTo>
                <a:lnTo>
                  <a:pt x="2147717" y="1341725"/>
                </a:lnTo>
                <a:lnTo>
                  <a:pt x="2173698" y="1303655"/>
                </a:lnTo>
                <a:lnTo>
                  <a:pt x="2198928" y="1265083"/>
                </a:lnTo>
                <a:lnTo>
                  <a:pt x="2223381" y="1226045"/>
                </a:lnTo>
                <a:lnTo>
                  <a:pt x="2247059" y="1186542"/>
                </a:lnTo>
                <a:lnTo>
                  <a:pt x="2269960" y="1146574"/>
                </a:lnTo>
                <a:lnTo>
                  <a:pt x="2292084" y="1106141"/>
                </a:lnTo>
                <a:lnTo>
                  <a:pt x="2313412" y="1065281"/>
                </a:lnTo>
                <a:lnTo>
                  <a:pt x="2333921" y="1024034"/>
                </a:lnTo>
                <a:lnTo>
                  <a:pt x="2353612" y="982400"/>
                </a:lnTo>
                <a:lnTo>
                  <a:pt x="2372485" y="940380"/>
                </a:lnTo>
                <a:lnTo>
                  <a:pt x="2390540" y="897972"/>
                </a:lnTo>
                <a:lnTo>
                  <a:pt x="2407760" y="855219"/>
                </a:lnTo>
                <a:lnTo>
                  <a:pt x="2424128" y="812161"/>
                </a:lnTo>
                <a:lnTo>
                  <a:pt x="2439644" y="768798"/>
                </a:lnTo>
                <a:lnTo>
                  <a:pt x="2454307" y="725130"/>
                </a:lnTo>
                <a:lnTo>
                  <a:pt x="2468118" y="681157"/>
                </a:lnTo>
                <a:lnTo>
                  <a:pt x="2481065" y="636922"/>
                </a:lnTo>
                <a:lnTo>
                  <a:pt x="2493133" y="592466"/>
                </a:lnTo>
                <a:lnTo>
                  <a:pt x="2504324" y="547791"/>
                </a:lnTo>
                <a:lnTo>
                  <a:pt x="2514636" y="502896"/>
                </a:lnTo>
                <a:lnTo>
                  <a:pt x="2524071" y="457781"/>
                </a:lnTo>
                <a:lnTo>
                  <a:pt x="2532619" y="412490"/>
                </a:lnTo>
                <a:lnTo>
                  <a:pt x="2540272" y="367066"/>
                </a:lnTo>
                <a:lnTo>
                  <a:pt x="2547030" y="321509"/>
                </a:lnTo>
                <a:lnTo>
                  <a:pt x="2552893" y="275819"/>
                </a:lnTo>
                <a:lnTo>
                  <a:pt x="2557860" y="229997"/>
                </a:lnTo>
                <a:lnTo>
                  <a:pt x="2561928" y="184086"/>
                </a:lnTo>
                <a:lnTo>
                  <a:pt x="2565091" y="138130"/>
                </a:lnTo>
                <a:lnTo>
                  <a:pt x="2567351" y="92130"/>
                </a:lnTo>
                <a:lnTo>
                  <a:pt x="2568761" y="46087"/>
                </a:lnTo>
                <a:lnTo>
                  <a:pt x="2569075" y="9720"/>
                </a:lnTo>
                <a:lnTo>
                  <a:pt x="2569159" y="0"/>
                </a:lnTo>
              </a:path>
            </a:pathLst>
          </a:custGeom>
          <a:ln w="1905000">
            <a:solidFill>
              <a:srgbClr val="135C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0239602" y="1122782"/>
            <a:ext cx="7019925" cy="9164320"/>
            <a:chOff x="10239602" y="1122782"/>
            <a:chExt cx="7019925" cy="9164320"/>
          </a:xfrm>
        </p:grpSpPr>
        <p:sp>
          <p:nvSpPr>
            <p:cNvPr id="4" name="object 4"/>
            <p:cNvSpPr/>
            <p:nvPr/>
          </p:nvSpPr>
          <p:spPr>
            <a:xfrm>
              <a:off x="10239602" y="1122782"/>
              <a:ext cx="7019925" cy="9164320"/>
            </a:xfrm>
            <a:custGeom>
              <a:avLst/>
              <a:gdLst/>
              <a:ahLst/>
              <a:cxnLst/>
              <a:rect l="l" t="t" r="r" b="b"/>
              <a:pathLst>
                <a:path w="7019925" h="9164320">
                  <a:moveTo>
                    <a:pt x="7019697" y="9164217"/>
                  </a:moveTo>
                  <a:lnTo>
                    <a:pt x="0" y="9164217"/>
                  </a:lnTo>
                  <a:lnTo>
                    <a:pt x="97" y="3534374"/>
                  </a:lnTo>
                  <a:lnTo>
                    <a:pt x="968" y="3488055"/>
                  </a:lnTo>
                  <a:lnTo>
                    <a:pt x="2620" y="3436727"/>
                  </a:lnTo>
                  <a:lnTo>
                    <a:pt x="4953" y="3385605"/>
                  </a:lnTo>
                  <a:lnTo>
                    <a:pt x="7961" y="3334695"/>
                  </a:lnTo>
                  <a:lnTo>
                    <a:pt x="11639" y="3284000"/>
                  </a:lnTo>
                  <a:lnTo>
                    <a:pt x="15984" y="3233525"/>
                  </a:lnTo>
                  <a:lnTo>
                    <a:pt x="20991" y="3183273"/>
                  </a:lnTo>
                  <a:lnTo>
                    <a:pt x="26655" y="3133250"/>
                  </a:lnTo>
                  <a:lnTo>
                    <a:pt x="32972" y="3083459"/>
                  </a:lnTo>
                  <a:lnTo>
                    <a:pt x="39937" y="3033906"/>
                  </a:lnTo>
                  <a:lnTo>
                    <a:pt x="47546" y="2984593"/>
                  </a:lnTo>
                  <a:lnTo>
                    <a:pt x="55794" y="2935526"/>
                  </a:lnTo>
                  <a:lnTo>
                    <a:pt x="64677" y="2886709"/>
                  </a:lnTo>
                  <a:lnTo>
                    <a:pt x="74189" y="2838146"/>
                  </a:lnTo>
                  <a:lnTo>
                    <a:pt x="84328" y="2789842"/>
                  </a:lnTo>
                  <a:lnTo>
                    <a:pt x="95001" y="2742184"/>
                  </a:lnTo>
                  <a:lnTo>
                    <a:pt x="106463" y="2694025"/>
                  </a:lnTo>
                  <a:lnTo>
                    <a:pt x="118451" y="2646521"/>
                  </a:lnTo>
                  <a:lnTo>
                    <a:pt x="131047" y="2599294"/>
                  </a:lnTo>
                  <a:lnTo>
                    <a:pt x="144245" y="2552346"/>
                  </a:lnTo>
                  <a:lnTo>
                    <a:pt x="158042" y="2505682"/>
                  </a:lnTo>
                  <a:lnTo>
                    <a:pt x="172433" y="2459308"/>
                  </a:lnTo>
                  <a:lnTo>
                    <a:pt x="187413" y="2413226"/>
                  </a:lnTo>
                  <a:lnTo>
                    <a:pt x="202978" y="2367441"/>
                  </a:lnTo>
                  <a:lnTo>
                    <a:pt x="219124" y="2321958"/>
                  </a:lnTo>
                  <a:lnTo>
                    <a:pt x="235845" y="2276780"/>
                  </a:lnTo>
                  <a:lnTo>
                    <a:pt x="253138" y="2231913"/>
                  </a:lnTo>
                  <a:lnTo>
                    <a:pt x="270998" y="2187360"/>
                  </a:lnTo>
                  <a:lnTo>
                    <a:pt x="289419" y="2143126"/>
                  </a:lnTo>
                  <a:lnTo>
                    <a:pt x="308399" y="2099215"/>
                  </a:lnTo>
                  <a:lnTo>
                    <a:pt x="327931" y="2055632"/>
                  </a:lnTo>
                  <a:lnTo>
                    <a:pt x="348013" y="2012380"/>
                  </a:lnTo>
                  <a:lnTo>
                    <a:pt x="368638" y="1969464"/>
                  </a:lnTo>
                  <a:lnTo>
                    <a:pt x="389804" y="1926888"/>
                  </a:lnTo>
                  <a:lnTo>
                    <a:pt x="411504" y="1884657"/>
                  </a:lnTo>
                  <a:lnTo>
                    <a:pt x="433735" y="1842775"/>
                  </a:lnTo>
                  <a:lnTo>
                    <a:pt x="456492" y="1801246"/>
                  </a:lnTo>
                  <a:lnTo>
                    <a:pt x="479770" y="1760075"/>
                  </a:lnTo>
                  <a:lnTo>
                    <a:pt x="503566" y="1719266"/>
                  </a:lnTo>
                  <a:lnTo>
                    <a:pt x="527874" y="1678822"/>
                  </a:lnTo>
                  <a:lnTo>
                    <a:pt x="552690" y="1638750"/>
                  </a:lnTo>
                  <a:lnTo>
                    <a:pt x="578009" y="1599052"/>
                  </a:lnTo>
                  <a:lnTo>
                    <a:pt x="603828" y="1559733"/>
                  </a:lnTo>
                  <a:lnTo>
                    <a:pt x="630140" y="1520797"/>
                  </a:lnTo>
                  <a:lnTo>
                    <a:pt x="656943" y="1482250"/>
                  </a:lnTo>
                  <a:lnTo>
                    <a:pt x="684231" y="1444094"/>
                  </a:lnTo>
                  <a:lnTo>
                    <a:pt x="712000" y="1406334"/>
                  </a:lnTo>
                  <a:lnTo>
                    <a:pt x="740245" y="1368976"/>
                  </a:lnTo>
                  <a:lnTo>
                    <a:pt x="768962" y="1332022"/>
                  </a:lnTo>
                  <a:lnTo>
                    <a:pt x="798146" y="1295477"/>
                  </a:lnTo>
                  <a:lnTo>
                    <a:pt x="827793" y="1259346"/>
                  </a:lnTo>
                  <a:lnTo>
                    <a:pt x="857898" y="1223633"/>
                  </a:lnTo>
                  <a:lnTo>
                    <a:pt x="888457" y="1188342"/>
                  </a:lnTo>
                  <a:lnTo>
                    <a:pt x="919465" y="1153478"/>
                  </a:lnTo>
                  <a:lnTo>
                    <a:pt x="950917" y="1119044"/>
                  </a:lnTo>
                  <a:lnTo>
                    <a:pt x="982810" y="1085045"/>
                  </a:lnTo>
                  <a:lnTo>
                    <a:pt x="1015138" y="1051486"/>
                  </a:lnTo>
                  <a:lnTo>
                    <a:pt x="1047897" y="1018371"/>
                  </a:lnTo>
                  <a:lnTo>
                    <a:pt x="1081083" y="985703"/>
                  </a:lnTo>
                  <a:lnTo>
                    <a:pt x="1114691" y="953488"/>
                  </a:lnTo>
                  <a:lnTo>
                    <a:pt x="1148716" y="921730"/>
                  </a:lnTo>
                  <a:lnTo>
                    <a:pt x="1183154" y="890433"/>
                  </a:lnTo>
                  <a:lnTo>
                    <a:pt x="1218001" y="859601"/>
                  </a:lnTo>
                  <a:lnTo>
                    <a:pt x="1253252" y="829238"/>
                  </a:lnTo>
                  <a:lnTo>
                    <a:pt x="1288902" y="799349"/>
                  </a:lnTo>
                  <a:lnTo>
                    <a:pt x="1324946" y="769939"/>
                  </a:lnTo>
                  <a:lnTo>
                    <a:pt x="1361382" y="741011"/>
                  </a:lnTo>
                  <a:lnTo>
                    <a:pt x="1398203" y="712570"/>
                  </a:lnTo>
                  <a:lnTo>
                    <a:pt x="1435405" y="684620"/>
                  </a:lnTo>
                  <a:lnTo>
                    <a:pt x="1472984" y="657165"/>
                  </a:lnTo>
                  <a:lnTo>
                    <a:pt x="1510935" y="630211"/>
                  </a:lnTo>
                  <a:lnTo>
                    <a:pt x="1549254" y="603760"/>
                  </a:lnTo>
                  <a:lnTo>
                    <a:pt x="1587936" y="577818"/>
                  </a:lnTo>
                  <a:lnTo>
                    <a:pt x="1626977" y="552388"/>
                  </a:lnTo>
                  <a:lnTo>
                    <a:pt x="1666372" y="527475"/>
                  </a:lnTo>
                  <a:lnTo>
                    <a:pt x="1706117" y="503084"/>
                  </a:lnTo>
                  <a:lnTo>
                    <a:pt x="1746206" y="479218"/>
                  </a:lnTo>
                  <a:lnTo>
                    <a:pt x="1786637" y="455882"/>
                  </a:lnTo>
                  <a:lnTo>
                    <a:pt x="1827403" y="433081"/>
                  </a:lnTo>
                  <a:lnTo>
                    <a:pt x="1868501" y="410817"/>
                  </a:lnTo>
                  <a:lnTo>
                    <a:pt x="1909926" y="389097"/>
                  </a:lnTo>
                  <a:lnTo>
                    <a:pt x="1951673" y="367924"/>
                  </a:lnTo>
                  <a:lnTo>
                    <a:pt x="1993738" y="347302"/>
                  </a:lnTo>
                  <a:lnTo>
                    <a:pt x="2036117" y="327236"/>
                  </a:lnTo>
                  <a:lnTo>
                    <a:pt x="2078804" y="307731"/>
                  </a:lnTo>
                  <a:lnTo>
                    <a:pt x="2121796" y="288789"/>
                  </a:lnTo>
                  <a:lnTo>
                    <a:pt x="2165088" y="270416"/>
                  </a:lnTo>
                  <a:lnTo>
                    <a:pt x="2208675" y="252617"/>
                  </a:lnTo>
                  <a:lnTo>
                    <a:pt x="2252553" y="235394"/>
                  </a:lnTo>
                  <a:lnTo>
                    <a:pt x="2296717" y="218754"/>
                  </a:lnTo>
                  <a:lnTo>
                    <a:pt x="2341163" y="202699"/>
                  </a:lnTo>
                  <a:lnTo>
                    <a:pt x="2386267" y="187622"/>
                  </a:lnTo>
                  <a:lnTo>
                    <a:pt x="2431883" y="173001"/>
                  </a:lnTo>
                  <a:lnTo>
                    <a:pt x="2477983" y="158851"/>
                  </a:lnTo>
                  <a:lnTo>
                    <a:pt x="2524542" y="145189"/>
                  </a:lnTo>
                  <a:lnTo>
                    <a:pt x="2571534" y="132032"/>
                  </a:lnTo>
                  <a:lnTo>
                    <a:pt x="2618932" y="119396"/>
                  </a:lnTo>
                  <a:lnTo>
                    <a:pt x="2666710" y="107298"/>
                  </a:lnTo>
                  <a:lnTo>
                    <a:pt x="2714842" y="95754"/>
                  </a:lnTo>
                  <a:lnTo>
                    <a:pt x="2763303" y="84781"/>
                  </a:lnTo>
                  <a:lnTo>
                    <a:pt x="2812064" y="74396"/>
                  </a:lnTo>
                  <a:lnTo>
                    <a:pt x="2861101" y="64615"/>
                  </a:lnTo>
                  <a:lnTo>
                    <a:pt x="2910388" y="55455"/>
                  </a:lnTo>
                  <a:lnTo>
                    <a:pt x="2959898" y="46932"/>
                  </a:lnTo>
                  <a:lnTo>
                    <a:pt x="3009604" y="39063"/>
                  </a:lnTo>
                  <a:lnTo>
                    <a:pt x="3059481" y="31865"/>
                  </a:lnTo>
                  <a:lnTo>
                    <a:pt x="3109503" y="25355"/>
                  </a:lnTo>
                  <a:lnTo>
                    <a:pt x="3159643" y="19548"/>
                  </a:lnTo>
                  <a:lnTo>
                    <a:pt x="3209875" y="14461"/>
                  </a:lnTo>
                  <a:lnTo>
                    <a:pt x="3260174" y="10111"/>
                  </a:lnTo>
                  <a:lnTo>
                    <a:pt x="3310512" y="6515"/>
                  </a:lnTo>
                  <a:lnTo>
                    <a:pt x="3360863" y="3690"/>
                  </a:lnTo>
                  <a:lnTo>
                    <a:pt x="3413660" y="1551"/>
                  </a:lnTo>
                  <a:lnTo>
                    <a:pt x="3415254" y="1551"/>
                  </a:lnTo>
                  <a:lnTo>
                    <a:pt x="3462577" y="389"/>
                  </a:lnTo>
                  <a:lnTo>
                    <a:pt x="3511738" y="0"/>
                  </a:lnTo>
                  <a:lnTo>
                    <a:pt x="3564029" y="389"/>
                  </a:lnTo>
                  <a:lnTo>
                    <a:pt x="3616141" y="1551"/>
                  </a:lnTo>
                  <a:lnTo>
                    <a:pt x="3668066" y="3479"/>
                  </a:lnTo>
                  <a:lnTo>
                    <a:pt x="3719796" y="6165"/>
                  </a:lnTo>
                  <a:lnTo>
                    <a:pt x="3771325" y="9602"/>
                  </a:lnTo>
                  <a:lnTo>
                    <a:pt x="3822644" y="13782"/>
                  </a:lnTo>
                  <a:lnTo>
                    <a:pt x="3873746" y="18698"/>
                  </a:lnTo>
                  <a:lnTo>
                    <a:pt x="3924625" y="24342"/>
                  </a:lnTo>
                  <a:lnTo>
                    <a:pt x="3975271" y="30706"/>
                  </a:lnTo>
                  <a:lnTo>
                    <a:pt x="4025678" y="37783"/>
                  </a:lnTo>
                  <a:lnTo>
                    <a:pt x="4075839" y="45565"/>
                  </a:lnTo>
                  <a:lnTo>
                    <a:pt x="4125745" y="54045"/>
                  </a:lnTo>
                  <a:lnTo>
                    <a:pt x="4175390" y="63215"/>
                  </a:lnTo>
                  <a:lnTo>
                    <a:pt x="4224765" y="73069"/>
                  </a:lnTo>
                  <a:lnTo>
                    <a:pt x="4273864" y="83597"/>
                  </a:lnTo>
                  <a:lnTo>
                    <a:pt x="4322679" y="94793"/>
                  </a:lnTo>
                  <a:lnTo>
                    <a:pt x="4371202" y="106649"/>
                  </a:lnTo>
                  <a:lnTo>
                    <a:pt x="4419426" y="119158"/>
                  </a:lnTo>
                  <a:lnTo>
                    <a:pt x="4467344" y="132311"/>
                  </a:lnTo>
                  <a:lnTo>
                    <a:pt x="4514948" y="146103"/>
                  </a:lnTo>
                  <a:lnTo>
                    <a:pt x="4562230" y="160524"/>
                  </a:lnTo>
                  <a:lnTo>
                    <a:pt x="4609183" y="175567"/>
                  </a:lnTo>
                  <a:lnTo>
                    <a:pt x="4655800" y="191226"/>
                  </a:lnTo>
                  <a:lnTo>
                    <a:pt x="4663387" y="195051"/>
                  </a:lnTo>
                  <a:lnTo>
                    <a:pt x="4670960" y="195051"/>
                  </a:lnTo>
                  <a:lnTo>
                    <a:pt x="4678533" y="198874"/>
                  </a:lnTo>
                  <a:lnTo>
                    <a:pt x="4722490" y="215303"/>
                  </a:lnTo>
                  <a:lnTo>
                    <a:pt x="4766188" y="232310"/>
                  </a:lnTo>
                  <a:lnTo>
                    <a:pt x="4809620" y="249890"/>
                  </a:lnTo>
                  <a:lnTo>
                    <a:pt x="4852782" y="268038"/>
                  </a:lnTo>
                  <a:lnTo>
                    <a:pt x="4895669" y="286752"/>
                  </a:lnTo>
                  <a:lnTo>
                    <a:pt x="4938277" y="306026"/>
                  </a:lnTo>
                  <a:lnTo>
                    <a:pt x="4980600" y="325856"/>
                  </a:lnTo>
                  <a:lnTo>
                    <a:pt x="5022633" y="346237"/>
                  </a:lnTo>
                  <a:lnTo>
                    <a:pt x="5064372" y="367166"/>
                  </a:lnTo>
                  <a:lnTo>
                    <a:pt x="5105812" y="388638"/>
                  </a:lnTo>
                  <a:lnTo>
                    <a:pt x="5146948" y="410648"/>
                  </a:lnTo>
                  <a:lnTo>
                    <a:pt x="5187571" y="433081"/>
                  </a:lnTo>
                  <a:lnTo>
                    <a:pt x="5228288" y="456268"/>
                  </a:lnTo>
                  <a:lnTo>
                    <a:pt x="5268482" y="479869"/>
                  </a:lnTo>
                  <a:lnTo>
                    <a:pt x="5308353" y="503991"/>
                  </a:lnTo>
                  <a:lnTo>
                    <a:pt x="5347895" y="528631"/>
                  </a:lnTo>
                  <a:lnTo>
                    <a:pt x="5387103" y="553783"/>
                  </a:lnTo>
                  <a:lnTo>
                    <a:pt x="5425973" y="579444"/>
                  </a:lnTo>
                  <a:lnTo>
                    <a:pt x="5464500" y="605609"/>
                  </a:lnTo>
                  <a:lnTo>
                    <a:pt x="5502679" y="632273"/>
                  </a:lnTo>
                  <a:lnTo>
                    <a:pt x="5540505" y="659433"/>
                  </a:lnTo>
                  <a:lnTo>
                    <a:pt x="5577973" y="687085"/>
                  </a:lnTo>
                  <a:lnTo>
                    <a:pt x="5615078" y="715223"/>
                  </a:lnTo>
                  <a:lnTo>
                    <a:pt x="5651815" y="743844"/>
                  </a:lnTo>
                  <a:lnTo>
                    <a:pt x="5688180" y="772943"/>
                  </a:lnTo>
                  <a:lnTo>
                    <a:pt x="5724168" y="802516"/>
                  </a:lnTo>
                  <a:lnTo>
                    <a:pt x="5759773" y="832559"/>
                  </a:lnTo>
                  <a:lnTo>
                    <a:pt x="5794991" y="863067"/>
                  </a:lnTo>
                  <a:lnTo>
                    <a:pt x="5829817" y="894036"/>
                  </a:lnTo>
                  <a:lnTo>
                    <a:pt x="5864246" y="925461"/>
                  </a:lnTo>
                  <a:lnTo>
                    <a:pt x="5898273" y="957339"/>
                  </a:lnTo>
                  <a:lnTo>
                    <a:pt x="5931893" y="989665"/>
                  </a:lnTo>
                  <a:lnTo>
                    <a:pt x="5965102" y="1022434"/>
                  </a:lnTo>
                  <a:lnTo>
                    <a:pt x="5997894" y="1055643"/>
                  </a:lnTo>
                  <a:lnTo>
                    <a:pt x="6030265" y="1089287"/>
                  </a:lnTo>
                  <a:lnTo>
                    <a:pt x="6062210" y="1123362"/>
                  </a:lnTo>
                  <a:lnTo>
                    <a:pt x="6093723" y="1157863"/>
                  </a:lnTo>
                  <a:lnTo>
                    <a:pt x="6124800" y="1192786"/>
                  </a:lnTo>
                  <a:lnTo>
                    <a:pt x="6155437" y="1228127"/>
                  </a:lnTo>
                  <a:lnTo>
                    <a:pt x="6185627" y="1263881"/>
                  </a:lnTo>
                  <a:lnTo>
                    <a:pt x="6215367" y="1300044"/>
                  </a:lnTo>
                  <a:lnTo>
                    <a:pt x="6244651" y="1336613"/>
                  </a:lnTo>
                  <a:lnTo>
                    <a:pt x="6273475" y="1373581"/>
                  </a:lnTo>
                  <a:lnTo>
                    <a:pt x="6301833" y="1410946"/>
                  </a:lnTo>
                  <a:lnTo>
                    <a:pt x="6329721" y="1448703"/>
                  </a:lnTo>
                  <a:lnTo>
                    <a:pt x="6357134" y="1486847"/>
                  </a:lnTo>
                  <a:lnTo>
                    <a:pt x="6384067" y="1525375"/>
                  </a:lnTo>
                  <a:lnTo>
                    <a:pt x="6410515" y="1564281"/>
                  </a:lnTo>
                  <a:lnTo>
                    <a:pt x="6436473" y="1603562"/>
                  </a:lnTo>
                  <a:lnTo>
                    <a:pt x="6461936" y="1643213"/>
                  </a:lnTo>
                  <a:lnTo>
                    <a:pt x="6486900" y="1683230"/>
                  </a:lnTo>
                  <a:lnTo>
                    <a:pt x="6511360" y="1723609"/>
                  </a:lnTo>
                  <a:lnTo>
                    <a:pt x="6535310" y="1764345"/>
                  </a:lnTo>
                  <a:lnTo>
                    <a:pt x="6558745" y="1805434"/>
                  </a:lnTo>
                  <a:lnTo>
                    <a:pt x="6581662" y="1846871"/>
                  </a:lnTo>
                  <a:lnTo>
                    <a:pt x="6604054" y="1888653"/>
                  </a:lnTo>
                  <a:lnTo>
                    <a:pt x="6625918" y="1930775"/>
                  </a:lnTo>
                  <a:lnTo>
                    <a:pt x="6647248" y="1973232"/>
                  </a:lnTo>
                  <a:lnTo>
                    <a:pt x="6668039" y="2016021"/>
                  </a:lnTo>
                  <a:lnTo>
                    <a:pt x="6688287" y="2059137"/>
                  </a:lnTo>
                  <a:lnTo>
                    <a:pt x="6707986" y="2102576"/>
                  </a:lnTo>
                  <a:lnTo>
                    <a:pt x="6727132" y="2146333"/>
                  </a:lnTo>
                  <a:lnTo>
                    <a:pt x="6745720" y="2190404"/>
                  </a:lnTo>
                  <a:lnTo>
                    <a:pt x="6763744" y="2234785"/>
                  </a:lnTo>
                  <a:lnTo>
                    <a:pt x="6781201" y="2279472"/>
                  </a:lnTo>
                  <a:lnTo>
                    <a:pt x="6798084" y="2324459"/>
                  </a:lnTo>
                  <a:lnTo>
                    <a:pt x="6814390" y="2369743"/>
                  </a:lnTo>
                  <a:lnTo>
                    <a:pt x="6830114" y="2415320"/>
                  </a:lnTo>
                  <a:lnTo>
                    <a:pt x="6845249" y="2461185"/>
                  </a:lnTo>
                  <a:lnTo>
                    <a:pt x="6859793" y="2507334"/>
                  </a:lnTo>
                  <a:lnTo>
                    <a:pt x="6873739" y="2553762"/>
                  </a:lnTo>
                  <a:lnTo>
                    <a:pt x="6887082" y="2600466"/>
                  </a:lnTo>
                  <a:lnTo>
                    <a:pt x="6899819" y="2647440"/>
                  </a:lnTo>
                  <a:lnTo>
                    <a:pt x="6911944" y="2694681"/>
                  </a:lnTo>
                  <a:lnTo>
                    <a:pt x="6923358" y="2741800"/>
                  </a:lnTo>
                  <a:lnTo>
                    <a:pt x="6934314" y="2789842"/>
                  </a:lnTo>
                  <a:lnTo>
                    <a:pt x="6944597" y="2837960"/>
                  </a:lnTo>
                  <a:lnTo>
                    <a:pt x="6954225" y="2886224"/>
                  </a:lnTo>
                  <a:lnTo>
                    <a:pt x="6963217" y="2934733"/>
                  </a:lnTo>
                  <a:lnTo>
                    <a:pt x="6971567" y="2983482"/>
                  </a:lnTo>
                  <a:lnTo>
                    <a:pt x="6979271" y="3032468"/>
                  </a:lnTo>
                  <a:lnTo>
                    <a:pt x="6986324" y="3081686"/>
                  </a:lnTo>
                  <a:lnTo>
                    <a:pt x="6992721" y="3131132"/>
                  </a:lnTo>
                  <a:lnTo>
                    <a:pt x="6998457" y="3180801"/>
                  </a:lnTo>
                  <a:lnTo>
                    <a:pt x="7003528" y="3230689"/>
                  </a:lnTo>
                  <a:lnTo>
                    <a:pt x="7007928" y="3280791"/>
                  </a:lnTo>
                  <a:lnTo>
                    <a:pt x="7011652" y="3331104"/>
                  </a:lnTo>
                  <a:lnTo>
                    <a:pt x="7014696" y="3381624"/>
                  </a:lnTo>
                  <a:lnTo>
                    <a:pt x="7017055" y="3432345"/>
                  </a:lnTo>
                  <a:lnTo>
                    <a:pt x="7018723" y="3483263"/>
                  </a:lnTo>
                  <a:lnTo>
                    <a:pt x="7019697" y="3534374"/>
                  </a:lnTo>
                  <a:lnTo>
                    <a:pt x="7019697" y="9164217"/>
                  </a:lnTo>
                  <a:close/>
                </a:path>
              </a:pathLst>
            </a:custGeom>
            <a:solidFill>
              <a:srgbClr val="135C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21678" y="1601095"/>
              <a:ext cx="6255546" cy="68742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607929" y="1587346"/>
              <a:ext cx="6283325" cy="6896100"/>
            </a:xfrm>
            <a:custGeom>
              <a:avLst/>
              <a:gdLst/>
              <a:ahLst/>
              <a:cxnLst/>
              <a:rect l="l" t="t" r="r" b="b"/>
              <a:pathLst>
                <a:path w="6283325" h="6896100">
                  <a:moveTo>
                    <a:pt x="3452117" y="12700"/>
                  </a:moveTo>
                  <a:lnTo>
                    <a:pt x="2830874" y="12700"/>
                  </a:lnTo>
                  <a:lnTo>
                    <a:pt x="2882113" y="0"/>
                  </a:lnTo>
                  <a:lnTo>
                    <a:pt x="3400893" y="0"/>
                  </a:lnTo>
                  <a:lnTo>
                    <a:pt x="3452117" y="12700"/>
                  </a:lnTo>
                  <a:close/>
                </a:path>
                <a:path w="6283325" h="6896100">
                  <a:moveTo>
                    <a:pt x="3604363" y="25400"/>
                  </a:moveTo>
                  <a:lnTo>
                    <a:pt x="2678570" y="25400"/>
                  </a:lnTo>
                  <a:lnTo>
                    <a:pt x="2729095" y="12700"/>
                  </a:lnTo>
                  <a:lnTo>
                    <a:pt x="3553859" y="12700"/>
                  </a:lnTo>
                  <a:lnTo>
                    <a:pt x="3604363" y="25400"/>
                  </a:lnTo>
                  <a:close/>
                </a:path>
                <a:path w="6283325" h="6896100">
                  <a:moveTo>
                    <a:pt x="2724754" y="50800"/>
                  </a:moveTo>
                  <a:lnTo>
                    <a:pt x="2528536" y="50800"/>
                  </a:lnTo>
                  <a:lnTo>
                    <a:pt x="2628297" y="25400"/>
                  </a:lnTo>
                  <a:lnTo>
                    <a:pt x="2879355" y="25400"/>
                  </a:lnTo>
                  <a:lnTo>
                    <a:pt x="2827581" y="38100"/>
                  </a:lnTo>
                  <a:lnTo>
                    <a:pt x="2776045" y="38100"/>
                  </a:lnTo>
                  <a:lnTo>
                    <a:pt x="2724754" y="50800"/>
                  </a:lnTo>
                  <a:close/>
                </a:path>
                <a:path w="6283325" h="6896100">
                  <a:moveTo>
                    <a:pt x="3754326" y="50800"/>
                  </a:moveTo>
                  <a:lnTo>
                    <a:pt x="3558289" y="50800"/>
                  </a:lnTo>
                  <a:lnTo>
                    <a:pt x="3506998" y="38100"/>
                  </a:lnTo>
                  <a:lnTo>
                    <a:pt x="3455462" y="38100"/>
                  </a:lnTo>
                  <a:lnTo>
                    <a:pt x="3403688" y="25400"/>
                  </a:lnTo>
                  <a:lnTo>
                    <a:pt x="3654614" y="25400"/>
                  </a:lnTo>
                  <a:lnTo>
                    <a:pt x="3754326" y="50800"/>
                  </a:lnTo>
                  <a:close/>
                </a:path>
                <a:path w="6283325" h="6896100">
                  <a:moveTo>
                    <a:pt x="6283044" y="6896100"/>
                  </a:moveTo>
                  <a:lnTo>
                    <a:pt x="0" y="6896100"/>
                  </a:lnTo>
                  <a:lnTo>
                    <a:pt x="0" y="3162300"/>
                  </a:lnTo>
                  <a:lnTo>
                    <a:pt x="333" y="3111500"/>
                  </a:lnTo>
                  <a:lnTo>
                    <a:pt x="1334" y="3060700"/>
                  </a:lnTo>
                  <a:lnTo>
                    <a:pt x="3002" y="3009900"/>
                  </a:lnTo>
                  <a:lnTo>
                    <a:pt x="5336" y="2959100"/>
                  </a:lnTo>
                  <a:lnTo>
                    <a:pt x="8336" y="2908300"/>
                  </a:lnTo>
                  <a:lnTo>
                    <a:pt x="12002" y="2857500"/>
                  </a:lnTo>
                  <a:lnTo>
                    <a:pt x="16332" y="2806700"/>
                  </a:lnTo>
                  <a:lnTo>
                    <a:pt x="21328" y="2755900"/>
                  </a:lnTo>
                  <a:lnTo>
                    <a:pt x="26987" y="2705100"/>
                  </a:lnTo>
                  <a:lnTo>
                    <a:pt x="33311" y="2654300"/>
                  </a:lnTo>
                  <a:lnTo>
                    <a:pt x="40298" y="2603500"/>
                  </a:lnTo>
                  <a:lnTo>
                    <a:pt x="47947" y="2552700"/>
                  </a:lnTo>
                  <a:lnTo>
                    <a:pt x="56260" y="2514600"/>
                  </a:lnTo>
                  <a:lnTo>
                    <a:pt x="65235" y="2463800"/>
                  </a:lnTo>
                  <a:lnTo>
                    <a:pt x="74871" y="2413000"/>
                  </a:lnTo>
                  <a:lnTo>
                    <a:pt x="85169" y="2362200"/>
                  </a:lnTo>
                  <a:lnTo>
                    <a:pt x="96127" y="2311400"/>
                  </a:lnTo>
                  <a:lnTo>
                    <a:pt x="107747" y="2273300"/>
                  </a:lnTo>
                  <a:lnTo>
                    <a:pt x="120026" y="2222500"/>
                  </a:lnTo>
                  <a:lnTo>
                    <a:pt x="132965" y="2171700"/>
                  </a:lnTo>
                  <a:lnTo>
                    <a:pt x="146563" y="2133600"/>
                  </a:lnTo>
                  <a:lnTo>
                    <a:pt x="160820" y="2082800"/>
                  </a:lnTo>
                  <a:lnTo>
                    <a:pt x="175735" y="2032000"/>
                  </a:lnTo>
                  <a:lnTo>
                    <a:pt x="191309" y="1993900"/>
                  </a:lnTo>
                  <a:lnTo>
                    <a:pt x="207539" y="1943100"/>
                  </a:lnTo>
                  <a:lnTo>
                    <a:pt x="224428" y="1905000"/>
                  </a:lnTo>
                  <a:lnTo>
                    <a:pt x="241972" y="1854200"/>
                  </a:lnTo>
                  <a:lnTo>
                    <a:pt x="261578" y="1803400"/>
                  </a:lnTo>
                  <a:lnTo>
                    <a:pt x="281898" y="1765300"/>
                  </a:lnTo>
                  <a:lnTo>
                    <a:pt x="302930" y="1714500"/>
                  </a:lnTo>
                  <a:lnTo>
                    <a:pt x="324673" y="1663700"/>
                  </a:lnTo>
                  <a:lnTo>
                    <a:pt x="347125" y="1625600"/>
                  </a:lnTo>
                  <a:lnTo>
                    <a:pt x="370284" y="1574800"/>
                  </a:lnTo>
                  <a:lnTo>
                    <a:pt x="394148" y="1536700"/>
                  </a:lnTo>
                  <a:lnTo>
                    <a:pt x="418716" y="1485900"/>
                  </a:lnTo>
                  <a:lnTo>
                    <a:pt x="443986" y="1447800"/>
                  </a:lnTo>
                  <a:lnTo>
                    <a:pt x="469956" y="1397000"/>
                  </a:lnTo>
                  <a:lnTo>
                    <a:pt x="496623" y="1358900"/>
                  </a:lnTo>
                  <a:lnTo>
                    <a:pt x="523988" y="1320800"/>
                  </a:lnTo>
                  <a:lnTo>
                    <a:pt x="552046" y="1282700"/>
                  </a:lnTo>
                  <a:lnTo>
                    <a:pt x="580798" y="1231900"/>
                  </a:lnTo>
                  <a:lnTo>
                    <a:pt x="610240" y="1193800"/>
                  </a:lnTo>
                  <a:lnTo>
                    <a:pt x="640372" y="1155700"/>
                  </a:lnTo>
                  <a:lnTo>
                    <a:pt x="671191" y="1117600"/>
                  </a:lnTo>
                  <a:lnTo>
                    <a:pt x="702696" y="1079500"/>
                  </a:lnTo>
                  <a:lnTo>
                    <a:pt x="734885" y="1041400"/>
                  </a:lnTo>
                  <a:lnTo>
                    <a:pt x="767755" y="1003300"/>
                  </a:lnTo>
                  <a:lnTo>
                    <a:pt x="801306" y="965200"/>
                  </a:lnTo>
                  <a:lnTo>
                    <a:pt x="835536" y="927100"/>
                  </a:lnTo>
                  <a:lnTo>
                    <a:pt x="870442" y="889000"/>
                  </a:lnTo>
                  <a:lnTo>
                    <a:pt x="906023" y="850900"/>
                  </a:lnTo>
                  <a:lnTo>
                    <a:pt x="940362" y="825500"/>
                  </a:lnTo>
                  <a:lnTo>
                    <a:pt x="975239" y="787400"/>
                  </a:lnTo>
                  <a:lnTo>
                    <a:pt x="1010647" y="762000"/>
                  </a:lnTo>
                  <a:lnTo>
                    <a:pt x="1046577" y="723900"/>
                  </a:lnTo>
                  <a:lnTo>
                    <a:pt x="1119978" y="673100"/>
                  </a:lnTo>
                  <a:lnTo>
                    <a:pt x="1157435" y="635000"/>
                  </a:lnTo>
                  <a:lnTo>
                    <a:pt x="1195386" y="609600"/>
                  </a:lnTo>
                  <a:lnTo>
                    <a:pt x="1272744" y="558800"/>
                  </a:lnTo>
                  <a:lnTo>
                    <a:pt x="1312136" y="520700"/>
                  </a:lnTo>
                  <a:lnTo>
                    <a:pt x="1392311" y="469900"/>
                  </a:lnTo>
                  <a:lnTo>
                    <a:pt x="1474293" y="419100"/>
                  </a:lnTo>
                  <a:lnTo>
                    <a:pt x="1515944" y="406400"/>
                  </a:lnTo>
                  <a:lnTo>
                    <a:pt x="1643451" y="330200"/>
                  </a:lnTo>
                  <a:lnTo>
                    <a:pt x="1686781" y="317500"/>
                  </a:lnTo>
                  <a:lnTo>
                    <a:pt x="1774639" y="266700"/>
                  </a:lnTo>
                  <a:lnTo>
                    <a:pt x="1819153" y="254000"/>
                  </a:lnTo>
                  <a:lnTo>
                    <a:pt x="1864048" y="228600"/>
                  </a:lnTo>
                  <a:lnTo>
                    <a:pt x="1954951" y="203200"/>
                  </a:lnTo>
                  <a:lnTo>
                    <a:pt x="2000944" y="177800"/>
                  </a:lnTo>
                  <a:lnTo>
                    <a:pt x="2479063" y="50800"/>
                  </a:lnTo>
                  <a:lnTo>
                    <a:pt x="2673715" y="50800"/>
                  </a:lnTo>
                  <a:lnTo>
                    <a:pt x="2622936" y="63500"/>
                  </a:lnTo>
                  <a:lnTo>
                    <a:pt x="2572425" y="63500"/>
                  </a:lnTo>
                  <a:lnTo>
                    <a:pt x="2472234" y="88900"/>
                  </a:lnTo>
                  <a:lnTo>
                    <a:pt x="2422570" y="88900"/>
                  </a:lnTo>
                  <a:lnTo>
                    <a:pt x="2083668" y="177800"/>
                  </a:lnTo>
                  <a:lnTo>
                    <a:pt x="2036593" y="203200"/>
                  </a:lnTo>
                  <a:lnTo>
                    <a:pt x="1943524" y="228600"/>
                  </a:lnTo>
                  <a:lnTo>
                    <a:pt x="1897544" y="254000"/>
                  </a:lnTo>
                  <a:lnTo>
                    <a:pt x="1851944" y="266700"/>
                  </a:lnTo>
                  <a:lnTo>
                    <a:pt x="1806732" y="292100"/>
                  </a:lnTo>
                  <a:lnTo>
                    <a:pt x="1761914" y="304800"/>
                  </a:lnTo>
                  <a:lnTo>
                    <a:pt x="1673494" y="355600"/>
                  </a:lnTo>
                  <a:lnTo>
                    <a:pt x="1629907" y="368300"/>
                  </a:lnTo>
                  <a:lnTo>
                    <a:pt x="1501724" y="444500"/>
                  </a:lnTo>
                  <a:lnTo>
                    <a:pt x="1418493" y="495300"/>
                  </a:lnTo>
                  <a:lnTo>
                    <a:pt x="1337113" y="546100"/>
                  </a:lnTo>
                  <a:lnTo>
                    <a:pt x="1257643" y="596900"/>
                  </a:lnTo>
                  <a:lnTo>
                    <a:pt x="1218642" y="622300"/>
                  </a:lnTo>
                  <a:lnTo>
                    <a:pt x="1180142" y="660400"/>
                  </a:lnTo>
                  <a:lnTo>
                    <a:pt x="1104672" y="711200"/>
                  </a:lnTo>
                  <a:lnTo>
                    <a:pt x="1067716" y="749300"/>
                  </a:lnTo>
                  <a:lnTo>
                    <a:pt x="1031291" y="774700"/>
                  </a:lnTo>
                  <a:lnTo>
                    <a:pt x="995403" y="812800"/>
                  </a:lnTo>
                  <a:lnTo>
                    <a:pt x="960061" y="838200"/>
                  </a:lnTo>
                  <a:lnTo>
                    <a:pt x="925271" y="876300"/>
                  </a:lnTo>
                  <a:lnTo>
                    <a:pt x="890026" y="914400"/>
                  </a:lnTo>
                  <a:lnTo>
                    <a:pt x="855443" y="952500"/>
                  </a:lnTo>
                  <a:lnTo>
                    <a:pt x="821523" y="977900"/>
                  </a:lnTo>
                  <a:lnTo>
                    <a:pt x="788270" y="1016000"/>
                  </a:lnTo>
                  <a:lnTo>
                    <a:pt x="755684" y="1054100"/>
                  </a:lnTo>
                  <a:lnTo>
                    <a:pt x="723770" y="1092200"/>
                  </a:lnTo>
                  <a:lnTo>
                    <a:pt x="692528" y="1130300"/>
                  </a:lnTo>
                  <a:lnTo>
                    <a:pt x="661962" y="1168400"/>
                  </a:lnTo>
                  <a:lnTo>
                    <a:pt x="632074" y="1206500"/>
                  </a:lnTo>
                  <a:lnTo>
                    <a:pt x="602866" y="1257300"/>
                  </a:lnTo>
                  <a:lnTo>
                    <a:pt x="574341" y="1295400"/>
                  </a:lnTo>
                  <a:lnTo>
                    <a:pt x="546501" y="1333500"/>
                  </a:lnTo>
                  <a:lnTo>
                    <a:pt x="519348" y="1371600"/>
                  </a:lnTo>
                  <a:lnTo>
                    <a:pt x="492885" y="1422400"/>
                  </a:lnTo>
                  <a:lnTo>
                    <a:pt x="467114" y="1460500"/>
                  </a:lnTo>
                  <a:lnTo>
                    <a:pt x="442038" y="1498600"/>
                  </a:lnTo>
                  <a:lnTo>
                    <a:pt x="417659" y="1549400"/>
                  </a:lnTo>
                  <a:lnTo>
                    <a:pt x="393979" y="1587500"/>
                  </a:lnTo>
                  <a:lnTo>
                    <a:pt x="371001" y="1638300"/>
                  </a:lnTo>
                  <a:lnTo>
                    <a:pt x="348727" y="1676400"/>
                  </a:lnTo>
                  <a:lnTo>
                    <a:pt x="327159" y="1727200"/>
                  </a:lnTo>
                  <a:lnTo>
                    <a:pt x="306300" y="1778000"/>
                  </a:lnTo>
                  <a:lnTo>
                    <a:pt x="286153" y="1816100"/>
                  </a:lnTo>
                  <a:lnTo>
                    <a:pt x="266720" y="1866900"/>
                  </a:lnTo>
                  <a:lnTo>
                    <a:pt x="248818" y="1917700"/>
                  </a:lnTo>
                  <a:lnTo>
                    <a:pt x="231602" y="1955800"/>
                  </a:lnTo>
                  <a:lnTo>
                    <a:pt x="215072" y="2006600"/>
                  </a:lnTo>
                  <a:lnTo>
                    <a:pt x="199229" y="2057400"/>
                  </a:lnTo>
                  <a:lnTo>
                    <a:pt x="184075" y="2095500"/>
                  </a:lnTo>
                  <a:lnTo>
                    <a:pt x="169612" y="2146300"/>
                  </a:lnTo>
                  <a:lnTo>
                    <a:pt x="155840" y="2197100"/>
                  </a:lnTo>
                  <a:lnTo>
                    <a:pt x="142762" y="2247900"/>
                  </a:lnTo>
                  <a:lnTo>
                    <a:pt x="130378" y="2286000"/>
                  </a:lnTo>
                  <a:lnTo>
                    <a:pt x="118691" y="2336800"/>
                  </a:lnTo>
                  <a:lnTo>
                    <a:pt x="107700" y="2387600"/>
                  </a:lnTo>
                  <a:lnTo>
                    <a:pt x="97409" y="2438400"/>
                  </a:lnTo>
                  <a:lnTo>
                    <a:pt x="87818" y="2489200"/>
                  </a:lnTo>
                  <a:lnTo>
                    <a:pt x="78928" y="2540000"/>
                  </a:lnTo>
                  <a:lnTo>
                    <a:pt x="70742" y="2590800"/>
                  </a:lnTo>
                  <a:lnTo>
                    <a:pt x="63260" y="2641600"/>
                  </a:lnTo>
                  <a:lnTo>
                    <a:pt x="56484" y="2692400"/>
                  </a:lnTo>
                  <a:lnTo>
                    <a:pt x="50415" y="2743200"/>
                  </a:lnTo>
                  <a:lnTo>
                    <a:pt x="45055" y="2794000"/>
                  </a:lnTo>
                  <a:lnTo>
                    <a:pt x="40405" y="2844800"/>
                  </a:lnTo>
                  <a:lnTo>
                    <a:pt x="36467" y="2895600"/>
                  </a:lnTo>
                  <a:lnTo>
                    <a:pt x="33241" y="2946400"/>
                  </a:lnTo>
                  <a:lnTo>
                    <a:pt x="30730" y="3009900"/>
                  </a:lnTo>
                  <a:lnTo>
                    <a:pt x="28934" y="3060700"/>
                  </a:lnTo>
                  <a:lnTo>
                    <a:pt x="27856" y="3111500"/>
                  </a:lnTo>
                  <a:lnTo>
                    <a:pt x="27496" y="3162300"/>
                  </a:lnTo>
                  <a:lnTo>
                    <a:pt x="27496" y="6870700"/>
                  </a:lnTo>
                  <a:lnTo>
                    <a:pt x="6283044" y="6870700"/>
                  </a:lnTo>
                  <a:lnTo>
                    <a:pt x="6283044" y="6896100"/>
                  </a:lnTo>
                  <a:close/>
                </a:path>
                <a:path w="6283325" h="6896100">
                  <a:moveTo>
                    <a:pt x="6283044" y="6870700"/>
                  </a:moveTo>
                  <a:lnTo>
                    <a:pt x="6255547" y="6870700"/>
                  </a:lnTo>
                  <a:lnTo>
                    <a:pt x="6255547" y="3162300"/>
                  </a:lnTo>
                  <a:lnTo>
                    <a:pt x="6255187" y="3111500"/>
                  </a:lnTo>
                  <a:lnTo>
                    <a:pt x="6254109" y="3060700"/>
                  </a:lnTo>
                  <a:lnTo>
                    <a:pt x="6252313" y="3009900"/>
                  </a:lnTo>
                  <a:lnTo>
                    <a:pt x="6249802" y="2946400"/>
                  </a:lnTo>
                  <a:lnTo>
                    <a:pt x="6246576" y="2895600"/>
                  </a:lnTo>
                  <a:lnTo>
                    <a:pt x="6242638" y="2844800"/>
                  </a:lnTo>
                  <a:lnTo>
                    <a:pt x="6237988" y="2794000"/>
                  </a:lnTo>
                  <a:lnTo>
                    <a:pt x="6232628" y="2743200"/>
                  </a:lnTo>
                  <a:lnTo>
                    <a:pt x="6226559" y="2692400"/>
                  </a:lnTo>
                  <a:lnTo>
                    <a:pt x="6219783" y="2641600"/>
                  </a:lnTo>
                  <a:lnTo>
                    <a:pt x="6212301" y="2590800"/>
                  </a:lnTo>
                  <a:lnTo>
                    <a:pt x="6204115" y="2540000"/>
                  </a:lnTo>
                  <a:lnTo>
                    <a:pt x="6195225" y="2489200"/>
                  </a:lnTo>
                  <a:lnTo>
                    <a:pt x="6185634" y="2438400"/>
                  </a:lnTo>
                  <a:lnTo>
                    <a:pt x="6175343" y="2387600"/>
                  </a:lnTo>
                  <a:lnTo>
                    <a:pt x="6164353" y="2336800"/>
                  </a:lnTo>
                  <a:lnTo>
                    <a:pt x="6152665" y="2286000"/>
                  </a:lnTo>
                  <a:lnTo>
                    <a:pt x="6140281" y="2247900"/>
                  </a:lnTo>
                  <a:lnTo>
                    <a:pt x="6127203" y="2197100"/>
                  </a:lnTo>
                  <a:lnTo>
                    <a:pt x="6113431" y="2146300"/>
                  </a:lnTo>
                  <a:lnTo>
                    <a:pt x="6098968" y="2095500"/>
                  </a:lnTo>
                  <a:lnTo>
                    <a:pt x="6083814" y="2057400"/>
                  </a:lnTo>
                  <a:lnTo>
                    <a:pt x="6067972" y="2006600"/>
                  </a:lnTo>
                  <a:lnTo>
                    <a:pt x="6051441" y="1955800"/>
                  </a:lnTo>
                  <a:lnTo>
                    <a:pt x="6034225" y="1917700"/>
                  </a:lnTo>
                  <a:lnTo>
                    <a:pt x="6016324" y="1866900"/>
                  </a:lnTo>
                  <a:lnTo>
                    <a:pt x="5996890" y="1816100"/>
                  </a:lnTo>
                  <a:lnTo>
                    <a:pt x="5976743" y="1778000"/>
                  </a:lnTo>
                  <a:lnTo>
                    <a:pt x="5955884" y="1727200"/>
                  </a:lnTo>
                  <a:lnTo>
                    <a:pt x="5934317" y="1676400"/>
                  </a:lnTo>
                  <a:lnTo>
                    <a:pt x="5912043" y="1638300"/>
                  </a:lnTo>
                  <a:lnTo>
                    <a:pt x="5889064" y="1587500"/>
                  </a:lnTo>
                  <a:lnTo>
                    <a:pt x="5865385" y="1549400"/>
                  </a:lnTo>
                  <a:lnTo>
                    <a:pt x="5841005" y="1498600"/>
                  </a:lnTo>
                  <a:lnTo>
                    <a:pt x="5815929" y="1460500"/>
                  </a:lnTo>
                  <a:lnTo>
                    <a:pt x="5790158" y="1422400"/>
                  </a:lnTo>
                  <a:lnTo>
                    <a:pt x="5763695" y="1371600"/>
                  </a:lnTo>
                  <a:lnTo>
                    <a:pt x="5736542" y="1333500"/>
                  </a:lnTo>
                  <a:lnTo>
                    <a:pt x="5708702" y="1295400"/>
                  </a:lnTo>
                  <a:lnTo>
                    <a:pt x="5680177" y="1257300"/>
                  </a:lnTo>
                  <a:lnTo>
                    <a:pt x="5650969" y="1206500"/>
                  </a:lnTo>
                  <a:lnTo>
                    <a:pt x="5621081" y="1168400"/>
                  </a:lnTo>
                  <a:lnTo>
                    <a:pt x="5590515" y="1130300"/>
                  </a:lnTo>
                  <a:lnTo>
                    <a:pt x="5559273" y="1092200"/>
                  </a:lnTo>
                  <a:lnTo>
                    <a:pt x="5527359" y="1054100"/>
                  </a:lnTo>
                  <a:lnTo>
                    <a:pt x="5494773" y="1016000"/>
                  </a:lnTo>
                  <a:lnTo>
                    <a:pt x="5461520" y="977900"/>
                  </a:lnTo>
                  <a:lnTo>
                    <a:pt x="5427600" y="952500"/>
                  </a:lnTo>
                  <a:lnTo>
                    <a:pt x="5393017" y="914400"/>
                  </a:lnTo>
                  <a:lnTo>
                    <a:pt x="5357773" y="876300"/>
                  </a:lnTo>
                  <a:lnTo>
                    <a:pt x="5322983" y="838200"/>
                  </a:lnTo>
                  <a:lnTo>
                    <a:pt x="5287640" y="812800"/>
                  </a:lnTo>
                  <a:lnTo>
                    <a:pt x="5251752" y="774700"/>
                  </a:lnTo>
                  <a:lnTo>
                    <a:pt x="5215327" y="749300"/>
                  </a:lnTo>
                  <a:lnTo>
                    <a:pt x="5178372" y="711200"/>
                  </a:lnTo>
                  <a:lnTo>
                    <a:pt x="5102901" y="660400"/>
                  </a:lnTo>
                  <a:lnTo>
                    <a:pt x="5064401" y="622300"/>
                  </a:lnTo>
                  <a:lnTo>
                    <a:pt x="5025401" y="596900"/>
                  </a:lnTo>
                  <a:lnTo>
                    <a:pt x="4945930" y="546100"/>
                  </a:lnTo>
                  <a:lnTo>
                    <a:pt x="4864550" y="495300"/>
                  </a:lnTo>
                  <a:lnTo>
                    <a:pt x="4781319" y="444500"/>
                  </a:lnTo>
                  <a:lnTo>
                    <a:pt x="4653137" y="368300"/>
                  </a:lnTo>
                  <a:lnTo>
                    <a:pt x="4609549" y="355600"/>
                  </a:lnTo>
                  <a:lnTo>
                    <a:pt x="4521129" y="304800"/>
                  </a:lnTo>
                  <a:lnTo>
                    <a:pt x="4476312" y="292100"/>
                  </a:lnTo>
                  <a:lnTo>
                    <a:pt x="4431099" y="266700"/>
                  </a:lnTo>
                  <a:lnTo>
                    <a:pt x="4385499" y="254000"/>
                  </a:lnTo>
                  <a:lnTo>
                    <a:pt x="4339519" y="228600"/>
                  </a:lnTo>
                  <a:lnTo>
                    <a:pt x="4246450" y="203200"/>
                  </a:lnTo>
                  <a:lnTo>
                    <a:pt x="4199375" y="177800"/>
                  </a:lnTo>
                  <a:lnTo>
                    <a:pt x="3860474" y="88900"/>
                  </a:lnTo>
                  <a:lnTo>
                    <a:pt x="3810809" y="88900"/>
                  </a:lnTo>
                  <a:lnTo>
                    <a:pt x="3710619" y="63500"/>
                  </a:lnTo>
                  <a:lnTo>
                    <a:pt x="3660107" y="63500"/>
                  </a:lnTo>
                  <a:lnTo>
                    <a:pt x="3609328" y="50800"/>
                  </a:lnTo>
                  <a:lnTo>
                    <a:pt x="3803774" y="50800"/>
                  </a:lnTo>
                  <a:lnTo>
                    <a:pt x="4281628" y="177800"/>
                  </a:lnTo>
                  <a:lnTo>
                    <a:pt x="4327598" y="203200"/>
                  </a:lnTo>
                  <a:lnTo>
                    <a:pt x="4418460" y="228600"/>
                  </a:lnTo>
                  <a:lnTo>
                    <a:pt x="4463336" y="254000"/>
                  </a:lnTo>
                  <a:lnTo>
                    <a:pt x="4507835" y="266700"/>
                  </a:lnTo>
                  <a:lnTo>
                    <a:pt x="4595668" y="317500"/>
                  </a:lnTo>
                  <a:lnTo>
                    <a:pt x="4638990" y="330200"/>
                  </a:lnTo>
                  <a:lnTo>
                    <a:pt x="4766489" y="406400"/>
                  </a:lnTo>
                  <a:lnTo>
                    <a:pt x="4808144" y="419100"/>
                  </a:lnTo>
                  <a:lnTo>
                    <a:pt x="4890145" y="469900"/>
                  </a:lnTo>
                  <a:lnTo>
                    <a:pt x="4970356" y="520700"/>
                  </a:lnTo>
                  <a:lnTo>
                    <a:pt x="5009772" y="558800"/>
                  </a:lnTo>
                  <a:lnTo>
                    <a:pt x="5087192" y="609600"/>
                  </a:lnTo>
                  <a:lnTo>
                    <a:pt x="5125181" y="635000"/>
                  </a:lnTo>
                  <a:lnTo>
                    <a:pt x="5162682" y="673100"/>
                  </a:lnTo>
                  <a:lnTo>
                    <a:pt x="5236187" y="723900"/>
                  </a:lnTo>
                  <a:lnTo>
                    <a:pt x="5272178" y="762000"/>
                  </a:lnTo>
                  <a:lnTo>
                    <a:pt x="5307652" y="787400"/>
                  </a:lnTo>
                  <a:lnTo>
                    <a:pt x="5342602" y="825500"/>
                  </a:lnTo>
                  <a:lnTo>
                    <a:pt x="5377021" y="850900"/>
                  </a:lnTo>
                  <a:lnTo>
                    <a:pt x="5412602" y="889000"/>
                  </a:lnTo>
                  <a:lnTo>
                    <a:pt x="5447508" y="927100"/>
                  </a:lnTo>
                  <a:lnTo>
                    <a:pt x="5481737" y="965200"/>
                  </a:lnTo>
                  <a:lnTo>
                    <a:pt x="5515288" y="1003300"/>
                  </a:lnTo>
                  <a:lnTo>
                    <a:pt x="5548159" y="1041400"/>
                  </a:lnTo>
                  <a:lnTo>
                    <a:pt x="5580347" y="1079500"/>
                  </a:lnTo>
                  <a:lnTo>
                    <a:pt x="5611852" y="1117600"/>
                  </a:lnTo>
                  <a:lnTo>
                    <a:pt x="5642671" y="1155700"/>
                  </a:lnTo>
                  <a:lnTo>
                    <a:pt x="5672803" y="1193800"/>
                  </a:lnTo>
                  <a:lnTo>
                    <a:pt x="5702245" y="1231900"/>
                  </a:lnTo>
                  <a:lnTo>
                    <a:pt x="5730997" y="1282700"/>
                  </a:lnTo>
                  <a:lnTo>
                    <a:pt x="5759056" y="1320800"/>
                  </a:lnTo>
                  <a:lnTo>
                    <a:pt x="5786420" y="1358900"/>
                  </a:lnTo>
                  <a:lnTo>
                    <a:pt x="5813088" y="1409700"/>
                  </a:lnTo>
                  <a:lnTo>
                    <a:pt x="5839057" y="1447800"/>
                  </a:lnTo>
                  <a:lnTo>
                    <a:pt x="5864327" y="1485900"/>
                  </a:lnTo>
                  <a:lnTo>
                    <a:pt x="5888895" y="1536700"/>
                  </a:lnTo>
                  <a:lnTo>
                    <a:pt x="5912759" y="1574800"/>
                  </a:lnTo>
                  <a:lnTo>
                    <a:pt x="5935918" y="1625600"/>
                  </a:lnTo>
                  <a:lnTo>
                    <a:pt x="5958370" y="1676400"/>
                  </a:lnTo>
                  <a:lnTo>
                    <a:pt x="5980113" y="1714500"/>
                  </a:lnTo>
                  <a:lnTo>
                    <a:pt x="6001145" y="1765300"/>
                  </a:lnTo>
                  <a:lnTo>
                    <a:pt x="6021465" y="1816100"/>
                  </a:lnTo>
                  <a:lnTo>
                    <a:pt x="6041071" y="1854200"/>
                  </a:lnTo>
                  <a:lnTo>
                    <a:pt x="6058615" y="1905000"/>
                  </a:lnTo>
                  <a:lnTo>
                    <a:pt x="6075504" y="1943100"/>
                  </a:lnTo>
                  <a:lnTo>
                    <a:pt x="6091734" y="1993900"/>
                  </a:lnTo>
                  <a:lnTo>
                    <a:pt x="6107308" y="2032000"/>
                  </a:lnTo>
                  <a:lnTo>
                    <a:pt x="6122223" y="2082800"/>
                  </a:lnTo>
                  <a:lnTo>
                    <a:pt x="6136480" y="2133600"/>
                  </a:lnTo>
                  <a:lnTo>
                    <a:pt x="6150078" y="2171700"/>
                  </a:lnTo>
                  <a:lnTo>
                    <a:pt x="6163017" y="2222500"/>
                  </a:lnTo>
                  <a:lnTo>
                    <a:pt x="6175296" y="2273300"/>
                  </a:lnTo>
                  <a:lnTo>
                    <a:pt x="6186916" y="2311400"/>
                  </a:lnTo>
                  <a:lnTo>
                    <a:pt x="6197874" y="2362200"/>
                  </a:lnTo>
                  <a:lnTo>
                    <a:pt x="6208172" y="2413000"/>
                  </a:lnTo>
                  <a:lnTo>
                    <a:pt x="6217809" y="2463800"/>
                  </a:lnTo>
                  <a:lnTo>
                    <a:pt x="6226783" y="2514600"/>
                  </a:lnTo>
                  <a:lnTo>
                    <a:pt x="6235096" y="2552700"/>
                  </a:lnTo>
                  <a:lnTo>
                    <a:pt x="6242746" y="2603500"/>
                  </a:lnTo>
                  <a:lnTo>
                    <a:pt x="6249732" y="2654300"/>
                  </a:lnTo>
                  <a:lnTo>
                    <a:pt x="6256056" y="2705100"/>
                  </a:lnTo>
                  <a:lnTo>
                    <a:pt x="6261716" y="2755900"/>
                  </a:lnTo>
                  <a:lnTo>
                    <a:pt x="6266711" y="2806700"/>
                  </a:lnTo>
                  <a:lnTo>
                    <a:pt x="6271042" y="2857500"/>
                  </a:lnTo>
                  <a:lnTo>
                    <a:pt x="6274707" y="2908300"/>
                  </a:lnTo>
                  <a:lnTo>
                    <a:pt x="6277707" y="2959100"/>
                  </a:lnTo>
                  <a:lnTo>
                    <a:pt x="6280041" y="3009900"/>
                  </a:lnTo>
                  <a:lnTo>
                    <a:pt x="6281709" y="3060700"/>
                  </a:lnTo>
                  <a:lnTo>
                    <a:pt x="6282710" y="3111500"/>
                  </a:lnTo>
                  <a:lnTo>
                    <a:pt x="6283044" y="3162300"/>
                  </a:lnTo>
                  <a:lnTo>
                    <a:pt x="6283044" y="6870700"/>
                  </a:lnTo>
                  <a:close/>
                </a:path>
              </a:pathLst>
            </a:custGeom>
            <a:solidFill>
              <a:srgbClr val="5B9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7378" y="3637769"/>
            <a:ext cx="95250" cy="952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7378" y="4199744"/>
            <a:ext cx="95250" cy="952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7378" y="4761719"/>
            <a:ext cx="95250" cy="952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7378" y="5323694"/>
            <a:ext cx="95250" cy="952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7378" y="5885669"/>
            <a:ext cx="95250" cy="952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2454" y="7141344"/>
            <a:ext cx="95250" cy="9525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2454" y="7703319"/>
            <a:ext cx="95250" cy="9525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2454" y="8265294"/>
            <a:ext cx="95250" cy="9525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2454" y="8827269"/>
            <a:ext cx="95250" cy="9525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2454" y="9389244"/>
            <a:ext cx="95250" cy="9525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51636" y="2725261"/>
            <a:ext cx="8273415" cy="690118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77165">
              <a:lnSpc>
                <a:spcPct val="100000"/>
              </a:lnSpc>
              <a:spcBef>
                <a:spcPts val="685"/>
              </a:spcBef>
            </a:pPr>
            <a:r>
              <a:rPr sz="3200" b="1" spc="-125" dirty="0">
                <a:solidFill>
                  <a:srgbClr val="041C40"/>
                </a:solidFill>
                <a:latin typeface="Times New Roman"/>
                <a:cs typeface="Times New Roman"/>
              </a:rPr>
              <a:t>Key</a:t>
            </a:r>
            <a:r>
              <a:rPr sz="3200" b="1" spc="-114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b="1" spc="-125" dirty="0">
                <a:solidFill>
                  <a:srgbClr val="041C40"/>
                </a:solidFill>
                <a:latin typeface="Times New Roman"/>
                <a:cs typeface="Times New Roman"/>
              </a:rPr>
              <a:t>Performance</a:t>
            </a:r>
            <a:r>
              <a:rPr sz="3200" b="1" spc="-114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b="1" spc="-125" dirty="0">
                <a:solidFill>
                  <a:srgbClr val="041C40"/>
                </a:solidFill>
                <a:latin typeface="Times New Roman"/>
                <a:cs typeface="Times New Roman"/>
              </a:rPr>
              <a:t>Indicators</a:t>
            </a:r>
            <a:r>
              <a:rPr sz="3200" b="1" spc="-114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041C40"/>
                </a:solidFill>
                <a:latin typeface="Times New Roman"/>
                <a:cs typeface="Times New Roman"/>
              </a:rPr>
              <a:t>(KPIs):</a:t>
            </a:r>
            <a:endParaRPr sz="3200">
              <a:latin typeface="Times New Roman"/>
              <a:cs typeface="Times New Roman"/>
            </a:endParaRPr>
          </a:p>
          <a:p>
            <a:pPr marL="868044">
              <a:lnSpc>
                <a:spcPct val="100000"/>
              </a:lnSpc>
              <a:spcBef>
                <a:spcPts val="585"/>
              </a:spcBef>
            </a:pPr>
            <a:r>
              <a:rPr sz="3200" spc="75" dirty="0">
                <a:solidFill>
                  <a:srgbClr val="041C40"/>
                </a:solidFill>
                <a:latin typeface="Times New Roman"/>
                <a:cs typeface="Times New Roman"/>
              </a:rPr>
              <a:t>Total</a:t>
            </a:r>
            <a:r>
              <a:rPr sz="3200" spc="-13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41C40"/>
                </a:solidFill>
                <a:latin typeface="Times New Roman"/>
                <a:cs typeface="Times New Roman"/>
              </a:rPr>
              <a:t>Clients:</a:t>
            </a:r>
            <a:r>
              <a:rPr sz="3200" spc="-13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41C40"/>
                </a:solidFill>
                <a:latin typeface="Times New Roman"/>
                <a:cs typeface="Times New Roman"/>
              </a:rPr>
              <a:t>65.54K</a:t>
            </a:r>
            <a:endParaRPr sz="3200">
              <a:latin typeface="Times New Roman"/>
              <a:cs typeface="Times New Roman"/>
            </a:endParaRPr>
          </a:p>
          <a:p>
            <a:pPr marL="868044" marR="2195195">
              <a:lnSpc>
                <a:spcPct val="115199"/>
              </a:lnSpc>
            </a:pPr>
            <a:r>
              <a:rPr sz="3200" spc="75" dirty="0">
                <a:solidFill>
                  <a:srgbClr val="041C40"/>
                </a:solidFill>
                <a:latin typeface="Times New Roman"/>
                <a:cs typeface="Times New Roman"/>
              </a:rPr>
              <a:t>Total</a:t>
            </a:r>
            <a:r>
              <a:rPr sz="3200" spc="-114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114" dirty="0">
                <a:solidFill>
                  <a:srgbClr val="041C40"/>
                </a:solidFill>
                <a:latin typeface="Times New Roman"/>
                <a:cs typeface="Times New Roman"/>
              </a:rPr>
              <a:t>Loan</a:t>
            </a:r>
            <a:r>
              <a:rPr sz="3200" spc="-114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70" dirty="0">
                <a:solidFill>
                  <a:srgbClr val="041C40"/>
                </a:solidFill>
                <a:latin typeface="Times New Roman"/>
                <a:cs typeface="Times New Roman"/>
              </a:rPr>
              <a:t>Amount:</a:t>
            </a:r>
            <a:r>
              <a:rPr sz="3200" spc="-114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050" spc="-10" dirty="0">
                <a:solidFill>
                  <a:srgbClr val="041C40"/>
                </a:solidFill>
                <a:latin typeface="Microsoft Sans Serif"/>
                <a:cs typeface="Microsoft Sans Serif"/>
              </a:rPr>
              <a:t>₹</a:t>
            </a:r>
            <a:r>
              <a:rPr sz="3200" spc="-10" dirty="0">
                <a:solidFill>
                  <a:srgbClr val="041C40"/>
                </a:solidFill>
                <a:latin typeface="Times New Roman"/>
                <a:cs typeface="Times New Roman"/>
              </a:rPr>
              <a:t>751M </a:t>
            </a:r>
            <a:r>
              <a:rPr sz="3200" spc="75" dirty="0">
                <a:solidFill>
                  <a:srgbClr val="041C40"/>
                </a:solidFill>
                <a:latin typeface="Times New Roman"/>
                <a:cs typeface="Times New Roman"/>
              </a:rPr>
              <a:t>Total</a:t>
            </a:r>
            <a:r>
              <a:rPr sz="3200" spc="-114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105" dirty="0">
                <a:solidFill>
                  <a:srgbClr val="041C40"/>
                </a:solidFill>
                <a:latin typeface="Times New Roman"/>
                <a:cs typeface="Times New Roman"/>
              </a:rPr>
              <a:t>Funded</a:t>
            </a:r>
            <a:r>
              <a:rPr sz="3200" spc="-114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70" dirty="0">
                <a:solidFill>
                  <a:srgbClr val="041C40"/>
                </a:solidFill>
                <a:latin typeface="Times New Roman"/>
                <a:cs typeface="Times New Roman"/>
              </a:rPr>
              <a:t>Amount:</a:t>
            </a:r>
            <a:r>
              <a:rPr sz="3200" spc="-114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050" spc="-10" dirty="0">
                <a:solidFill>
                  <a:srgbClr val="041C40"/>
                </a:solidFill>
                <a:latin typeface="Microsoft Sans Serif"/>
                <a:cs typeface="Microsoft Sans Serif"/>
              </a:rPr>
              <a:t>₹</a:t>
            </a:r>
            <a:r>
              <a:rPr sz="3200" spc="-10" dirty="0">
                <a:solidFill>
                  <a:srgbClr val="041C40"/>
                </a:solidFill>
                <a:latin typeface="Times New Roman"/>
                <a:cs typeface="Times New Roman"/>
              </a:rPr>
              <a:t>733M </a:t>
            </a:r>
            <a:r>
              <a:rPr sz="3200" spc="75" dirty="0">
                <a:solidFill>
                  <a:srgbClr val="041C40"/>
                </a:solidFill>
                <a:latin typeface="Times New Roman"/>
                <a:cs typeface="Times New Roman"/>
              </a:rPr>
              <a:t>Total</a:t>
            </a:r>
            <a:r>
              <a:rPr sz="3200" spc="-12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Collection:</a:t>
            </a:r>
            <a:r>
              <a:rPr sz="3200" spc="-12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050" spc="-10" dirty="0">
                <a:solidFill>
                  <a:srgbClr val="041C40"/>
                </a:solidFill>
                <a:latin typeface="Microsoft Sans Serif"/>
                <a:cs typeface="Microsoft Sans Serif"/>
              </a:rPr>
              <a:t>₹</a:t>
            </a:r>
            <a:r>
              <a:rPr sz="3200" spc="-10" dirty="0">
                <a:solidFill>
                  <a:srgbClr val="041C40"/>
                </a:solidFill>
                <a:latin typeface="Times New Roman"/>
                <a:cs typeface="Times New Roman"/>
              </a:rPr>
              <a:t>814.9M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Average</a:t>
            </a:r>
            <a:r>
              <a:rPr sz="3200" spc="-2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Interest</a:t>
            </a:r>
            <a:r>
              <a:rPr sz="3200" spc="-2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70" dirty="0">
                <a:solidFill>
                  <a:srgbClr val="041C40"/>
                </a:solidFill>
                <a:latin typeface="Times New Roman"/>
                <a:cs typeface="Times New Roman"/>
              </a:rPr>
              <a:t>Rate:</a:t>
            </a:r>
            <a:r>
              <a:rPr sz="3200" spc="-2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41C40"/>
                </a:solidFill>
                <a:latin typeface="Times New Roman"/>
                <a:cs typeface="Times New Roman"/>
              </a:rPr>
              <a:t>12.03%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3200" b="1" spc="-30" dirty="0">
                <a:solidFill>
                  <a:srgbClr val="041C40"/>
                </a:solidFill>
                <a:latin typeface="Times New Roman"/>
                <a:cs typeface="Times New Roman"/>
              </a:rPr>
              <a:t>Insights:</a:t>
            </a:r>
            <a:endParaRPr sz="3200">
              <a:latin typeface="Times New Roman"/>
              <a:cs typeface="Times New Roman"/>
            </a:endParaRPr>
          </a:p>
          <a:p>
            <a:pPr marL="703580" marR="5080">
              <a:lnSpc>
                <a:spcPct val="115199"/>
              </a:lnSpc>
              <a:spcBef>
                <a:spcPts val="5"/>
              </a:spcBef>
            </a:pPr>
            <a:r>
              <a:rPr sz="3200" spc="90" dirty="0">
                <a:solidFill>
                  <a:srgbClr val="041C40"/>
                </a:solidFill>
                <a:latin typeface="Times New Roman"/>
                <a:cs typeface="Times New Roman"/>
              </a:rPr>
              <a:t>Home</a:t>
            </a:r>
            <a:r>
              <a:rPr sz="3200" spc="-13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75" dirty="0">
                <a:solidFill>
                  <a:srgbClr val="041C40"/>
                </a:solidFill>
                <a:latin typeface="Times New Roman"/>
                <a:cs typeface="Times New Roman"/>
              </a:rPr>
              <a:t>Loans</a:t>
            </a:r>
            <a:r>
              <a:rPr sz="3200" spc="-12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41C40"/>
                </a:solidFill>
                <a:latin typeface="Times New Roman"/>
                <a:cs typeface="Times New Roman"/>
              </a:rPr>
              <a:t>were</a:t>
            </a:r>
            <a:r>
              <a:rPr sz="3200" spc="-12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55" dirty="0">
                <a:solidFill>
                  <a:srgbClr val="041C40"/>
                </a:solidFill>
                <a:latin typeface="Times New Roman"/>
                <a:cs typeface="Times New Roman"/>
              </a:rPr>
              <a:t>the</a:t>
            </a:r>
            <a:r>
              <a:rPr sz="3200" spc="-12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60" dirty="0">
                <a:solidFill>
                  <a:srgbClr val="041C40"/>
                </a:solidFill>
                <a:latin typeface="Times New Roman"/>
                <a:cs typeface="Times New Roman"/>
              </a:rPr>
              <a:t>most</a:t>
            </a:r>
            <a:r>
              <a:rPr sz="3200" spc="-13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availed</a:t>
            </a:r>
            <a:r>
              <a:rPr sz="3200" spc="-12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65" dirty="0">
                <a:solidFill>
                  <a:srgbClr val="041C40"/>
                </a:solidFill>
                <a:latin typeface="Times New Roman"/>
                <a:cs typeface="Times New Roman"/>
              </a:rPr>
              <a:t>loan</a:t>
            </a:r>
            <a:r>
              <a:rPr sz="3200" spc="-12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41C40"/>
                </a:solidFill>
                <a:latin typeface="Times New Roman"/>
                <a:cs typeface="Times New Roman"/>
              </a:rPr>
              <a:t>type. </a:t>
            </a:r>
            <a:r>
              <a:rPr sz="3200" spc="95" dirty="0">
                <a:solidFill>
                  <a:srgbClr val="041C40"/>
                </a:solidFill>
                <a:latin typeface="Times New Roman"/>
                <a:cs typeface="Times New Roman"/>
              </a:rPr>
              <a:t>Hindu</a:t>
            </a:r>
            <a:r>
              <a:rPr sz="3200" spc="-7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41C40"/>
                </a:solidFill>
                <a:latin typeface="Times New Roman"/>
                <a:cs typeface="Times New Roman"/>
              </a:rPr>
              <a:t>clients</a:t>
            </a:r>
            <a:r>
              <a:rPr sz="3200" spc="-6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formed</a:t>
            </a:r>
            <a:r>
              <a:rPr sz="3200" spc="-7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-65" dirty="0">
                <a:solidFill>
                  <a:srgbClr val="041C40"/>
                </a:solidFill>
                <a:latin typeface="Times New Roman"/>
                <a:cs typeface="Times New Roman"/>
              </a:rPr>
              <a:t>75%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of</a:t>
            </a:r>
            <a:r>
              <a:rPr sz="3200" spc="-7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55" dirty="0">
                <a:solidFill>
                  <a:srgbClr val="041C40"/>
                </a:solidFill>
                <a:latin typeface="Times New Roman"/>
                <a:cs typeface="Times New Roman"/>
              </a:rPr>
              <a:t>the</a:t>
            </a:r>
            <a:r>
              <a:rPr sz="3200" spc="-6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40" dirty="0">
                <a:solidFill>
                  <a:srgbClr val="041C40"/>
                </a:solidFill>
                <a:latin typeface="Times New Roman"/>
                <a:cs typeface="Times New Roman"/>
              </a:rPr>
              <a:t>dataset.</a:t>
            </a:r>
            <a:endParaRPr sz="3200">
              <a:latin typeface="Times New Roman"/>
              <a:cs typeface="Times New Roman"/>
            </a:endParaRPr>
          </a:p>
          <a:p>
            <a:pPr marL="703580" marR="297815">
              <a:lnSpc>
                <a:spcPct val="115199"/>
              </a:lnSpc>
            </a:pPr>
            <a:r>
              <a:rPr sz="3200" spc="55" dirty="0">
                <a:solidFill>
                  <a:srgbClr val="041C40"/>
                </a:solidFill>
                <a:latin typeface="Times New Roman"/>
                <a:cs typeface="Times New Roman"/>
              </a:rPr>
              <a:t>The</a:t>
            </a:r>
            <a:r>
              <a:rPr sz="3200" spc="-4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majority</a:t>
            </a:r>
            <a:r>
              <a:rPr sz="3200" spc="-3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of</a:t>
            </a:r>
            <a:r>
              <a:rPr sz="3200" spc="-4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loans</a:t>
            </a:r>
            <a:r>
              <a:rPr sz="3200" spc="-3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41C40"/>
                </a:solidFill>
                <a:latin typeface="Times New Roman"/>
                <a:cs typeface="Times New Roman"/>
              </a:rPr>
              <a:t>were</a:t>
            </a:r>
            <a:r>
              <a:rPr sz="3200" spc="-4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-65" dirty="0">
                <a:solidFill>
                  <a:srgbClr val="041C40"/>
                </a:solidFill>
                <a:latin typeface="Times New Roman"/>
                <a:cs typeface="Times New Roman"/>
              </a:rPr>
              <a:t>36-</a:t>
            </a:r>
            <a:r>
              <a:rPr sz="3200" spc="100" dirty="0">
                <a:solidFill>
                  <a:srgbClr val="041C40"/>
                </a:solidFill>
                <a:latin typeface="Times New Roman"/>
                <a:cs typeface="Times New Roman"/>
              </a:rPr>
              <a:t>month</a:t>
            </a:r>
            <a:r>
              <a:rPr sz="3200" spc="-3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41C40"/>
                </a:solidFill>
                <a:latin typeface="Times New Roman"/>
                <a:cs typeface="Times New Roman"/>
              </a:rPr>
              <a:t>terms.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Highest</a:t>
            </a:r>
            <a:r>
              <a:rPr sz="3200" spc="-3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active</a:t>
            </a:r>
            <a:r>
              <a:rPr sz="3200" spc="-3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65" dirty="0">
                <a:solidFill>
                  <a:srgbClr val="041C40"/>
                </a:solidFill>
                <a:latin typeface="Times New Roman"/>
                <a:cs typeface="Times New Roman"/>
              </a:rPr>
              <a:t>loan</a:t>
            </a:r>
            <a:r>
              <a:rPr sz="3200" spc="-3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count:</a:t>
            </a:r>
            <a:r>
              <a:rPr sz="3200" spc="-35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30" dirty="0">
                <a:solidFill>
                  <a:srgbClr val="041C40"/>
                </a:solidFill>
                <a:latin typeface="Times New Roman"/>
                <a:cs typeface="Times New Roman"/>
              </a:rPr>
              <a:t>36K</a:t>
            </a:r>
            <a:endParaRPr sz="3200">
              <a:latin typeface="Times New Roman"/>
              <a:cs typeface="Times New Roman"/>
            </a:endParaRPr>
          </a:p>
          <a:p>
            <a:pPr marL="703580">
              <a:lnSpc>
                <a:spcPct val="100000"/>
              </a:lnSpc>
              <a:spcBef>
                <a:spcPts val="585"/>
              </a:spcBef>
            </a:pPr>
            <a:r>
              <a:rPr sz="3200" spc="105" dirty="0">
                <a:solidFill>
                  <a:srgbClr val="041C40"/>
                </a:solidFill>
                <a:latin typeface="Times New Roman"/>
                <a:cs typeface="Times New Roman"/>
              </a:rPr>
              <a:t>Most</a:t>
            </a:r>
            <a:r>
              <a:rPr sz="3200" spc="-8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41C40"/>
                </a:solidFill>
                <a:latin typeface="Times New Roman"/>
                <a:cs typeface="Times New Roman"/>
              </a:rPr>
              <a:t>clients</a:t>
            </a:r>
            <a:r>
              <a:rPr sz="3200" spc="-8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applied</a:t>
            </a:r>
            <a:r>
              <a:rPr sz="3200" spc="-8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41C40"/>
                </a:solidFill>
                <a:latin typeface="Times New Roman"/>
                <a:cs typeface="Times New Roman"/>
              </a:rPr>
              <a:t>in</a:t>
            </a:r>
            <a:r>
              <a:rPr sz="3200" spc="-8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041C40"/>
                </a:solidFill>
                <a:latin typeface="Times New Roman"/>
                <a:cs typeface="Times New Roman"/>
              </a:rPr>
              <a:t>2018</a:t>
            </a:r>
            <a:r>
              <a:rPr sz="3200" spc="-80" dirty="0">
                <a:solidFill>
                  <a:srgbClr val="041C4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41C40"/>
                </a:solidFill>
                <a:latin typeface="Times New Roman"/>
                <a:cs typeface="Times New Roman"/>
              </a:rPr>
              <a:t>(26K).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2556459" y="1459125"/>
            <a:ext cx="5506085" cy="7854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950" spc="50" dirty="0">
                <a:solidFill>
                  <a:srgbClr val="041C40"/>
                </a:solidFill>
              </a:rPr>
              <a:t>KPIS</a:t>
            </a:r>
            <a:r>
              <a:rPr sz="4950" spc="10" dirty="0">
                <a:solidFill>
                  <a:srgbClr val="041C40"/>
                </a:solidFill>
              </a:rPr>
              <a:t> </a:t>
            </a:r>
            <a:r>
              <a:rPr sz="4950" spc="-290" dirty="0">
                <a:solidFill>
                  <a:srgbClr val="041C40"/>
                </a:solidFill>
              </a:rPr>
              <a:t>&amp;</a:t>
            </a:r>
            <a:r>
              <a:rPr sz="4950" spc="15" dirty="0">
                <a:solidFill>
                  <a:srgbClr val="041C40"/>
                </a:solidFill>
              </a:rPr>
              <a:t> </a:t>
            </a:r>
            <a:r>
              <a:rPr sz="4950" spc="95" dirty="0">
                <a:solidFill>
                  <a:srgbClr val="041C40"/>
                </a:solidFill>
              </a:rPr>
              <a:t>INSIGHTS</a:t>
            </a:r>
            <a:endParaRPr sz="4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2658" y="6428799"/>
            <a:ext cx="7154545" cy="200660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322580" indent="-309880">
              <a:lnSpc>
                <a:spcPct val="100000"/>
              </a:lnSpc>
              <a:spcBef>
                <a:spcPts val="635"/>
              </a:spcBef>
              <a:buFont typeface="Times New Roman"/>
              <a:buAutoNum type="arabicPeriod"/>
              <a:tabLst>
                <a:tab pos="322580" algn="l"/>
                <a:tab pos="2556510" algn="l"/>
                <a:tab pos="4041775" algn="l"/>
                <a:tab pos="620903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Dashboard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20" dirty="0">
                <a:latin typeface="Times New Roman"/>
                <a:cs typeface="Times New Roman"/>
              </a:rPr>
              <a:t>shows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700" b="1" spc="-10" dirty="0">
                <a:latin typeface="Arial"/>
                <a:cs typeface="Arial"/>
              </a:rPr>
              <a:t>₹</a:t>
            </a:r>
            <a:r>
              <a:rPr sz="2800" b="1" spc="-10" dirty="0">
                <a:latin typeface="Times New Roman"/>
                <a:cs typeface="Times New Roman"/>
              </a:rPr>
              <a:t>127.60M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50" dirty="0">
                <a:latin typeface="Times New Roman"/>
                <a:cs typeface="Times New Roman"/>
              </a:rPr>
              <a:t>credit,</a:t>
            </a:r>
            <a:endParaRPr sz="2800">
              <a:latin typeface="Times New Roman"/>
              <a:cs typeface="Times New Roman"/>
            </a:endParaRPr>
          </a:p>
          <a:p>
            <a:pPr marL="323215">
              <a:lnSpc>
                <a:spcPct val="100000"/>
              </a:lnSpc>
              <a:spcBef>
                <a:spcPts val="540"/>
              </a:spcBef>
            </a:pPr>
            <a:r>
              <a:rPr sz="2700" b="1" dirty="0">
                <a:latin typeface="Arial"/>
                <a:cs typeface="Arial"/>
              </a:rPr>
              <a:t>₹</a:t>
            </a:r>
            <a:r>
              <a:rPr sz="2800" b="1" dirty="0">
                <a:latin typeface="Times New Roman"/>
                <a:cs typeface="Times New Roman"/>
              </a:rPr>
              <a:t>127.29M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35" dirty="0">
                <a:latin typeface="Times New Roman"/>
                <a:cs typeface="Times New Roman"/>
              </a:rPr>
              <a:t>debit,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95" dirty="0">
                <a:latin typeface="Times New Roman"/>
                <a:cs typeface="Times New Roman"/>
              </a:rPr>
              <a:t>and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100K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customers.</a:t>
            </a:r>
            <a:endParaRPr sz="2800">
              <a:latin typeface="Times New Roman"/>
              <a:cs typeface="Times New Roman"/>
            </a:endParaRPr>
          </a:p>
          <a:p>
            <a:pPr marL="321945" marR="5080" indent="-309880">
              <a:lnSpc>
                <a:spcPct val="116100"/>
              </a:lnSpc>
              <a:buFont typeface="Times New Roman"/>
              <a:buAutoNum type="arabicPeriod" startAt="2"/>
              <a:tabLst>
                <a:tab pos="323215" algn="l"/>
                <a:tab pos="1316990" algn="l"/>
                <a:tab pos="2562860" algn="l"/>
                <a:tab pos="3496945" algn="l"/>
                <a:tab pos="4316095" algn="l"/>
                <a:tab pos="5570220" algn="l"/>
              </a:tabLst>
            </a:pPr>
            <a:r>
              <a:rPr sz="2800" b="1" spc="-20" dirty="0">
                <a:latin typeface="Times New Roman"/>
                <a:cs typeface="Times New Roman"/>
              </a:rPr>
              <a:t>Main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10" dirty="0">
                <a:latin typeface="Times New Roman"/>
                <a:cs typeface="Times New Roman"/>
              </a:rPr>
              <a:t>Branch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20" dirty="0">
                <a:latin typeface="Times New Roman"/>
                <a:cs typeface="Times New Roman"/>
              </a:rPr>
              <a:t>leads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20" dirty="0">
                <a:latin typeface="Times New Roman"/>
                <a:cs typeface="Times New Roman"/>
              </a:rPr>
              <a:t>with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10" dirty="0">
                <a:latin typeface="Times New Roman"/>
                <a:cs typeface="Times New Roman"/>
              </a:rPr>
              <a:t>16.78K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80" dirty="0">
                <a:latin typeface="Times New Roman"/>
                <a:cs typeface="Times New Roman"/>
              </a:rPr>
              <a:t>customers; 	</a:t>
            </a:r>
            <a:r>
              <a:rPr sz="2800" b="1" dirty="0">
                <a:latin typeface="Times New Roman"/>
                <a:cs typeface="Times New Roman"/>
              </a:rPr>
              <a:t>Dec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65" dirty="0">
                <a:latin typeface="Times New Roman"/>
                <a:cs typeface="Times New Roman"/>
              </a:rPr>
              <a:t>shows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95" dirty="0">
                <a:latin typeface="Times New Roman"/>
                <a:cs typeface="Times New Roman"/>
              </a:rPr>
              <a:t>sharp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spc="-40" dirty="0">
                <a:latin typeface="Times New Roman"/>
                <a:cs typeface="Times New Roman"/>
              </a:rPr>
              <a:t>balance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drop.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527402" y="5636636"/>
            <a:ext cx="12237085" cy="4445000"/>
            <a:chOff x="5527402" y="5636636"/>
            <a:chExt cx="12237085" cy="4445000"/>
          </a:xfrm>
        </p:grpSpPr>
        <p:sp>
          <p:nvSpPr>
            <p:cNvPr id="4" name="object 4"/>
            <p:cNvSpPr/>
            <p:nvPr/>
          </p:nvSpPr>
          <p:spPr>
            <a:xfrm>
              <a:off x="5527402" y="8444620"/>
              <a:ext cx="3196590" cy="1238250"/>
            </a:xfrm>
            <a:custGeom>
              <a:avLst/>
              <a:gdLst/>
              <a:ahLst/>
              <a:cxnLst/>
              <a:rect l="l" t="t" r="r" b="b"/>
              <a:pathLst>
                <a:path w="3196590" h="1238250">
                  <a:moveTo>
                    <a:pt x="3187394" y="609863"/>
                  </a:moveTo>
                  <a:lnTo>
                    <a:pt x="3194781" y="612599"/>
                  </a:lnTo>
                  <a:lnTo>
                    <a:pt x="3195977" y="618459"/>
                  </a:lnTo>
                  <a:lnTo>
                    <a:pt x="3195046" y="623531"/>
                  </a:lnTo>
                  <a:lnTo>
                    <a:pt x="3170597" y="657814"/>
                  </a:lnTo>
                  <a:lnTo>
                    <a:pt x="3161323" y="667923"/>
                  </a:lnTo>
                  <a:lnTo>
                    <a:pt x="3134273" y="698535"/>
                  </a:lnTo>
                  <a:lnTo>
                    <a:pt x="3106809" y="728993"/>
                  </a:lnTo>
                  <a:lnTo>
                    <a:pt x="3079576" y="758182"/>
                  </a:lnTo>
                  <a:lnTo>
                    <a:pt x="3052780" y="786179"/>
                  </a:lnTo>
                  <a:lnTo>
                    <a:pt x="3015377" y="823792"/>
                  </a:lnTo>
                  <a:lnTo>
                    <a:pt x="2977915" y="860027"/>
                  </a:lnTo>
                  <a:lnTo>
                    <a:pt x="2940183" y="894809"/>
                  </a:lnTo>
                  <a:lnTo>
                    <a:pt x="2901973" y="928059"/>
                  </a:lnTo>
                  <a:lnTo>
                    <a:pt x="2862055" y="960677"/>
                  </a:lnTo>
                  <a:lnTo>
                    <a:pt x="2821275" y="991622"/>
                  </a:lnTo>
                  <a:lnTo>
                    <a:pt x="2780144" y="1019728"/>
                  </a:lnTo>
                  <a:lnTo>
                    <a:pt x="2737850" y="1047403"/>
                  </a:lnTo>
                  <a:lnTo>
                    <a:pt x="2695344" y="1072291"/>
                  </a:lnTo>
                  <a:lnTo>
                    <a:pt x="2652254" y="1095608"/>
                  </a:lnTo>
                  <a:lnTo>
                    <a:pt x="2608650" y="1117382"/>
                  </a:lnTo>
                  <a:lnTo>
                    <a:pt x="2565043" y="1136445"/>
                  </a:lnTo>
                  <a:lnTo>
                    <a:pt x="2519416" y="1154760"/>
                  </a:lnTo>
                  <a:lnTo>
                    <a:pt x="2473095" y="1170110"/>
                  </a:lnTo>
                  <a:lnTo>
                    <a:pt x="2425379" y="1184943"/>
                  </a:lnTo>
                  <a:lnTo>
                    <a:pt x="2376893" y="1198137"/>
                  </a:lnTo>
                  <a:lnTo>
                    <a:pt x="2328418" y="1208626"/>
                  </a:lnTo>
                  <a:lnTo>
                    <a:pt x="2278618" y="1218625"/>
                  </a:lnTo>
                  <a:lnTo>
                    <a:pt x="2227895" y="1226927"/>
                  </a:lnTo>
                  <a:lnTo>
                    <a:pt x="2176649" y="1232328"/>
                  </a:lnTo>
                  <a:lnTo>
                    <a:pt x="2124399" y="1236002"/>
                  </a:lnTo>
                  <a:lnTo>
                    <a:pt x="2071105" y="1237935"/>
                  </a:lnTo>
                  <a:lnTo>
                    <a:pt x="2017167" y="1236922"/>
                  </a:lnTo>
                  <a:lnTo>
                    <a:pt x="1961664" y="1235328"/>
                  </a:lnTo>
                  <a:lnTo>
                    <a:pt x="1876091" y="1225309"/>
                  </a:lnTo>
                  <a:lnTo>
                    <a:pt x="1786607" y="1205715"/>
                  </a:lnTo>
                  <a:lnTo>
                    <a:pt x="1724458" y="1186764"/>
                  </a:lnTo>
                  <a:lnTo>
                    <a:pt x="1669161" y="1166287"/>
                  </a:lnTo>
                  <a:lnTo>
                    <a:pt x="1616597" y="1142759"/>
                  </a:lnTo>
                  <a:lnTo>
                    <a:pt x="1568973" y="1115644"/>
                  </a:lnTo>
                  <a:lnTo>
                    <a:pt x="1527176" y="1087978"/>
                  </a:lnTo>
                  <a:lnTo>
                    <a:pt x="1501241" y="1067540"/>
                  </a:lnTo>
                  <a:lnTo>
                    <a:pt x="1735075" y="1154130"/>
                  </a:lnTo>
                  <a:lnTo>
                    <a:pt x="1778781" y="1167606"/>
                  </a:lnTo>
                  <a:lnTo>
                    <a:pt x="1821466" y="1177995"/>
                  </a:lnTo>
                  <a:lnTo>
                    <a:pt x="1863293" y="1186712"/>
                  </a:lnTo>
                  <a:lnTo>
                    <a:pt x="1904418" y="1192461"/>
                  </a:lnTo>
                  <a:lnTo>
                    <a:pt x="1943674" y="1197518"/>
                  </a:lnTo>
                  <a:lnTo>
                    <a:pt x="1995978" y="1201990"/>
                  </a:lnTo>
                  <a:lnTo>
                    <a:pt x="2047103" y="1203316"/>
                  </a:lnTo>
                  <a:lnTo>
                    <a:pt x="2096913" y="1202801"/>
                  </a:lnTo>
                  <a:lnTo>
                    <a:pt x="2145716" y="1200559"/>
                  </a:lnTo>
                  <a:lnTo>
                    <a:pt x="2194259" y="1195512"/>
                  </a:lnTo>
                  <a:lnTo>
                    <a:pt x="2242408" y="1188965"/>
                  </a:lnTo>
                  <a:lnTo>
                    <a:pt x="2293268" y="1180713"/>
                  </a:lnTo>
                  <a:lnTo>
                    <a:pt x="2343245" y="1170780"/>
                  </a:lnTo>
                  <a:lnTo>
                    <a:pt x="2392778" y="1157974"/>
                  </a:lnTo>
                  <a:lnTo>
                    <a:pt x="2440982" y="1144676"/>
                  </a:lnTo>
                  <a:lnTo>
                    <a:pt x="2488738" y="1128503"/>
                  </a:lnTo>
                  <a:lnTo>
                    <a:pt x="2535601" y="1110645"/>
                  </a:lnTo>
                  <a:lnTo>
                    <a:pt x="2581568" y="1091102"/>
                  </a:lnTo>
                  <a:lnTo>
                    <a:pt x="2627079" y="1068681"/>
                  </a:lnTo>
                  <a:lnTo>
                    <a:pt x="2671249" y="1045763"/>
                  </a:lnTo>
                  <a:lnTo>
                    <a:pt x="2714956" y="1019965"/>
                  </a:lnTo>
                  <a:lnTo>
                    <a:pt x="2757758" y="992478"/>
                  </a:lnTo>
                  <a:lnTo>
                    <a:pt x="2800866" y="962396"/>
                  </a:lnTo>
                  <a:lnTo>
                    <a:pt x="2843015" y="930604"/>
                  </a:lnTo>
                  <a:lnTo>
                    <a:pt x="2884358" y="897159"/>
                  </a:lnTo>
                  <a:lnTo>
                    <a:pt x="2924606" y="863310"/>
                  </a:lnTo>
                  <a:lnTo>
                    <a:pt x="2964796" y="826730"/>
                  </a:lnTo>
                  <a:lnTo>
                    <a:pt x="3004639" y="788667"/>
                  </a:lnTo>
                  <a:lnTo>
                    <a:pt x="3043847" y="750369"/>
                  </a:lnTo>
                  <a:lnTo>
                    <a:pt x="3083015" y="710702"/>
                  </a:lnTo>
                  <a:lnTo>
                    <a:pt x="3101670" y="691879"/>
                  </a:lnTo>
                  <a:lnTo>
                    <a:pt x="3120609" y="671806"/>
                  </a:lnTo>
                  <a:lnTo>
                    <a:pt x="3139841" y="650488"/>
                  </a:lnTo>
                  <a:lnTo>
                    <a:pt x="3158933" y="629118"/>
                  </a:lnTo>
                  <a:lnTo>
                    <a:pt x="3164656" y="621757"/>
                  </a:lnTo>
                  <a:lnTo>
                    <a:pt x="3171069" y="614652"/>
                  </a:lnTo>
                  <a:lnTo>
                    <a:pt x="3178750" y="609371"/>
                  </a:lnTo>
                  <a:lnTo>
                    <a:pt x="3187394" y="609863"/>
                  </a:lnTo>
                  <a:close/>
                </a:path>
                <a:path w="3196590" h="1238250">
                  <a:moveTo>
                    <a:pt x="1688715" y="7494"/>
                  </a:moveTo>
                  <a:lnTo>
                    <a:pt x="1748934" y="36565"/>
                  </a:lnTo>
                  <a:lnTo>
                    <a:pt x="1788118" y="79514"/>
                  </a:lnTo>
                  <a:lnTo>
                    <a:pt x="1807956" y="130197"/>
                  </a:lnTo>
                  <a:lnTo>
                    <a:pt x="1812340" y="188701"/>
                  </a:lnTo>
                  <a:lnTo>
                    <a:pt x="1808320" y="221069"/>
                  </a:lnTo>
                  <a:lnTo>
                    <a:pt x="1787233" y="289100"/>
                  </a:lnTo>
                  <a:lnTo>
                    <a:pt x="1754608" y="350150"/>
                  </a:lnTo>
                  <a:lnTo>
                    <a:pt x="1717502" y="401414"/>
                  </a:lnTo>
                  <a:lnTo>
                    <a:pt x="1676834" y="445943"/>
                  </a:lnTo>
                  <a:lnTo>
                    <a:pt x="1634884" y="484580"/>
                  </a:lnTo>
                  <a:lnTo>
                    <a:pt x="1590154" y="518125"/>
                  </a:lnTo>
                  <a:lnTo>
                    <a:pt x="1526957" y="558373"/>
                  </a:lnTo>
                  <a:lnTo>
                    <a:pt x="1485597" y="579623"/>
                  </a:lnTo>
                  <a:lnTo>
                    <a:pt x="1442707" y="598952"/>
                  </a:lnTo>
                  <a:lnTo>
                    <a:pt x="1398917" y="615239"/>
                  </a:lnTo>
                  <a:lnTo>
                    <a:pt x="1353976" y="629745"/>
                  </a:lnTo>
                  <a:lnTo>
                    <a:pt x="1308074" y="642542"/>
                  </a:lnTo>
                  <a:lnTo>
                    <a:pt x="1261401" y="653699"/>
                  </a:lnTo>
                  <a:lnTo>
                    <a:pt x="1262943" y="662395"/>
                  </a:lnTo>
                  <a:lnTo>
                    <a:pt x="1265610" y="670154"/>
                  </a:lnTo>
                  <a:lnTo>
                    <a:pt x="1268603" y="678034"/>
                  </a:lnTo>
                  <a:lnTo>
                    <a:pt x="1271127" y="687094"/>
                  </a:lnTo>
                  <a:lnTo>
                    <a:pt x="1288240" y="731351"/>
                  </a:lnTo>
                  <a:lnTo>
                    <a:pt x="1308070" y="775260"/>
                  </a:lnTo>
                  <a:lnTo>
                    <a:pt x="1330999" y="817608"/>
                  </a:lnTo>
                  <a:lnTo>
                    <a:pt x="1356530" y="859564"/>
                  </a:lnTo>
                  <a:lnTo>
                    <a:pt x="1385043" y="899917"/>
                  </a:lnTo>
                  <a:lnTo>
                    <a:pt x="1414791" y="936664"/>
                  </a:lnTo>
                  <a:lnTo>
                    <a:pt x="1447343" y="971741"/>
                  </a:lnTo>
                  <a:lnTo>
                    <a:pt x="1482508" y="1006431"/>
                  </a:lnTo>
                  <a:lnTo>
                    <a:pt x="1521419" y="1038446"/>
                  </a:lnTo>
                  <a:lnTo>
                    <a:pt x="1563445" y="1070260"/>
                  </a:lnTo>
                  <a:lnTo>
                    <a:pt x="1610159" y="1098393"/>
                  </a:lnTo>
                  <a:lnTo>
                    <a:pt x="1650061" y="1119940"/>
                  </a:lnTo>
                  <a:lnTo>
                    <a:pt x="1692008" y="1138182"/>
                  </a:lnTo>
                  <a:lnTo>
                    <a:pt x="1501241" y="1067540"/>
                  </a:lnTo>
                  <a:lnTo>
                    <a:pt x="1452602" y="1026505"/>
                  </a:lnTo>
                  <a:lnTo>
                    <a:pt x="1420249" y="994211"/>
                  </a:lnTo>
                  <a:lnTo>
                    <a:pt x="1390422" y="961497"/>
                  </a:lnTo>
                  <a:lnTo>
                    <a:pt x="1357694" y="922292"/>
                  </a:lnTo>
                  <a:lnTo>
                    <a:pt x="1328782" y="880438"/>
                  </a:lnTo>
                  <a:lnTo>
                    <a:pt x="1302231" y="839457"/>
                  </a:lnTo>
                  <a:lnTo>
                    <a:pt x="1279227" y="795727"/>
                  </a:lnTo>
                  <a:lnTo>
                    <a:pt x="1258755" y="751581"/>
                  </a:lnTo>
                  <a:lnTo>
                    <a:pt x="1240680" y="706968"/>
                  </a:lnTo>
                  <a:lnTo>
                    <a:pt x="1225749" y="659456"/>
                  </a:lnTo>
                  <a:lnTo>
                    <a:pt x="1155665" y="633504"/>
                  </a:lnTo>
                  <a:lnTo>
                    <a:pt x="1167515" y="632475"/>
                  </a:lnTo>
                  <a:lnTo>
                    <a:pt x="1216695" y="626309"/>
                  </a:lnTo>
                  <a:lnTo>
                    <a:pt x="1213130" y="604675"/>
                  </a:lnTo>
                  <a:lnTo>
                    <a:pt x="1252788" y="619361"/>
                  </a:lnTo>
                  <a:lnTo>
                    <a:pt x="1266114" y="616170"/>
                  </a:lnTo>
                  <a:lnTo>
                    <a:pt x="1278991" y="614167"/>
                  </a:lnTo>
                  <a:lnTo>
                    <a:pt x="1292184" y="610927"/>
                  </a:lnTo>
                  <a:lnTo>
                    <a:pt x="1353225" y="594256"/>
                  </a:lnTo>
                  <a:lnTo>
                    <a:pt x="1400659" y="577964"/>
                  </a:lnTo>
                  <a:lnTo>
                    <a:pt x="1447184" y="558627"/>
                  </a:lnTo>
                  <a:lnTo>
                    <a:pt x="1492102" y="537341"/>
                  </a:lnTo>
                  <a:lnTo>
                    <a:pt x="1536042" y="511629"/>
                  </a:lnTo>
                  <a:lnTo>
                    <a:pt x="1577866" y="483780"/>
                  </a:lnTo>
                  <a:lnTo>
                    <a:pt x="1617759" y="452507"/>
                  </a:lnTo>
                  <a:lnTo>
                    <a:pt x="1648346" y="424560"/>
                  </a:lnTo>
                  <a:lnTo>
                    <a:pt x="1678466" y="393731"/>
                  </a:lnTo>
                  <a:lnTo>
                    <a:pt x="1707309" y="358366"/>
                  </a:lnTo>
                  <a:lnTo>
                    <a:pt x="1733619" y="318000"/>
                  </a:lnTo>
                  <a:lnTo>
                    <a:pt x="1755704" y="273362"/>
                  </a:lnTo>
                  <a:lnTo>
                    <a:pt x="1764215" y="249428"/>
                  </a:lnTo>
                  <a:lnTo>
                    <a:pt x="1767194" y="241051"/>
                  </a:lnTo>
                  <a:lnTo>
                    <a:pt x="1774040" y="211083"/>
                  </a:lnTo>
                  <a:lnTo>
                    <a:pt x="1777331" y="181154"/>
                  </a:lnTo>
                  <a:lnTo>
                    <a:pt x="1776394" y="153721"/>
                  </a:lnTo>
                  <a:lnTo>
                    <a:pt x="1762690" y="105310"/>
                  </a:lnTo>
                  <a:lnTo>
                    <a:pt x="1728987" y="65743"/>
                  </a:lnTo>
                  <a:lnTo>
                    <a:pt x="1579627" y="3663"/>
                  </a:lnTo>
                  <a:lnTo>
                    <a:pt x="1595135" y="1280"/>
                  </a:lnTo>
                  <a:lnTo>
                    <a:pt x="1624591" y="0"/>
                  </a:lnTo>
                  <a:lnTo>
                    <a:pt x="1656695" y="1054"/>
                  </a:lnTo>
                  <a:lnTo>
                    <a:pt x="1688715" y="7494"/>
                  </a:lnTo>
                  <a:close/>
                </a:path>
                <a:path w="3196590" h="1238250">
                  <a:moveTo>
                    <a:pt x="1155665" y="633504"/>
                  </a:moveTo>
                  <a:lnTo>
                    <a:pt x="1225749" y="659456"/>
                  </a:lnTo>
                  <a:lnTo>
                    <a:pt x="1178651" y="666392"/>
                  </a:lnTo>
                  <a:lnTo>
                    <a:pt x="1131338" y="670541"/>
                  </a:lnTo>
                  <a:lnTo>
                    <a:pt x="1082844" y="674252"/>
                  </a:lnTo>
                  <a:lnTo>
                    <a:pt x="1033966" y="675112"/>
                  </a:lnTo>
                  <a:lnTo>
                    <a:pt x="983736" y="675471"/>
                  </a:lnTo>
                  <a:lnTo>
                    <a:pt x="932951" y="672916"/>
                  </a:lnTo>
                  <a:lnTo>
                    <a:pt x="881084" y="668607"/>
                  </a:lnTo>
                  <a:lnTo>
                    <a:pt x="828051" y="662511"/>
                  </a:lnTo>
                  <a:lnTo>
                    <a:pt x="774207" y="653407"/>
                  </a:lnTo>
                  <a:lnTo>
                    <a:pt x="719466" y="641261"/>
                  </a:lnTo>
                  <a:lnTo>
                    <a:pt x="663303" y="627235"/>
                  </a:lnTo>
                  <a:lnTo>
                    <a:pt x="618025" y="614532"/>
                  </a:lnTo>
                  <a:lnTo>
                    <a:pt x="572550" y="599046"/>
                  </a:lnTo>
                  <a:lnTo>
                    <a:pt x="527168" y="582241"/>
                  </a:lnTo>
                  <a:lnTo>
                    <a:pt x="482612" y="564387"/>
                  </a:lnTo>
                  <a:lnTo>
                    <a:pt x="440056" y="544565"/>
                  </a:lnTo>
                  <a:lnTo>
                    <a:pt x="400230" y="523046"/>
                  </a:lnTo>
                  <a:lnTo>
                    <a:pt x="350739" y="493885"/>
                  </a:lnTo>
                  <a:lnTo>
                    <a:pt x="304625" y="463266"/>
                  </a:lnTo>
                  <a:lnTo>
                    <a:pt x="550183" y="554198"/>
                  </a:lnTo>
                  <a:lnTo>
                    <a:pt x="603098" y="572438"/>
                  </a:lnTo>
                  <a:lnTo>
                    <a:pt x="655068" y="588974"/>
                  </a:lnTo>
                  <a:lnTo>
                    <a:pt x="706516" y="602609"/>
                  </a:lnTo>
                  <a:lnTo>
                    <a:pt x="756986" y="614527"/>
                  </a:lnTo>
                  <a:lnTo>
                    <a:pt x="806904" y="623532"/>
                  </a:lnTo>
                  <a:lnTo>
                    <a:pt x="855811" y="630808"/>
                  </a:lnTo>
                  <a:lnTo>
                    <a:pt x="904135" y="635160"/>
                  </a:lnTo>
                  <a:lnTo>
                    <a:pt x="958879" y="639181"/>
                  </a:lnTo>
                  <a:lnTo>
                    <a:pt x="1012845" y="640205"/>
                  </a:lnTo>
                  <a:lnTo>
                    <a:pt x="1065599" y="639426"/>
                  </a:lnTo>
                  <a:lnTo>
                    <a:pt x="1117153" y="636848"/>
                  </a:lnTo>
                  <a:lnTo>
                    <a:pt x="1155665" y="633504"/>
                  </a:lnTo>
                  <a:close/>
                </a:path>
                <a:path w="3196590" h="1238250">
                  <a:moveTo>
                    <a:pt x="9495" y="119688"/>
                  </a:moveTo>
                  <a:lnTo>
                    <a:pt x="67775" y="141269"/>
                  </a:lnTo>
                  <a:lnTo>
                    <a:pt x="66469" y="144848"/>
                  </a:lnTo>
                  <a:lnTo>
                    <a:pt x="69987" y="146151"/>
                  </a:lnTo>
                  <a:lnTo>
                    <a:pt x="108095" y="206308"/>
                  </a:lnTo>
                  <a:lnTo>
                    <a:pt x="148768" y="261998"/>
                  </a:lnTo>
                  <a:lnTo>
                    <a:pt x="176848" y="296773"/>
                  </a:lnTo>
                  <a:lnTo>
                    <a:pt x="206913" y="330929"/>
                  </a:lnTo>
                  <a:lnTo>
                    <a:pt x="239558" y="363332"/>
                  </a:lnTo>
                  <a:lnTo>
                    <a:pt x="274497" y="395230"/>
                  </a:lnTo>
                  <a:lnTo>
                    <a:pt x="312765" y="424298"/>
                  </a:lnTo>
                  <a:lnTo>
                    <a:pt x="353635" y="452975"/>
                  </a:lnTo>
                  <a:lnTo>
                    <a:pt x="397702" y="480128"/>
                  </a:lnTo>
                  <a:lnTo>
                    <a:pt x="444678" y="507003"/>
                  </a:lnTo>
                  <a:lnTo>
                    <a:pt x="495601" y="531277"/>
                  </a:lnTo>
                  <a:lnTo>
                    <a:pt x="550183" y="554198"/>
                  </a:lnTo>
                  <a:lnTo>
                    <a:pt x="304625" y="463266"/>
                  </a:lnTo>
                  <a:lnTo>
                    <a:pt x="262227" y="429960"/>
                  </a:lnTo>
                  <a:lnTo>
                    <a:pt x="222560" y="396312"/>
                  </a:lnTo>
                  <a:lnTo>
                    <a:pt x="186406" y="359901"/>
                  </a:lnTo>
                  <a:lnTo>
                    <a:pt x="152781" y="323072"/>
                  </a:lnTo>
                  <a:lnTo>
                    <a:pt x="121582" y="285788"/>
                  </a:lnTo>
                  <a:lnTo>
                    <a:pt x="93148" y="246819"/>
                  </a:lnTo>
                  <a:lnTo>
                    <a:pt x="66938" y="207319"/>
                  </a:lnTo>
                  <a:lnTo>
                    <a:pt x="31652" y="194252"/>
                  </a:lnTo>
                  <a:lnTo>
                    <a:pt x="24033" y="164345"/>
                  </a:lnTo>
                  <a:lnTo>
                    <a:pt x="9495" y="119688"/>
                  </a:lnTo>
                  <a:close/>
                </a:path>
                <a:path w="3196590" h="1238250">
                  <a:moveTo>
                    <a:pt x="31652" y="194252"/>
                  </a:moveTo>
                  <a:lnTo>
                    <a:pt x="66938" y="207319"/>
                  </a:lnTo>
                  <a:lnTo>
                    <a:pt x="67664" y="215713"/>
                  </a:lnTo>
                  <a:lnTo>
                    <a:pt x="69472" y="223154"/>
                  </a:lnTo>
                  <a:lnTo>
                    <a:pt x="73754" y="238283"/>
                  </a:lnTo>
                  <a:lnTo>
                    <a:pt x="77397" y="254529"/>
                  </a:lnTo>
                  <a:lnTo>
                    <a:pt x="81476" y="269582"/>
                  </a:lnTo>
                  <a:lnTo>
                    <a:pt x="84996" y="285783"/>
                  </a:lnTo>
                  <a:lnTo>
                    <a:pt x="88286" y="301898"/>
                  </a:lnTo>
                  <a:lnTo>
                    <a:pt x="88843" y="311584"/>
                  </a:lnTo>
                  <a:lnTo>
                    <a:pt x="87852" y="320697"/>
                  </a:lnTo>
                  <a:lnTo>
                    <a:pt x="83320" y="328499"/>
                  </a:lnTo>
                  <a:lnTo>
                    <a:pt x="75020" y="329488"/>
                  </a:lnTo>
                  <a:lnTo>
                    <a:pt x="66911" y="326486"/>
                  </a:lnTo>
                  <a:lnTo>
                    <a:pt x="62192" y="319321"/>
                  </a:lnTo>
                  <a:lnTo>
                    <a:pt x="59347" y="311496"/>
                  </a:lnTo>
                  <a:lnTo>
                    <a:pt x="46871" y="256768"/>
                  </a:lnTo>
                  <a:lnTo>
                    <a:pt x="35842" y="210701"/>
                  </a:lnTo>
                  <a:lnTo>
                    <a:pt x="31652" y="194252"/>
                  </a:lnTo>
                  <a:close/>
                </a:path>
                <a:path w="3196590" h="1238250">
                  <a:moveTo>
                    <a:pt x="1579627" y="3663"/>
                  </a:moveTo>
                  <a:lnTo>
                    <a:pt x="1701869" y="48930"/>
                  </a:lnTo>
                  <a:lnTo>
                    <a:pt x="1671699" y="40467"/>
                  </a:lnTo>
                  <a:lnTo>
                    <a:pt x="1641709" y="36133"/>
                  </a:lnTo>
                  <a:lnTo>
                    <a:pt x="1587388" y="37686"/>
                  </a:lnTo>
                  <a:lnTo>
                    <a:pt x="1537773" y="49107"/>
                  </a:lnTo>
                  <a:lnTo>
                    <a:pt x="1491247" y="67090"/>
                  </a:lnTo>
                  <a:lnTo>
                    <a:pt x="1447075" y="91361"/>
                  </a:lnTo>
                  <a:lnTo>
                    <a:pt x="1386217" y="137893"/>
                  </a:lnTo>
                  <a:lnTo>
                    <a:pt x="1348884" y="176885"/>
                  </a:lnTo>
                  <a:lnTo>
                    <a:pt x="1314960" y="222557"/>
                  </a:lnTo>
                  <a:lnTo>
                    <a:pt x="1284595" y="276318"/>
                  </a:lnTo>
                  <a:lnTo>
                    <a:pt x="1266129" y="320942"/>
                  </a:lnTo>
                  <a:lnTo>
                    <a:pt x="1263141" y="329316"/>
                  </a:lnTo>
                  <a:lnTo>
                    <a:pt x="1251496" y="368340"/>
                  </a:lnTo>
                  <a:lnTo>
                    <a:pt x="1237682" y="459379"/>
                  </a:lnTo>
                  <a:lnTo>
                    <a:pt x="1237648" y="514892"/>
                  </a:lnTo>
                  <a:lnTo>
                    <a:pt x="1242675" y="568216"/>
                  </a:lnTo>
                  <a:lnTo>
                    <a:pt x="1251449" y="618865"/>
                  </a:lnTo>
                  <a:lnTo>
                    <a:pt x="1213130" y="604675"/>
                  </a:lnTo>
                  <a:lnTo>
                    <a:pt x="1209327" y="581598"/>
                  </a:lnTo>
                  <a:lnTo>
                    <a:pt x="1203862" y="536238"/>
                  </a:lnTo>
                  <a:lnTo>
                    <a:pt x="1201999" y="488148"/>
                  </a:lnTo>
                  <a:lnTo>
                    <a:pt x="1204118" y="438824"/>
                  </a:lnTo>
                  <a:lnTo>
                    <a:pt x="1211478" y="387379"/>
                  </a:lnTo>
                  <a:lnTo>
                    <a:pt x="1230091" y="317077"/>
                  </a:lnTo>
                  <a:lnTo>
                    <a:pt x="1257735" y="250120"/>
                  </a:lnTo>
                  <a:lnTo>
                    <a:pt x="1292154" y="192443"/>
                  </a:lnTo>
                  <a:lnTo>
                    <a:pt x="1329985" y="145510"/>
                  </a:lnTo>
                  <a:lnTo>
                    <a:pt x="1371710" y="104081"/>
                  </a:lnTo>
                  <a:lnTo>
                    <a:pt x="1415879" y="70329"/>
                  </a:lnTo>
                  <a:lnTo>
                    <a:pt x="1463513" y="41922"/>
                  </a:lnTo>
                  <a:lnTo>
                    <a:pt x="1513865" y="21294"/>
                  </a:lnTo>
                  <a:lnTo>
                    <a:pt x="1566704" y="5649"/>
                  </a:lnTo>
                  <a:lnTo>
                    <a:pt x="1579627" y="3663"/>
                  </a:lnTo>
                  <a:close/>
                </a:path>
                <a:path w="3196590" h="1238250">
                  <a:moveTo>
                    <a:pt x="19559" y="71952"/>
                  </a:moveTo>
                  <a:lnTo>
                    <a:pt x="25664" y="74213"/>
                  </a:lnTo>
                  <a:lnTo>
                    <a:pt x="37389" y="81263"/>
                  </a:lnTo>
                  <a:lnTo>
                    <a:pt x="42579" y="85894"/>
                  </a:lnTo>
                  <a:lnTo>
                    <a:pt x="58097" y="98411"/>
                  </a:lnTo>
                  <a:lnTo>
                    <a:pt x="73146" y="109401"/>
                  </a:lnTo>
                  <a:lnTo>
                    <a:pt x="88848" y="120633"/>
                  </a:lnTo>
                  <a:lnTo>
                    <a:pt x="106319" y="133874"/>
                  </a:lnTo>
                  <a:lnTo>
                    <a:pt x="116266" y="140266"/>
                  </a:lnTo>
                  <a:lnTo>
                    <a:pt x="150815" y="163894"/>
                  </a:lnTo>
                  <a:lnTo>
                    <a:pt x="159638" y="171224"/>
                  </a:lnTo>
                  <a:lnTo>
                    <a:pt x="171472" y="179669"/>
                  </a:lnTo>
                  <a:lnTo>
                    <a:pt x="179877" y="190907"/>
                  </a:lnTo>
                  <a:lnTo>
                    <a:pt x="179739" y="203044"/>
                  </a:lnTo>
                  <a:lnTo>
                    <a:pt x="174325" y="207811"/>
                  </a:lnTo>
                  <a:lnTo>
                    <a:pt x="166404" y="208940"/>
                  </a:lnTo>
                  <a:lnTo>
                    <a:pt x="157843" y="205770"/>
                  </a:lnTo>
                  <a:lnTo>
                    <a:pt x="149186" y="201210"/>
                  </a:lnTo>
                  <a:lnTo>
                    <a:pt x="128198" y="186667"/>
                  </a:lnTo>
                  <a:lnTo>
                    <a:pt x="108818" y="171365"/>
                  </a:lnTo>
                  <a:lnTo>
                    <a:pt x="88828" y="157191"/>
                  </a:lnTo>
                  <a:lnTo>
                    <a:pt x="67775" y="141269"/>
                  </a:lnTo>
                  <a:lnTo>
                    <a:pt x="9495" y="119688"/>
                  </a:lnTo>
                  <a:lnTo>
                    <a:pt x="2713" y="98216"/>
                  </a:lnTo>
                  <a:lnTo>
                    <a:pt x="0" y="93149"/>
                  </a:lnTo>
                  <a:lnTo>
                    <a:pt x="1289" y="88209"/>
                  </a:lnTo>
                  <a:lnTo>
                    <a:pt x="4817" y="78681"/>
                  </a:lnTo>
                  <a:lnTo>
                    <a:pt x="13456" y="72401"/>
                  </a:lnTo>
                  <a:lnTo>
                    <a:pt x="19559" y="719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8227" y="5674736"/>
              <a:ext cx="9277349" cy="43684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48227" y="5674736"/>
              <a:ext cx="9277985" cy="4368800"/>
            </a:xfrm>
            <a:custGeom>
              <a:avLst/>
              <a:gdLst/>
              <a:ahLst/>
              <a:cxnLst/>
              <a:rect l="l" t="t" r="r" b="b"/>
              <a:pathLst>
                <a:path w="9277985" h="4368800">
                  <a:moveTo>
                    <a:pt x="0" y="0"/>
                  </a:moveTo>
                  <a:lnTo>
                    <a:pt x="0" y="4368492"/>
                  </a:lnTo>
                  <a:lnTo>
                    <a:pt x="9277960" y="4368492"/>
                  </a:lnTo>
                  <a:lnTo>
                    <a:pt x="9277960" y="0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81345" y="1112246"/>
            <a:ext cx="12367895" cy="4323080"/>
            <a:chOff x="381345" y="1112246"/>
            <a:chExt cx="12367895" cy="432308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9445" y="1150346"/>
              <a:ext cx="10248900" cy="424660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19445" y="1150346"/>
              <a:ext cx="10253345" cy="4246880"/>
            </a:xfrm>
            <a:custGeom>
              <a:avLst/>
              <a:gdLst/>
              <a:ahLst/>
              <a:cxnLst/>
              <a:rect l="l" t="t" r="r" b="b"/>
              <a:pathLst>
                <a:path w="10253345" h="4246880">
                  <a:moveTo>
                    <a:pt x="0" y="0"/>
                  </a:moveTo>
                  <a:lnTo>
                    <a:pt x="0" y="4246607"/>
                  </a:lnTo>
                  <a:lnTo>
                    <a:pt x="10253043" y="4246607"/>
                  </a:lnTo>
                  <a:lnTo>
                    <a:pt x="10253043" y="0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673118" y="1345412"/>
              <a:ext cx="2076450" cy="1300480"/>
            </a:xfrm>
            <a:custGeom>
              <a:avLst/>
              <a:gdLst/>
              <a:ahLst/>
              <a:cxnLst/>
              <a:rect l="l" t="t" r="r" b="b"/>
              <a:pathLst>
                <a:path w="2076450" h="1300480">
                  <a:moveTo>
                    <a:pt x="1806740" y="1102715"/>
                  </a:moveTo>
                  <a:lnTo>
                    <a:pt x="1804327" y="1052322"/>
                  </a:lnTo>
                  <a:lnTo>
                    <a:pt x="1800415" y="1001991"/>
                  </a:lnTo>
                  <a:lnTo>
                    <a:pt x="1794992" y="951776"/>
                  </a:lnTo>
                  <a:lnTo>
                    <a:pt x="1788020" y="901750"/>
                  </a:lnTo>
                  <a:lnTo>
                    <a:pt x="1779473" y="851954"/>
                  </a:lnTo>
                  <a:lnTo>
                    <a:pt x="1769338" y="802474"/>
                  </a:lnTo>
                  <a:lnTo>
                    <a:pt x="1757578" y="753376"/>
                  </a:lnTo>
                  <a:lnTo>
                    <a:pt x="1744179" y="704697"/>
                  </a:lnTo>
                  <a:lnTo>
                    <a:pt x="1729105" y="656526"/>
                  </a:lnTo>
                  <a:lnTo>
                    <a:pt x="1712734" y="609968"/>
                  </a:lnTo>
                  <a:lnTo>
                    <a:pt x="1694662" y="563994"/>
                  </a:lnTo>
                  <a:lnTo>
                    <a:pt x="1674876" y="518718"/>
                  </a:lnTo>
                  <a:lnTo>
                    <a:pt x="1653324" y="474281"/>
                  </a:lnTo>
                  <a:lnTo>
                    <a:pt x="1629968" y="430784"/>
                  </a:lnTo>
                  <a:lnTo>
                    <a:pt x="1604759" y="388340"/>
                  </a:lnTo>
                  <a:lnTo>
                    <a:pt x="1577682" y="347078"/>
                  </a:lnTo>
                  <a:lnTo>
                    <a:pt x="1548663" y="307111"/>
                  </a:lnTo>
                  <a:lnTo>
                    <a:pt x="1517688" y="268554"/>
                  </a:lnTo>
                  <a:lnTo>
                    <a:pt x="1481074" y="227825"/>
                  </a:lnTo>
                  <a:lnTo>
                    <a:pt x="1442059" y="189420"/>
                  </a:lnTo>
                  <a:lnTo>
                    <a:pt x="1400733" y="153504"/>
                  </a:lnTo>
                  <a:lnTo>
                    <a:pt x="1357185" y="120269"/>
                  </a:lnTo>
                  <a:lnTo>
                    <a:pt x="1311592" y="89890"/>
                  </a:lnTo>
                  <a:lnTo>
                    <a:pt x="1263916" y="62763"/>
                  </a:lnTo>
                  <a:lnTo>
                    <a:pt x="1214247" y="39636"/>
                  </a:lnTo>
                  <a:lnTo>
                    <a:pt x="1183767" y="28752"/>
                  </a:lnTo>
                  <a:lnTo>
                    <a:pt x="1162697" y="21221"/>
                  </a:lnTo>
                  <a:lnTo>
                    <a:pt x="1109129" y="7975"/>
                  </a:lnTo>
                  <a:lnTo>
                    <a:pt x="1054252" y="596"/>
                  </a:lnTo>
                  <a:lnTo>
                    <a:pt x="998982" y="0"/>
                  </a:lnTo>
                  <a:lnTo>
                    <a:pt x="944257" y="7137"/>
                  </a:lnTo>
                  <a:lnTo>
                    <a:pt x="891197" y="23723"/>
                  </a:lnTo>
                  <a:lnTo>
                    <a:pt x="843305" y="50088"/>
                  </a:lnTo>
                  <a:lnTo>
                    <a:pt x="801966" y="85712"/>
                  </a:lnTo>
                  <a:lnTo>
                    <a:pt x="768578" y="130098"/>
                  </a:lnTo>
                  <a:lnTo>
                    <a:pt x="757859" y="150380"/>
                  </a:lnTo>
                  <a:lnTo>
                    <a:pt x="746645" y="151003"/>
                  </a:lnTo>
                  <a:lnTo>
                    <a:pt x="697560" y="157988"/>
                  </a:lnTo>
                  <a:lnTo>
                    <a:pt x="649630" y="168605"/>
                  </a:lnTo>
                  <a:lnTo>
                    <a:pt x="603707" y="182130"/>
                  </a:lnTo>
                  <a:lnTo>
                    <a:pt x="557593" y="199123"/>
                  </a:lnTo>
                  <a:lnTo>
                    <a:pt x="512813" y="219062"/>
                  </a:lnTo>
                  <a:lnTo>
                    <a:pt x="469430" y="241808"/>
                  </a:lnTo>
                  <a:lnTo>
                    <a:pt x="427520" y="267169"/>
                  </a:lnTo>
                  <a:lnTo>
                    <a:pt x="387184" y="294982"/>
                  </a:lnTo>
                  <a:lnTo>
                    <a:pt x="348475" y="325081"/>
                  </a:lnTo>
                  <a:lnTo>
                    <a:pt x="311480" y="357314"/>
                  </a:lnTo>
                  <a:lnTo>
                    <a:pt x="276301" y="391490"/>
                  </a:lnTo>
                  <a:lnTo>
                    <a:pt x="242989" y="427456"/>
                  </a:lnTo>
                  <a:lnTo>
                    <a:pt x="210883" y="465950"/>
                  </a:lnTo>
                  <a:lnTo>
                    <a:pt x="180721" y="505993"/>
                  </a:lnTo>
                  <a:lnTo>
                    <a:pt x="152527" y="547458"/>
                  </a:lnTo>
                  <a:lnTo>
                    <a:pt x="126352" y="590245"/>
                  </a:lnTo>
                  <a:lnTo>
                    <a:pt x="102235" y="634225"/>
                  </a:lnTo>
                  <a:lnTo>
                    <a:pt x="80225" y="679310"/>
                  </a:lnTo>
                  <a:lnTo>
                    <a:pt x="60350" y="725360"/>
                  </a:lnTo>
                  <a:lnTo>
                    <a:pt x="42659" y="772287"/>
                  </a:lnTo>
                  <a:lnTo>
                    <a:pt x="27203" y="819962"/>
                  </a:lnTo>
                  <a:lnTo>
                    <a:pt x="12903" y="872959"/>
                  </a:lnTo>
                  <a:lnTo>
                    <a:pt x="1473" y="926668"/>
                  </a:lnTo>
                  <a:lnTo>
                    <a:pt x="0" y="934504"/>
                  </a:lnTo>
                  <a:lnTo>
                    <a:pt x="3657" y="942581"/>
                  </a:lnTo>
                  <a:lnTo>
                    <a:pt x="18999" y="946759"/>
                  </a:lnTo>
                  <a:lnTo>
                    <a:pt x="28498" y="942340"/>
                  </a:lnTo>
                  <a:lnTo>
                    <a:pt x="29908" y="934504"/>
                  </a:lnTo>
                  <a:lnTo>
                    <a:pt x="39776" y="887476"/>
                  </a:lnTo>
                  <a:lnTo>
                    <a:pt x="51828" y="840968"/>
                  </a:lnTo>
                  <a:lnTo>
                    <a:pt x="66027" y="795096"/>
                  </a:lnTo>
                  <a:lnTo>
                    <a:pt x="82346" y="749935"/>
                  </a:lnTo>
                  <a:lnTo>
                    <a:pt x="100749" y="705586"/>
                  </a:lnTo>
                  <a:lnTo>
                    <a:pt x="121170" y="662114"/>
                  </a:lnTo>
                  <a:lnTo>
                    <a:pt x="143598" y="619633"/>
                  </a:lnTo>
                  <a:lnTo>
                    <a:pt x="167970" y="578231"/>
                  </a:lnTo>
                  <a:lnTo>
                    <a:pt x="194259" y="537984"/>
                  </a:lnTo>
                  <a:lnTo>
                    <a:pt x="225234" y="495439"/>
                  </a:lnTo>
                  <a:lnTo>
                    <a:pt x="258508" y="454596"/>
                  </a:lnTo>
                  <a:lnTo>
                    <a:pt x="294030" y="415645"/>
                  </a:lnTo>
                  <a:lnTo>
                    <a:pt x="331736" y="378828"/>
                  </a:lnTo>
                  <a:lnTo>
                    <a:pt x="371551" y="344347"/>
                  </a:lnTo>
                  <a:lnTo>
                    <a:pt x="413410" y="312407"/>
                  </a:lnTo>
                  <a:lnTo>
                    <a:pt x="457250" y="283222"/>
                  </a:lnTo>
                  <a:lnTo>
                    <a:pt x="503008" y="257009"/>
                  </a:lnTo>
                  <a:lnTo>
                    <a:pt x="550341" y="234175"/>
                  </a:lnTo>
                  <a:lnTo>
                    <a:pt x="599198" y="214896"/>
                  </a:lnTo>
                  <a:lnTo>
                    <a:pt x="649351" y="199288"/>
                  </a:lnTo>
                  <a:lnTo>
                    <a:pt x="700570" y="187490"/>
                  </a:lnTo>
                  <a:lnTo>
                    <a:pt x="743966" y="180898"/>
                  </a:lnTo>
                  <a:lnTo>
                    <a:pt x="739952" y="190360"/>
                  </a:lnTo>
                  <a:lnTo>
                    <a:pt x="728891" y="221907"/>
                  </a:lnTo>
                  <a:lnTo>
                    <a:pt x="709625" y="289394"/>
                  </a:lnTo>
                  <a:lnTo>
                    <a:pt x="694029" y="361378"/>
                  </a:lnTo>
                  <a:lnTo>
                    <a:pt x="681761" y="446532"/>
                  </a:lnTo>
                  <a:lnTo>
                    <a:pt x="677595" y="495439"/>
                  </a:lnTo>
                  <a:lnTo>
                    <a:pt x="675487" y="544690"/>
                  </a:lnTo>
                  <a:lnTo>
                    <a:pt x="675513" y="593864"/>
                  </a:lnTo>
                  <a:lnTo>
                    <a:pt x="677684" y="643013"/>
                  </a:lnTo>
                  <a:lnTo>
                    <a:pt x="682040" y="692061"/>
                  </a:lnTo>
                  <a:lnTo>
                    <a:pt x="682167" y="692962"/>
                  </a:lnTo>
                  <a:lnTo>
                    <a:pt x="686244" y="723303"/>
                  </a:lnTo>
                  <a:lnTo>
                    <a:pt x="693610" y="753668"/>
                  </a:lnTo>
                  <a:lnTo>
                    <a:pt x="693712" y="753859"/>
                  </a:lnTo>
                  <a:lnTo>
                    <a:pt x="706793" y="781304"/>
                  </a:lnTo>
                  <a:lnTo>
                    <a:pt x="728408" y="804354"/>
                  </a:lnTo>
                  <a:lnTo>
                    <a:pt x="750379" y="816533"/>
                  </a:lnTo>
                  <a:lnTo>
                    <a:pt x="774395" y="822706"/>
                  </a:lnTo>
                  <a:lnTo>
                    <a:pt x="799414" y="823887"/>
                  </a:lnTo>
                  <a:lnTo>
                    <a:pt x="824331" y="821093"/>
                  </a:lnTo>
                  <a:lnTo>
                    <a:pt x="874966" y="805205"/>
                  </a:lnTo>
                  <a:lnTo>
                    <a:pt x="920953" y="778662"/>
                  </a:lnTo>
                  <a:lnTo>
                    <a:pt x="968819" y="739902"/>
                  </a:lnTo>
                  <a:lnTo>
                    <a:pt x="1011682" y="695706"/>
                  </a:lnTo>
                  <a:lnTo>
                    <a:pt x="1041425" y="656971"/>
                  </a:lnTo>
                  <a:lnTo>
                    <a:pt x="1066838" y="615289"/>
                  </a:lnTo>
                  <a:lnTo>
                    <a:pt x="1087196" y="571055"/>
                  </a:lnTo>
                  <a:lnTo>
                    <a:pt x="1101788" y="524637"/>
                  </a:lnTo>
                  <a:lnTo>
                    <a:pt x="1109891" y="476415"/>
                  </a:lnTo>
                  <a:lnTo>
                    <a:pt x="1110945" y="431139"/>
                  </a:lnTo>
                  <a:lnTo>
                    <a:pt x="1110894" y="430784"/>
                  </a:lnTo>
                  <a:lnTo>
                    <a:pt x="1105636" y="385851"/>
                  </a:lnTo>
                  <a:lnTo>
                    <a:pt x="1094041" y="341668"/>
                  </a:lnTo>
                  <a:lnTo>
                    <a:pt x="1076248" y="299745"/>
                  </a:lnTo>
                  <a:lnTo>
                    <a:pt x="1052322" y="261200"/>
                  </a:lnTo>
                  <a:lnTo>
                    <a:pt x="1018578" y="223570"/>
                  </a:lnTo>
                  <a:lnTo>
                    <a:pt x="980135" y="194386"/>
                  </a:lnTo>
                  <a:lnTo>
                    <a:pt x="948613" y="178422"/>
                  </a:lnTo>
                  <a:lnTo>
                    <a:pt x="825233" y="178422"/>
                  </a:lnTo>
                  <a:lnTo>
                    <a:pt x="845248" y="179311"/>
                  </a:lnTo>
                  <a:lnTo>
                    <a:pt x="892759" y="187934"/>
                  </a:lnTo>
                  <a:lnTo>
                    <a:pt x="938123" y="204216"/>
                  </a:lnTo>
                  <a:lnTo>
                    <a:pt x="984097" y="232651"/>
                  </a:lnTo>
                  <a:lnTo>
                    <a:pt x="1021829" y="270116"/>
                  </a:lnTo>
                  <a:lnTo>
                    <a:pt x="1050785" y="314883"/>
                  </a:lnTo>
                  <a:lnTo>
                    <a:pt x="1070495" y="365188"/>
                  </a:lnTo>
                  <a:lnTo>
                    <a:pt x="1080401" y="418630"/>
                  </a:lnTo>
                  <a:lnTo>
                    <a:pt x="1080300" y="474281"/>
                  </a:lnTo>
                  <a:lnTo>
                    <a:pt x="1071054" y="526694"/>
                  </a:lnTo>
                  <a:lnTo>
                    <a:pt x="1052614" y="578231"/>
                  </a:lnTo>
                  <a:lnTo>
                    <a:pt x="1031062" y="619150"/>
                  </a:lnTo>
                  <a:lnTo>
                    <a:pt x="1005014" y="657504"/>
                  </a:lnTo>
                  <a:lnTo>
                    <a:pt x="974991" y="692962"/>
                  </a:lnTo>
                  <a:lnTo>
                    <a:pt x="941565" y="725182"/>
                  </a:lnTo>
                  <a:lnTo>
                    <a:pt x="905256" y="753859"/>
                  </a:lnTo>
                  <a:lnTo>
                    <a:pt x="861466" y="778929"/>
                  </a:lnTo>
                  <a:lnTo>
                    <a:pt x="813117" y="793216"/>
                  </a:lnTo>
                  <a:lnTo>
                    <a:pt x="791870" y="794677"/>
                  </a:lnTo>
                  <a:lnTo>
                    <a:pt x="770940" y="791984"/>
                  </a:lnTo>
                  <a:lnTo>
                    <a:pt x="735317" y="770661"/>
                  </a:lnTo>
                  <a:lnTo>
                    <a:pt x="717842" y="732396"/>
                  </a:lnTo>
                  <a:lnTo>
                    <a:pt x="710780" y="685368"/>
                  </a:lnTo>
                  <a:lnTo>
                    <a:pt x="705777" y="616915"/>
                  </a:lnTo>
                  <a:lnTo>
                    <a:pt x="705739" y="615289"/>
                  </a:lnTo>
                  <a:lnTo>
                    <a:pt x="704786" y="581774"/>
                  </a:lnTo>
                  <a:lnTo>
                    <a:pt x="706107" y="511479"/>
                  </a:lnTo>
                  <a:lnTo>
                    <a:pt x="709422" y="464959"/>
                  </a:lnTo>
                  <a:lnTo>
                    <a:pt x="714692" y="418630"/>
                  </a:lnTo>
                  <a:lnTo>
                    <a:pt x="721906" y="372567"/>
                  </a:lnTo>
                  <a:lnTo>
                    <a:pt x="731062" y="326859"/>
                  </a:lnTo>
                  <a:lnTo>
                    <a:pt x="742137" y="281571"/>
                  </a:lnTo>
                  <a:lnTo>
                    <a:pt x="755129" y="236804"/>
                  </a:lnTo>
                  <a:lnTo>
                    <a:pt x="776820" y="178422"/>
                  </a:lnTo>
                  <a:lnTo>
                    <a:pt x="777328" y="177152"/>
                  </a:lnTo>
                  <a:lnTo>
                    <a:pt x="796658" y="177152"/>
                  </a:lnTo>
                  <a:lnTo>
                    <a:pt x="946099" y="177152"/>
                  </a:lnTo>
                  <a:lnTo>
                    <a:pt x="937818" y="172948"/>
                  </a:lnTo>
                  <a:lnTo>
                    <a:pt x="892467" y="158597"/>
                  </a:lnTo>
                  <a:lnTo>
                    <a:pt x="844931" y="150609"/>
                  </a:lnTo>
                  <a:lnTo>
                    <a:pt x="796048" y="148310"/>
                  </a:lnTo>
                  <a:lnTo>
                    <a:pt x="791933" y="148526"/>
                  </a:lnTo>
                  <a:lnTo>
                    <a:pt x="809167" y="122212"/>
                  </a:lnTo>
                  <a:lnTo>
                    <a:pt x="843495" y="86144"/>
                  </a:lnTo>
                  <a:lnTo>
                    <a:pt x="885126" y="58648"/>
                  </a:lnTo>
                  <a:lnTo>
                    <a:pt x="931532" y="40411"/>
                  </a:lnTo>
                  <a:lnTo>
                    <a:pt x="980757" y="30810"/>
                  </a:lnTo>
                  <a:lnTo>
                    <a:pt x="1031087" y="28752"/>
                  </a:lnTo>
                  <a:lnTo>
                    <a:pt x="1080871" y="33070"/>
                  </a:lnTo>
                  <a:lnTo>
                    <a:pt x="1132001" y="43319"/>
                  </a:lnTo>
                  <a:lnTo>
                    <a:pt x="1181709" y="58648"/>
                  </a:lnTo>
                  <a:lnTo>
                    <a:pt x="1229829" y="78587"/>
                  </a:lnTo>
                  <a:lnTo>
                    <a:pt x="1276235" y="102590"/>
                  </a:lnTo>
                  <a:lnTo>
                    <a:pt x="1320596" y="130098"/>
                  </a:lnTo>
                  <a:lnTo>
                    <a:pt x="1363218" y="160870"/>
                  </a:lnTo>
                  <a:lnTo>
                    <a:pt x="1403489" y="194119"/>
                  </a:lnTo>
                  <a:lnTo>
                    <a:pt x="1441411" y="229438"/>
                  </a:lnTo>
                  <a:lnTo>
                    <a:pt x="1477784" y="267538"/>
                  </a:lnTo>
                  <a:lnTo>
                    <a:pt x="1511846" y="307644"/>
                  </a:lnTo>
                  <a:lnTo>
                    <a:pt x="1543646" y="349580"/>
                  </a:lnTo>
                  <a:lnTo>
                    <a:pt x="1573199" y="393153"/>
                  </a:lnTo>
                  <a:lnTo>
                    <a:pt x="1600542" y="438188"/>
                  </a:lnTo>
                  <a:lnTo>
                    <a:pt x="1625714" y="484479"/>
                  </a:lnTo>
                  <a:lnTo>
                    <a:pt x="1648714" y="531850"/>
                  </a:lnTo>
                  <a:lnTo>
                    <a:pt x="1669592" y="580110"/>
                  </a:lnTo>
                  <a:lnTo>
                    <a:pt x="1686902" y="624814"/>
                  </a:lnTo>
                  <a:lnTo>
                    <a:pt x="1702650" y="670102"/>
                  </a:lnTo>
                  <a:lnTo>
                    <a:pt x="1716836" y="715924"/>
                  </a:lnTo>
                  <a:lnTo>
                    <a:pt x="1729498" y="762203"/>
                  </a:lnTo>
                  <a:lnTo>
                    <a:pt x="1740636" y="808875"/>
                  </a:lnTo>
                  <a:lnTo>
                    <a:pt x="1750288" y="855891"/>
                  </a:lnTo>
                  <a:lnTo>
                    <a:pt x="1758480" y="903160"/>
                  </a:lnTo>
                  <a:lnTo>
                    <a:pt x="1765211" y="950633"/>
                  </a:lnTo>
                  <a:lnTo>
                    <a:pt x="1770519" y="998258"/>
                  </a:lnTo>
                  <a:lnTo>
                    <a:pt x="1774698" y="1050442"/>
                  </a:lnTo>
                  <a:lnTo>
                    <a:pt x="1777250" y="1102715"/>
                  </a:lnTo>
                  <a:lnTo>
                    <a:pt x="1782216" y="1113358"/>
                  </a:lnTo>
                  <a:lnTo>
                    <a:pt x="1792478" y="1116926"/>
                  </a:lnTo>
                  <a:lnTo>
                    <a:pt x="1802498" y="1113358"/>
                  </a:lnTo>
                  <a:lnTo>
                    <a:pt x="1806740" y="1102715"/>
                  </a:lnTo>
                  <a:close/>
                </a:path>
                <a:path w="2076450" h="1300480">
                  <a:moveTo>
                    <a:pt x="2076081" y="905789"/>
                  </a:moveTo>
                  <a:lnTo>
                    <a:pt x="2069160" y="897648"/>
                  </a:lnTo>
                  <a:lnTo>
                    <a:pt x="2058543" y="895591"/>
                  </a:lnTo>
                  <a:lnTo>
                    <a:pt x="2049018" y="902398"/>
                  </a:lnTo>
                  <a:lnTo>
                    <a:pt x="1855050" y="1220787"/>
                  </a:lnTo>
                  <a:lnTo>
                    <a:pt x="1844395" y="1238719"/>
                  </a:lnTo>
                  <a:lnTo>
                    <a:pt x="1838858" y="1247597"/>
                  </a:lnTo>
                  <a:lnTo>
                    <a:pt x="1811108" y="1271689"/>
                  </a:lnTo>
                  <a:lnTo>
                    <a:pt x="1802104" y="1270698"/>
                  </a:lnTo>
                  <a:lnTo>
                    <a:pt x="1793405" y="1267053"/>
                  </a:lnTo>
                  <a:lnTo>
                    <a:pt x="1785213" y="1262011"/>
                  </a:lnTo>
                  <a:lnTo>
                    <a:pt x="1760639" y="1245082"/>
                  </a:lnTo>
                  <a:lnTo>
                    <a:pt x="1752015" y="1239304"/>
                  </a:lnTo>
                  <a:lnTo>
                    <a:pt x="1708099" y="1212011"/>
                  </a:lnTo>
                  <a:lnTo>
                    <a:pt x="1672005" y="1191895"/>
                  </a:lnTo>
                  <a:lnTo>
                    <a:pt x="1635125" y="1173314"/>
                  </a:lnTo>
                  <a:lnTo>
                    <a:pt x="1597507" y="1156271"/>
                  </a:lnTo>
                  <a:lnTo>
                    <a:pt x="1554048" y="1138809"/>
                  </a:lnTo>
                  <a:lnTo>
                    <a:pt x="1509864" y="1123315"/>
                  </a:lnTo>
                  <a:lnTo>
                    <a:pt x="1465021" y="1109891"/>
                  </a:lnTo>
                  <a:lnTo>
                    <a:pt x="1419529" y="1098588"/>
                  </a:lnTo>
                  <a:lnTo>
                    <a:pt x="1407845" y="1100747"/>
                  </a:lnTo>
                  <a:lnTo>
                    <a:pt x="1401635" y="1109751"/>
                  </a:lnTo>
                  <a:lnTo>
                    <a:pt x="1402384" y="1120292"/>
                  </a:lnTo>
                  <a:lnTo>
                    <a:pt x="1411566" y="1127048"/>
                  </a:lnTo>
                  <a:lnTo>
                    <a:pt x="1458709" y="1138809"/>
                  </a:lnTo>
                  <a:lnTo>
                    <a:pt x="1505178" y="1152855"/>
                  </a:lnTo>
                  <a:lnTo>
                    <a:pt x="1550873" y="1169149"/>
                  </a:lnTo>
                  <a:lnTo>
                    <a:pt x="1595691" y="1187678"/>
                  </a:lnTo>
                  <a:lnTo>
                    <a:pt x="1639544" y="1208392"/>
                  </a:lnTo>
                  <a:lnTo>
                    <a:pt x="1682343" y="1231290"/>
                  </a:lnTo>
                  <a:lnTo>
                    <a:pt x="1723974" y="1256309"/>
                  </a:lnTo>
                  <a:lnTo>
                    <a:pt x="1768576" y="1286141"/>
                  </a:lnTo>
                  <a:lnTo>
                    <a:pt x="1777758" y="1291780"/>
                  </a:lnTo>
                  <a:lnTo>
                    <a:pt x="1787398" y="1296492"/>
                  </a:lnTo>
                  <a:lnTo>
                    <a:pt x="1797596" y="1299730"/>
                  </a:lnTo>
                  <a:lnTo>
                    <a:pt x="1817992" y="1300226"/>
                  </a:lnTo>
                  <a:lnTo>
                    <a:pt x="1835556" y="1293202"/>
                  </a:lnTo>
                  <a:lnTo>
                    <a:pt x="1862721" y="1264615"/>
                  </a:lnTo>
                  <a:lnTo>
                    <a:pt x="1887524" y="1224597"/>
                  </a:lnTo>
                  <a:lnTo>
                    <a:pt x="1911807" y="1184262"/>
                  </a:lnTo>
                  <a:lnTo>
                    <a:pt x="2074494" y="917244"/>
                  </a:lnTo>
                  <a:lnTo>
                    <a:pt x="2076081" y="9057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95520">
              <a:lnSpc>
                <a:spcPct val="100000"/>
              </a:lnSpc>
              <a:spcBef>
                <a:spcPts val="105"/>
              </a:spcBef>
            </a:pPr>
            <a:r>
              <a:rPr sz="6000" dirty="0"/>
              <a:t>EXCEL</a:t>
            </a:r>
            <a:r>
              <a:rPr sz="6000" spc="-110" dirty="0"/>
              <a:t> </a:t>
            </a:r>
            <a:r>
              <a:rPr sz="6000" spc="120" dirty="0"/>
              <a:t>DASHBOARD</a:t>
            </a:r>
            <a:endParaRPr sz="6000"/>
          </a:p>
        </p:txBody>
      </p:sp>
      <p:sp>
        <p:nvSpPr>
          <p:cNvPr id="12" name="object 12"/>
          <p:cNvSpPr txBox="1"/>
          <p:nvPr/>
        </p:nvSpPr>
        <p:spPr>
          <a:xfrm>
            <a:off x="11208117" y="2506840"/>
            <a:ext cx="6805930" cy="2006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1945" marR="5080" indent="-309880">
              <a:lnSpc>
                <a:spcPct val="116100"/>
              </a:lnSpc>
              <a:spcBef>
                <a:spcPts val="95"/>
              </a:spcBef>
              <a:buFont typeface="Times New Roman"/>
              <a:buAutoNum type="arabicPeriod"/>
              <a:tabLst>
                <a:tab pos="323215" algn="l"/>
                <a:tab pos="2156460" algn="l"/>
                <a:tab pos="3241040" algn="l"/>
                <a:tab pos="4129404" algn="l"/>
                <a:tab pos="5290185" algn="l"/>
                <a:tab pos="631698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Dashboard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20" dirty="0">
                <a:latin typeface="Times New Roman"/>
                <a:cs typeface="Times New Roman"/>
              </a:rPr>
              <a:t>shows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25" dirty="0">
                <a:latin typeface="Times New Roman"/>
                <a:cs typeface="Times New Roman"/>
              </a:rPr>
              <a:t>68%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10" dirty="0">
                <a:latin typeface="Times New Roman"/>
                <a:cs typeface="Times New Roman"/>
              </a:rPr>
              <a:t>clients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10" dirty="0">
                <a:latin typeface="Times New Roman"/>
                <a:cs typeface="Times New Roman"/>
              </a:rPr>
              <a:t>chose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25" dirty="0">
                <a:latin typeface="Times New Roman"/>
                <a:cs typeface="Times New Roman"/>
              </a:rPr>
              <a:t>36- 	</a:t>
            </a:r>
            <a:r>
              <a:rPr sz="2800" b="1" spc="-100" dirty="0">
                <a:latin typeface="Times New Roman"/>
                <a:cs typeface="Times New Roman"/>
              </a:rPr>
              <a:t>month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loan</a:t>
            </a:r>
            <a:r>
              <a:rPr sz="2800" b="1" spc="-15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term</a:t>
            </a:r>
            <a:endParaRPr sz="2800">
              <a:latin typeface="Times New Roman"/>
              <a:cs typeface="Times New Roman"/>
            </a:endParaRPr>
          </a:p>
          <a:p>
            <a:pPr marL="321945" marR="5080" indent="-309880">
              <a:lnSpc>
                <a:spcPct val="116100"/>
              </a:lnSpc>
              <a:buFont typeface="Times New Roman"/>
              <a:buAutoNum type="arabicPeriod"/>
              <a:tabLst>
                <a:tab pos="323215" algn="l"/>
              </a:tabLst>
            </a:pPr>
            <a:r>
              <a:rPr sz="2800" b="1" dirty="0">
                <a:latin typeface="Times New Roman"/>
                <a:cs typeface="Times New Roman"/>
              </a:rPr>
              <a:t>Total</a:t>
            </a:r>
            <a:r>
              <a:rPr sz="2800" b="1" spc="1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loan</a:t>
            </a:r>
            <a:r>
              <a:rPr sz="2800" b="1" spc="114" dirty="0">
                <a:latin typeface="Times New Roman"/>
                <a:cs typeface="Times New Roman"/>
              </a:rPr>
              <a:t> </a:t>
            </a:r>
            <a:r>
              <a:rPr sz="2800" b="1" spc="-70" dirty="0">
                <a:latin typeface="Times New Roman"/>
                <a:cs typeface="Times New Roman"/>
              </a:rPr>
              <a:t>disbursed</a:t>
            </a:r>
            <a:r>
              <a:rPr sz="2800" b="1" spc="1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is</a:t>
            </a:r>
            <a:r>
              <a:rPr sz="2800" b="1" spc="114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Arial"/>
                <a:cs typeface="Arial"/>
              </a:rPr>
              <a:t>₹</a:t>
            </a:r>
            <a:r>
              <a:rPr sz="2800" b="1" dirty="0">
                <a:latin typeface="Times New Roman"/>
                <a:cs typeface="Times New Roman"/>
              </a:rPr>
              <a:t>31.35M</a:t>
            </a:r>
            <a:r>
              <a:rPr sz="2800" b="1" spc="11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with</a:t>
            </a:r>
            <a:r>
              <a:rPr sz="2800" b="1" spc="114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2.5K 	</a:t>
            </a:r>
            <a:r>
              <a:rPr sz="2800" b="1" spc="-10" dirty="0">
                <a:latin typeface="Times New Roman"/>
                <a:cs typeface="Times New Roman"/>
              </a:rPr>
              <a:t>clients.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082" y="-405894"/>
            <a:ext cx="13300710" cy="9118600"/>
            <a:chOff x="-952082" y="-405894"/>
            <a:chExt cx="13300710" cy="9118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062" y="2848568"/>
              <a:ext cx="11806999" cy="582609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03121" y="2848568"/>
              <a:ext cx="11807190" cy="5826125"/>
            </a:xfrm>
            <a:custGeom>
              <a:avLst/>
              <a:gdLst/>
              <a:ahLst/>
              <a:cxnLst/>
              <a:rect l="l" t="t" r="r" b="b"/>
              <a:pathLst>
                <a:path w="11807190" h="5826125">
                  <a:moveTo>
                    <a:pt x="0" y="0"/>
                  </a:moveTo>
                  <a:lnTo>
                    <a:pt x="11806863" y="0"/>
                  </a:lnTo>
                  <a:lnTo>
                    <a:pt x="11806863" y="5826025"/>
                  </a:lnTo>
                  <a:lnTo>
                    <a:pt x="0" y="5826025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215719"/>
              <a:ext cx="2138680" cy="2197735"/>
            </a:xfrm>
            <a:custGeom>
              <a:avLst/>
              <a:gdLst/>
              <a:ahLst/>
              <a:cxnLst/>
              <a:rect l="l" t="t" r="r" b="b"/>
              <a:pathLst>
                <a:path w="2138680" h="2197735">
                  <a:moveTo>
                    <a:pt x="54016" y="2184668"/>
                  </a:moveTo>
                  <a:lnTo>
                    <a:pt x="128034" y="2191924"/>
                  </a:lnTo>
                  <a:lnTo>
                    <a:pt x="175604" y="2194939"/>
                  </a:lnTo>
                  <a:lnTo>
                    <a:pt x="223489" y="2196758"/>
                  </a:lnTo>
                  <a:lnTo>
                    <a:pt x="271674" y="2197368"/>
                  </a:lnTo>
                  <a:lnTo>
                    <a:pt x="319860" y="2196758"/>
                  </a:lnTo>
                  <a:lnTo>
                    <a:pt x="367745" y="2194939"/>
                  </a:lnTo>
                  <a:lnTo>
                    <a:pt x="415314" y="2191924"/>
                  </a:lnTo>
                  <a:lnTo>
                    <a:pt x="462554" y="2187729"/>
                  </a:lnTo>
                  <a:lnTo>
                    <a:pt x="489332" y="2184668"/>
                  </a:lnTo>
                </a:path>
                <a:path w="2138680" h="2197735">
                  <a:moveTo>
                    <a:pt x="0" y="2177625"/>
                  </a:moveTo>
                  <a:lnTo>
                    <a:pt x="33900" y="2182369"/>
                  </a:lnTo>
                  <a:lnTo>
                    <a:pt x="54016" y="2184668"/>
                  </a:lnTo>
                </a:path>
                <a:path w="2138680" h="2197735">
                  <a:moveTo>
                    <a:pt x="489332" y="2184668"/>
                  </a:moveTo>
                  <a:lnTo>
                    <a:pt x="509449" y="2182369"/>
                  </a:lnTo>
                  <a:lnTo>
                    <a:pt x="555985" y="2175857"/>
                  </a:lnTo>
                  <a:lnTo>
                    <a:pt x="579456" y="2171968"/>
                  </a:lnTo>
                </a:path>
                <a:path w="2138680" h="2197735">
                  <a:moveTo>
                    <a:pt x="579456" y="2171968"/>
                  </a:moveTo>
                  <a:lnTo>
                    <a:pt x="647920" y="2159439"/>
                  </a:lnTo>
                  <a:lnTo>
                    <a:pt x="693290" y="2149562"/>
                  </a:lnTo>
                  <a:lnTo>
                    <a:pt x="738242" y="2138593"/>
                  </a:lnTo>
                  <a:lnTo>
                    <a:pt x="782761" y="2126546"/>
                  </a:lnTo>
                  <a:lnTo>
                    <a:pt x="826833" y="2113436"/>
                  </a:lnTo>
                  <a:lnTo>
                    <a:pt x="870443" y="2099277"/>
                  </a:lnTo>
                  <a:lnTo>
                    <a:pt x="913577" y="2084085"/>
                  </a:lnTo>
                  <a:lnTo>
                    <a:pt x="956219" y="2067873"/>
                  </a:lnTo>
                  <a:lnTo>
                    <a:pt x="998356" y="2050657"/>
                  </a:lnTo>
                  <a:lnTo>
                    <a:pt x="1039972" y="2032452"/>
                  </a:lnTo>
                  <a:lnTo>
                    <a:pt x="1081053" y="2013271"/>
                  </a:lnTo>
                  <a:lnTo>
                    <a:pt x="1121583" y="1993130"/>
                  </a:lnTo>
                  <a:lnTo>
                    <a:pt x="1161550" y="1972043"/>
                  </a:lnTo>
                  <a:lnTo>
                    <a:pt x="1200937" y="1950025"/>
                  </a:lnTo>
                  <a:lnTo>
                    <a:pt x="1239730" y="1927090"/>
                  </a:lnTo>
                  <a:lnTo>
                    <a:pt x="1277914" y="1903254"/>
                  </a:lnTo>
                  <a:lnTo>
                    <a:pt x="1315476" y="1878531"/>
                  </a:lnTo>
                  <a:lnTo>
                    <a:pt x="1352399" y="1852935"/>
                  </a:lnTo>
                  <a:lnTo>
                    <a:pt x="1388670" y="1826481"/>
                  </a:lnTo>
                  <a:lnTo>
                    <a:pt x="1424274" y="1799184"/>
                  </a:lnTo>
                  <a:lnTo>
                    <a:pt x="1459196" y="1771059"/>
                  </a:lnTo>
                  <a:lnTo>
                    <a:pt x="1493421" y="1742119"/>
                  </a:lnTo>
                  <a:lnTo>
                    <a:pt x="1526936" y="1712381"/>
                  </a:lnTo>
                  <a:lnTo>
                    <a:pt x="1559724" y="1681858"/>
                  </a:lnTo>
                  <a:lnTo>
                    <a:pt x="1591772" y="1650565"/>
                  </a:lnTo>
                  <a:lnTo>
                    <a:pt x="1623065" y="1618518"/>
                  </a:lnTo>
                  <a:lnTo>
                    <a:pt x="1653587" y="1585729"/>
                  </a:lnTo>
                  <a:lnTo>
                    <a:pt x="1683326" y="1552215"/>
                  </a:lnTo>
                  <a:lnTo>
                    <a:pt x="1712265" y="1517990"/>
                  </a:lnTo>
                  <a:lnTo>
                    <a:pt x="1740390" y="1483068"/>
                  </a:lnTo>
                  <a:lnTo>
                    <a:pt x="1767687" y="1447464"/>
                  </a:lnTo>
                  <a:lnTo>
                    <a:pt x="1794141" y="1411193"/>
                  </a:lnTo>
                  <a:lnTo>
                    <a:pt x="1819737" y="1374269"/>
                  </a:lnTo>
                  <a:lnTo>
                    <a:pt x="1844460" y="1336708"/>
                  </a:lnTo>
                  <a:lnTo>
                    <a:pt x="1868297" y="1298523"/>
                  </a:lnTo>
                  <a:lnTo>
                    <a:pt x="1891231" y="1259730"/>
                  </a:lnTo>
                  <a:lnTo>
                    <a:pt x="1913249" y="1220343"/>
                  </a:lnTo>
                  <a:lnTo>
                    <a:pt x="1934336" y="1180377"/>
                  </a:lnTo>
                  <a:lnTo>
                    <a:pt x="1954478" y="1139846"/>
                  </a:lnTo>
                  <a:lnTo>
                    <a:pt x="1973658" y="1098765"/>
                  </a:lnTo>
                  <a:lnTo>
                    <a:pt x="1991864" y="1057150"/>
                  </a:lnTo>
                  <a:lnTo>
                    <a:pt x="2009080" y="1015013"/>
                  </a:lnTo>
                  <a:lnTo>
                    <a:pt x="2025291" y="972371"/>
                  </a:lnTo>
                  <a:lnTo>
                    <a:pt x="2040483" y="929237"/>
                  </a:lnTo>
                  <a:lnTo>
                    <a:pt x="2054642" y="885627"/>
                  </a:lnTo>
                  <a:lnTo>
                    <a:pt x="2067752" y="841555"/>
                  </a:lnTo>
                  <a:lnTo>
                    <a:pt x="2079799" y="797035"/>
                  </a:lnTo>
                  <a:lnTo>
                    <a:pt x="2090769" y="752083"/>
                  </a:lnTo>
                  <a:lnTo>
                    <a:pt x="2100645" y="706713"/>
                  </a:lnTo>
                  <a:lnTo>
                    <a:pt x="2109415" y="660940"/>
                  </a:lnTo>
                  <a:lnTo>
                    <a:pt x="2117063" y="614778"/>
                  </a:lnTo>
                  <a:lnTo>
                    <a:pt x="2123575" y="568243"/>
                  </a:lnTo>
                  <a:lnTo>
                    <a:pt x="2128936" y="521348"/>
                  </a:lnTo>
                  <a:lnTo>
                    <a:pt x="2133130" y="474108"/>
                  </a:lnTo>
                  <a:lnTo>
                    <a:pt x="2136145" y="426538"/>
                  </a:lnTo>
                  <a:lnTo>
                    <a:pt x="2137865" y="381264"/>
                  </a:lnTo>
                  <a:lnTo>
                    <a:pt x="2137902" y="378653"/>
                  </a:lnTo>
                  <a:lnTo>
                    <a:pt x="2138574" y="330468"/>
                  </a:lnTo>
                </a:path>
                <a:path w="2138680" h="2197735">
                  <a:moveTo>
                    <a:pt x="2128969" y="139965"/>
                  </a:moveTo>
                  <a:lnTo>
                    <a:pt x="2128916" y="139591"/>
                  </a:lnTo>
                </a:path>
                <a:path w="2138680" h="2197735">
                  <a:moveTo>
                    <a:pt x="2109459" y="261"/>
                  </a:moveTo>
                  <a:lnTo>
                    <a:pt x="2109399" y="0"/>
                  </a:lnTo>
                </a:path>
              </a:pathLst>
            </a:custGeom>
            <a:ln w="1904164">
              <a:solidFill>
                <a:srgbClr val="135C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08919" y="373696"/>
            <a:ext cx="9874250" cy="103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312285" algn="l"/>
              </a:tabLst>
            </a:pPr>
            <a:r>
              <a:rPr sz="6600" spc="-10" dirty="0"/>
              <a:t>TABLEAU</a:t>
            </a:r>
            <a:r>
              <a:rPr sz="6600" dirty="0"/>
              <a:t>	</a:t>
            </a:r>
            <a:r>
              <a:rPr sz="6600" spc="120" dirty="0"/>
              <a:t>DASHBOARD</a:t>
            </a:r>
            <a:endParaRPr sz="660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14756" y="3475614"/>
            <a:ext cx="85725" cy="857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740181" y="3172688"/>
            <a:ext cx="4966970" cy="4978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28600">
              <a:lnSpc>
                <a:spcPct val="1161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In</a:t>
            </a:r>
            <a:r>
              <a:rPr sz="2800" b="1" spc="-13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this</a:t>
            </a:r>
            <a:r>
              <a:rPr sz="2800" b="1" spc="-120" dirty="0">
                <a:latin typeface="Times New Roman"/>
                <a:cs typeface="Times New Roman"/>
              </a:rPr>
              <a:t> </a:t>
            </a:r>
            <a:r>
              <a:rPr sz="2800" b="1" spc="-60" dirty="0">
                <a:latin typeface="Times New Roman"/>
                <a:cs typeface="Times New Roman"/>
              </a:rPr>
              <a:t>Tableau</a:t>
            </a:r>
            <a:r>
              <a:rPr sz="2800" b="1" spc="-114" dirty="0">
                <a:latin typeface="Times New Roman"/>
                <a:cs typeface="Times New Roman"/>
              </a:rPr>
              <a:t> </a:t>
            </a:r>
            <a:r>
              <a:rPr sz="2800" b="1" spc="-75" dirty="0">
                <a:latin typeface="Times New Roman"/>
                <a:cs typeface="Times New Roman"/>
              </a:rPr>
              <a:t>dashboard,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total loan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is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Arial"/>
                <a:cs typeface="Arial"/>
              </a:rPr>
              <a:t>₹</a:t>
            </a:r>
            <a:r>
              <a:rPr sz="2800" b="1" dirty="0">
                <a:latin typeface="Times New Roman"/>
                <a:cs typeface="Times New Roman"/>
              </a:rPr>
              <a:t>750.97M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5" dirty="0">
                <a:latin typeface="Times New Roman"/>
                <a:cs typeface="Times New Roman"/>
              </a:rPr>
              <a:t>with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65.54K </a:t>
            </a:r>
            <a:r>
              <a:rPr sz="2800" b="1" spc="-20" dirty="0">
                <a:latin typeface="Times New Roman"/>
                <a:cs typeface="Times New Roman"/>
              </a:rPr>
              <a:t>clients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at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90" dirty="0">
                <a:latin typeface="Times New Roman"/>
                <a:cs typeface="Times New Roman"/>
              </a:rPr>
              <a:t>12%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interest.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 marR="320675">
              <a:lnSpc>
                <a:spcPct val="116100"/>
              </a:lnSpc>
            </a:pPr>
            <a:r>
              <a:rPr sz="2800" b="1" dirty="0">
                <a:latin typeface="Times New Roman"/>
                <a:cs typeface="Times New Roman"/>
              </a:rPr>
              <a:t>Most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clients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chose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36-month </a:t>
            </a:r>
            <a:r>
              <a:rPr sz="2800" b="1" spc="-50" dirty="0">
                <a:latin typeface="Times New Roman"/>
                <a:cs typeface="Times New Roman"/>
              </a:rPr>
              <a:t>term</a:t>
            </a:r>
            <a:r>
              <a:rPr sz="2800" b="1" spc="-105" dirty="0">
                <a:latin typeface="Times New Roman"/>
                <a:cs typeface="Times New Roman"/>
              </a:rPr>
              <a:t> </a:t>
            </a:r>
            <a:r>
              <a:rPr sz="2800" b="1" spc="-80" dirty="0">
                <a:latin typeface="Times New Roman"/>
                <a:cs typeface="Times New Roman"/>
              </a:rPr>
              <a:t>and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Home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Loan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is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top </a:t>
            </a:r>
            <a:r>
              <a:rPr sz="2800" b="1" spc="-10" dirty="0">
                <a:latin typeface="Times New Roman"/>
                <a:cs typeface="Times New Roman"/>
              </a:rPr>
              <a:t>category.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16100"/>
              </a:lnSpc>
            </a:pPr>
            <a:r>
              <a:rPr sz="2800" b="1" dirty="0">
                <a:latin typeface="Times New Roman"/>
                <a:cs typeface="Times New Roman"/>
              </a:rPr>
              <a:t>1.82K</a:t>
            </a:r>
            <a:r>
              <a:rPr sz="2800" b="1" spc="-13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clients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spc="-105" dirty="0">
                <a:latin typeface="Times New Roman"/>
                <a:cs typeface="Times New Roman"/>
              </a:rPr>
              <a:t>have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fully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spc="-60" dirty="0">
                <a:latin typeface="Times New Roman"/>
                <a:cs typeface="Times New Roman"/>
              </a:rPr>
              <a:t>paid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their </a:t>
            </a:r>
            <a:r>
              <a:rPr sz="2800" b="1" spc="-10" dirty="0">
                <a:latin typeface="Times New Roman"/>
                <a:cs typeface="Times New Roman"/>
              </a:rPr>
              <a:t>loans.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14756" y="5456814"/>
            <a:ext cx="85725" cy="857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14756" y="7438014"/>
            <a:ext cx="85725" cy="857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8287" y="223244"/>
            <a:ext cx="17829530" cy="9839325"/>
            <a:chOff x="228287" y="223244"/>
            <a:chExt cx="17829530" cy="9839325"/>
          </a:xfrm>
        </p:grpSpPr>
        <p:sp>
          <p:nvSpPr>
            <p:cNvPr id="3" name="object 3"/>
            <p:cNvSpPr/>
            <p:nvPr/>
          </p:nvSpPr>
          <p:spPr>
            <a:xfrm>
              <a:off x="247337" y="242294"/>
              <a:ext cx="17791430" cy="9801225"/>
            </a:xfrm>
            <a:custGeom>
              <a:avLst/>
              <a:gdLst/>
              <a:ahLst/>
              <a:cxnLst/>
              <a:rect l="l" t="t" r="r" b="b"/>
              <a:pathLst>
                <a:path w="17791430" h="9801225">
                  <a:moveTo>
                    <a:pt x="0" y="0"/>
                  </a:moveTo>
                  <a:lnTo>
                    <a:pt x="17791361" y="0"/>
                  </a:lnTo>
                  <a:lnTo>
                    <a:pt x="17791361" y="9801224"/>
                  </a:lnTo>
                  <a:lnTo>
                    <a:pt x="0" y="9801224"/>
                  </a:lnTo>
                  <a:lnTo>
                    <a:pt x="0" y="0"/>
                  </a:lnTo>
                  <a:close/>
                </a:path>
              </a:pathLst>
            </a:custGeom>
            <a:ln w="38095">
              <a:solidFill>
                <a:srgbClr val="135C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784" y="1479510"/>
              <a:ext cx="8637784" cy="403681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3354" y="1468080"/>
              <a:ext cx="8656955" cy="4057650"/>
            </a:xfrm>
            <a:custGeom>
              <a:avLst/>
              <a:gdLst/>
              <a:ahLst/>
              <a:cxnLst/>
              <a:rect l="l" t="t" r="r" b="b"/>
              <a:pathLst>
                <a:path w="8656955" h="4057650">
                  <a:moveTo>
                    <a:pt x="0" y="0"/>
                  </a:moveTo>
                  <a:lnTo>
                    <a:pt x="0" y="4057650"/>
                  </a:lnTo>
                  <a:lnTo>
                    <a:pt x="8656478" y="4057650"/>
                  </a:lnTo>
                  <a:lnTo>
                    <a:pt x="8656478" y="0"/>
                  </a:lnTo>
                  <a:lnTo>
                    <a:pt x="0" y="0"/>
                  </a:lnTo>
                </a:path>
              </a:pathLst>
            </a:custGeom>
            <a:ln w="380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1813" y="5785670"/>
              <a:ext cx="9324008" cy="399629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00382" y="5774240"/>
              <a:ext cx="9344025" cy="4018279"/>
            </a:xfrm>
            <a:custGeom>
              <a:avLst/>
              <a:gdLst/>
              <a:ahLst/>
              <a:cxnLst/>
              <a:rect l="l" t="t" r="r" b="b"/>
              <a:pathLst>
                <a:path w="9344025" h="4018279">
                  <a:moveTo>
                    <a:pt x="0" y="0"/>
                  </a:moveTo>
                  <a:lnTo>
                    <a:pt x="0" y="4017887"/>
                  </a:lnTo>
                  <a:lnTo>
                    <a:pt x="9344024" y="4017887"/>
                  </a:lnTo>
                  <a:lnTo>
                    <a:pt x="9344024" y="0"/>
                  </a:lnTo>
                  <a:lnTo>
                    <a:pt x="0" y="0"/>
                  </a:lnTo>
                </a:path>
              </a:pathLst>
            </a:custGeom>
            <a:ln w="38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182256" y="418324"/>
            <a:ext cx="401447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51915" algn="l"/>
              </a:tabLst>
            </a:pPr>
            <a:r>
              <a:rPr sz="4500" spc="100" dirty="0"/>
              <a:t>SQL</a:t>
            </a:r>
            <a:r>
              <a:rPr sz="4500" dirty="0"/>
              <a:t>	</a:t>
            </a:r>
            <a:r>
              <a:rPr sz="4500" spc="60" dirty="0"/>
              <a:t>QUERIES</a:t>
            </a:r>
            <a:endParaRPr sz="4500"/>
          </a:p>
        </p:txBody>
      </p:sp>
      <p:grpSp>
        <p:nvGrpSpPr>
          <p:cNvPr id="9" name="object 9"/>
          <p:cNvGrpSpPr/>
          <p:nvPr/>
        </p:nvGrpSpPr>
        <p:grpSpPr>
          <a:xfrm>
            <a:off x="788620" y="2294004"/>
            <a:ext cx="8772525" cy="5523865"/>
            <a:chOff x="788620" y="2294004"/>
            <a:chExt cx="8772525" cy="552386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93888" y="2294004"/>
              <a:ext cx="66675" cy="666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93888" y="3036954"/>
              <a:ext cx="66675" cy="666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8620" y="7341229"/>
              <a:ext cx="66675" cy="666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8620" y="7750804"/>
              <a:ext cx="66675" cy="6667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671391" y="2026660"/>
            <a:ext cx="8088630" cy="15436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ct val="112599"/>
              </a:lnSpc>
              <a:spcBef>
                <a:spcPts val="150"/>
              </a:spcBef>
              <a:tabLst>
                <a:tab pos="443865" algn="l"/>
              </a:tabLst>
            </a:pPr>
            <a:r>
              <a:rPr sz="2350" spc="1880" dirty="0">
                <a:latin typeface="Webdings"/>
                <a:cs typeface="Webdings"/>
              </a:rPr>
              <a:t>📊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100" b="1" spc="-20" dirty="0">
                <a:latin typeface="Times New Roman"/>
                <a:cs typeface="Times New Roman"/>
              </a:rPr>
              <a:t>Displays</a:t>
            </a:r>
            <a:r>
              <a:rPr sz="2100" b="1" spc="380" dirty="0">
                <a:latin typeface="Times New Roman"/>
                <a:cs typeface="Times New Roman"/>
              </a:rPr>
              <a:t> </a:t>
            </a:r>
            <a:r>
              <a:rPr sz="2100" b="1" spc="-95" dirty="0">
                <a:latin typeface="Times New Roman"/>
                <a:cs typeface="Times New Roman"/>
              </a:rPr>
              <a:t>Top</a:t>
            </a:r>
            <a:r>
              <a:rPr sz="2100" b="1" spc="38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5</a:t>
            </a:r>
            <a:r>
              <a:rPr sz="2100" b="1" spc="380" dirty="0">
                <a:latin typeface="Times New Roman"/>
                <a:cs typeface="Times New Roman"/>
              </a:rPr>
              <a:t> </a:t>
            </a:r>
            <a:r>
              <a:rPr sz="2100" b="1" spc="-25" dirty="0">
                <a:latin typeface="Times New Roman"/>
                <a:cs typeface="Times New Roman"/>
              </a:rPr>
              <a:t>Banks</a:t>
            </a:r>
            <a:r>
              <a:rPr sz="2100" b="1" spc="380" dirty="0">
                <a:latin typeface="Times New Roman"/>
                <a:cs typeface="Times New Roman"/>
              </a:rPr>
              <a:t> </a:t>
            </a:r>
            <a:r>
              <a:rPr sz="2100" b="1" spc="-65" dirty="0">
                <a:latin typeface="Times New Roman"/>
                <a:cs typeface="Times New Roman"/>
              </a:rPr>
              <a:t>with</a:t>
            </a:r>
            <a:r>
              <a:rPr sz="2100" b="1" spc="380" dirty="0">
                <a:latin typeface="Times New Roman"/>
                <a:cs typeface="Times New Roman"/>
              </a:rPr>
              <a:t> </a:t>
            </a:r>
            <a:r>
              <a:rPr sz="2100" b="1" spc="-45" dirty="0">
                <a:latin typeface="Times New Roman"/>
                <a:cs typeface="Times New Roman"/>
              </a:rPr>
              <a:t>the</a:t>
            </a:r>
            <a:r>
              <a:rPr sz="2100" b="1" spc="380" dirty="0">
                <a:latin typeface="Times New Roman"/>
                <a:cs typeface="Times New Roman"/>
              </a:rPr>
              <a:t> </a:t>
            </a:r>
            <a:r>
              <a:rPr sz="2100" b="1" spc="20" dirty="0">
                <a:latin typeface="Times New Roman"/>
                <a:cs typeface="Times New Roman"/>
              </a:rPr>
              <a:t>Most</a:t>
            </a:r>
            <a:r>
              <a:rPr sz="2100" b="1" spc="380" dirty="0">
                <a:latin typeface="Times New Roman"/>
                <a:cs typeface="Times New Roman"/>
              </a:rPr>
              <a:t> </a:t>
            </a:r>
            <a:r>
              <a:rPr sz="2100" b="1" spc="-45" dirty="0">
                <a:latin typeface="Times New Roman"/>
                <a:cs typeface="Times New Roman"/>
              </a:rPr>
              <a:t>Unique</a:t>
            </a:r>
            <a:r>
              <a:rPr sz="2100" b="1" spc="380" dirty="0">
                <a:latin typeface="Times New Roman"/>
                <a:cs typeface="Times New Roman"/>
              </a:rPr>
              <a:t> </a:t>
            </a:r>
            <a:r>
              <a:rPr sz="2100" b="1" spc="-50" dirty="0">
                <a:latin typeface="Times New Roman"/>
                <a:cs typeface="Times New Roman"/>
              </a:rPr>
              <a:t>Customers</a:t>
            </a:r>
            <a:r>
              <a:rPr sz="2100" b="1" spc="380" dirty="0">
                <a:latin typeface="Times New Roman"/>
                <a:cs typeface="Times New Roman"/>
              </a:rPr>
              <a:t> </a:t>
            </a:r>
            <a:r>
              <a:rPr sz="2100" b="1" spc="-85" dirty="0">
                <a:latin typeface="Times New Roman"/>
                <a:cs typeface="Times New Roman"/>
              </a:rPr>
              <a:t>from</a:t>
            </a:r>
            <a:r>
              <a:rPr sz="2100" b="1" spc="380" dirty="0">
                <a:latin typeface="Times New Roman"/>
                <a:cs typeface="Times New Roman"/>
              </a:rPr>
              <a:t> </a:t>
            </a:r>
            <a:r>
              <a:rPr sz="2100" b="1" spc="-45" dirty="0">
                <a:latin typeface="Times New Roman"/>
                <a:cs typeface="Times New Roman"/>
              </a:rPr>
              <a:t>the</a:t>
            </a:r>
            <a:r>
              <a:rPr sz="2100" b="1" spc="-15" dirty="0">
                <a:latin typeface="Times New Roman"/>
                <a:cs typeface="Times New Roman"/>
              </a:rPr>
              <a:t> </a:t>
            </a:r>
            <a:r>
              <a:rPr sz="2100" b="1" spc="-55" dirty="0">
                <a:latin typeface="Times New Roman"/>
                <a:cs typeface="Times New Roman"/>
              </a:rPr>
              <a:t>credit_debit</a:t>
            </a:r>
            <a:r>
              <a:rPr sz="2100" b="1" dirty="0">
                <a:latin typeface="Times New Roman"/>
                <a:cs typeface="Times New Roman"/>
              </a:rPr>
              <a:t> </a:t>
            </a:r>
            <a:r>
              <a:rPr sz="2100" b="1" spc="-20" dirty="0">
                <a:latin typeface="Times New Roman"/>
                <a:cs typeface="Times New Roman"/>
              </a:rPr>
              <a:t>table.</a:t>
            </a:r>
            <a:endParaRPr sz="2100">
              <a:latin typeface="Times New Roman"/>
              <a:cs typeface="Times New Roman"/>
            </a:endParaRPr>
          </a:p>
          <a:p>
            <a:pPr marL="12700" marR="5080">
              <a:lnSpc>
                <a:spcPts val="2930"/>
              </a:lnSpc>
              <a:spcBef>
                <a:spcPts val="90"/>
              </a:spcBef>
              <a:tabLst>
                <a:tab pos="513715" algn="l"/>
                <a:tab pos="1594485" algn="l"/>
                <a:tab pos="2827655" algn="l"/>
                <a:tab pos="3839210" algn="l"/>
                <a:tab pos="4971415" algn="l"/>
                <a:tab pos="5344795" algn="l"/>
                <a:tab pos="5839460" algn="l"/>
                <a:tab pos="7270750" algn="l"/>
                <a:tab pos="7658100" algn="l"/>
              </a:tabLst>
            </a:pPr>
            <a:r>
              <a:rPr sz="2350" spc="1830" dirty="0">
                <a:latin typeface="Webdings"/>
                <a:cs typeface="Webdings"/>
              </a:rPr>
              <a:t>🔁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100" b="1" spc="-10" dirty="0">
                <a:latin typeface="Times New Roman"/>
                <a:cs typeface="Times New Roman"/>
              </a:rPr>
              <a:t>Formats</a:t>
            </a:r>
            <a:r>
              <a:rPr sz="2100" b="1" dirty="0">
                <a:latin typeface="Times New Roman"/>
                <a:cs typeface="Times New Roman"/>
              </a:rPr>
              <a:t>	</a:t>
            </a:r>
            <a:r>
              <a:rPr sz="2100" b="1" spc="-10" dirty="0">
                <a:latin typeface="Times New Roman"/>
                <a:cs typeface="Times New Roman"/>
              </a:rPr>
              <a:t>Customer</a:t>
            </a:r>
            <a:r>
              <a:rPr sz="2100" b="1" dirty="0">
                <a:latin typeface="Times New Roman"/>
                <a:cs typeface="Times New Roman"/>
              </a:rPr>
              <a:t>	</a:t>
            </a:r>
            <a:r>
              <a:rPr sz="2100" b="1" spc="-55" dirty="0">
                <a:latin typeface="Times New Roman"/>
                <a:cs typeface="Times New Roman"/>
              </a:rPr>
              <a:t>Counts:</a:t>
            </a:r>
            <a:r>
              <a:rPr sz="2100" b="1" dirty="0">
                <a:latin typeface="Times New Roman"/>
                <a:cs typeface="Times New Roman"/>
              </a:rPr>
              <a:t>	</a:t>
            </a:r>
            <a:r>
              <a:rPr sz="2100" b="1" spc="-10" dirty="0">
                <a:latin typeface="Times New Roman"/>
                <a:cs typeface="Times New Roman"/>
              </a:rPr>
              <a:t>Converts</a:t>
            </a:r>
            <a:r>
              <a:rPr sz="2100" b="1" dirty="0">
                <a:latin typeface="Times New Roman"/>
                <a:cs typeface="Times New Roman"/>
              </a:rPr>
              <a:t>	</a:t>
            </a:r>
            <a:r>
              <a:rPr sz="2100" b="1" spc="-25" dirty="0">
                <a:latin typeface="Times New Roman"/>
                <a:cs typeface="Times New Roman"/>
              </a:rPr>
              <a:t>to</a:t>
            </a:r>
            <a:r>
              <a:rPr sz="2100" b="1" dirty="0">
                <a:latin typeface="Times New Roman"/>
                <a:cs typeface="Times New Roman"/>
              </a:rPr>
              <a:t>	</a:t>
            </a:r>
            <a:r>
              <a:rPr sz="2100" b="1" spc="-25" dirty="0">
                <a:latin typeface="Times New Roman"/>
                <a:cs typeface="Times New Roman"/>
              </a:rPr>
              <a:t>'K'</a:t>
            </a:r>
            <a:r>
              <a:rPr sz="2100" b="1" dirty="0">
                <a:latin typeface="Times New Roman"/>
                <a:cs typeface="Times New Roman"/>
              </a:rPr>
              <a:t>	</a:t>
            </a:r>
            <a:r>
              <a:rPr sz="2100" b="1" spc="-865" dirty="0">
                <a:latin typeface="Times New Roman"/>
                <a:cs typeface="Times New Roman"/>
              </a:rPr>
              <a:t>(thousands)</a:t>
            </a:r>
            <a:r>
              <a:rPr sz="2100" b="1" dirty="0">
                <a:latin typeface="Times New Roman"/>
                <a:cs typeface="Times New Roman"/>
              </a:rPr>
              <a:t>	</a:t>
            </a:r>
            <a:r>
              <a:rPr sz="2100" b="1" spc="-25" dirty="0">
                <a:latin typeface="Times New Roman"/>
                <a:cs typeface="Times New Roman"/>
              </a:rPr>
              <a:t>or</a:t>
            </a:r>
            <a:r>
              <a:rPr sz="2100" b="1" dirty="0">
                <a:latin typeface="Times New Roman"/>
                <a:cs typeface="Times New Roman"/>
              </a:rPr>
              <a:t>	'M'</a:t>
            </a:r>
            <a:r>
              <a:rPr sz="2100" b="1" spc="-45" dirty="0">
                <a:latin typeface="Times New Roman"/>
                <a:cs typeface="Times New Roman"/>
              </a:rPr>
              <a:t> </a:t>
            </a:r>
            <a:r>
              <a:rPr sz="2100" b="1" spc="-30" dirty="0">
                <a:latin typeface="Times New Roman"/>
                <a:cs typeface="Times New Roman"/>
              </a:rPr>
              <a:t>(millions)</a:t>
            </a:r>
            <a:r>
              <a:rPr sz="2100" b="1" spc="-50" dirty="0">
                <a:latin typeface="Times New Roman"/>
                <a:cs typeface="Times New Roman"/>
              </a:rPr>
              <a:t> </a:t>
            </a:r>
            <a:r>
              <a:rPr sz="2100" b="1" spc="-25" dirty="0">
                <a:latin typeface="Times New Roman"/>
                <a:cs typeface="Times New Roman"/>
              </a:rPr>
              <a:t>for</a:t>
            </a:r>
            <a:r>
              <a:rPr sz="2100" b="1" spc="-50" dirty="0">
                <a:latin typeface="Times New Roman"/>
                <a:cs typeface="Times New Roman"/>
              </a:rPr>
              <a:t> </a:t>
            </a:r>
            <a:r>
              <a:rPr sz="2100" b="1" spc="-35" dirty="0">
                <a:latin typeface="Times New Roman"/>
                <a:cs typeface="Times New Roman"/>
              </a:rPr>
              <a:t>better</a:t>
            </a:r>
            <a:r>
              <a:rPr sz="2100" b="1" spc="-50" dirty="0">
                <a:latin typeface="Times New Roman"/>
                <a:cs typeface="Times New Roman"/>
              </a:rPr>
              <a:t> </a:t>
            </a:r>
            <a:r>
              <a:rPr sz="2100" b="1" spc="-40" dirty="0">
                <a:latin typeface="Times New Roman"/>
                <a:cs typeface="Times New Roman"/>
              </a:rPr>
              <a:t>readability</a:t>
            </a:r>
            <a:r>
              <a:rPr sz="2100" b="1" spc="-50" dirty="0">
                <a:latin typeface="Times New Roman"/>
                <a:cs typeface="Times New Roman"/>
              </a:rPr>
              <a:t> </a:t>
            </a:r>
            <a:r>
              <a:rPr sz="2100" b="1" spc="-30" dirty="0">
                <a:latin typeface="Times New Roman"/>
                <a:cs typeface="Times New Roman"/>
              </a:rPr>
              <a:t>using</a:t>
            </a:r>
            <a:r>
              <a:rPr sz="2100" b="1" spc="-45" dirty="0">
                <a:latin typeface="Times New Roman"/>
                <a:cs typeface="Times New Roman"/>
              </a:rPr>
              <a:t> </a:t>
            </a:r>
            <a:r>
              <a:rPr sz="2100" b="1" spc="-50" dirty="0">
                <a:latin typeface="Times New Roman"/>
                <a:cs typeface="Times New Roman"/>
              </a:rPr>
              <a:t>a </a:t>
            </a:r>
            <a:r>
              <a:rPr sz="2100" b="1" dirty="0">
                <a:latin typeface="Times New Roman"/>
                <a:cs typeface="Times New Roman"/>
              </a:rPr>
              <a:t>CASE</a:t>
            </a:r>
            <a:r>
              <a:rPr sz="2100" b="1" spc="85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statement.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1778" y="7092452"/>
            <a:ext cx="7113270" cy="8331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2025" dirty="0">
                <a:latin typeface="Webdings"/>
                <a:cs typeface="Webdings"/>
              </a:rPr>
              <a:t>💰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Calculates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total</a:t>
            </a:r>
            <a:r>
              <a:rPr sz="2300" b="1" spc="-55" dirty="0">
                <a:latin typeface="Times New Roman"/>
                <a:cs typeface="Times New Roman"/>
              </a:rPr>
              <a:t> </a:t>
            </a:r>
            <a:r>
              <a:rPr sz="2300" b="1" spc="-45" dirty="0">
                <a:latin typeface="Times New Roman"/>
                <a:cs typeface="Times New Roman"/>
              </a:rPr>
              <a:t>credit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b="1" spc="-60" dirty="0">
                <a:latin typeface="Times New Roman"/>
                <a:cs typeface="Times New Roman"/>
              </a:rPr>
              <a:t>amount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b="1" spc="-70" dirty="0">
                <a:latin typeface="Times New Roman"/>
                <a:cs typeface="Times New Roman"/>
              </a:rPr>
              <a:t>from</a:t>
            </a:r>
            <a:r>
              <a:rPr sz="2300" b="1" spc="-5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all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transactions.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2025" dirty="0">
                <a:latin typeface="Webdings"/>
                <a:cs typeface="Webdings"/>
              </a:rPr>
              <a:t>🔢</a:t>
            </a:r>
            <a:r>
              <a:rPr sz="2600" spc="-150" dirty="0">
                <a:latin typeface="Times New Roman"/>
                <a:cs typeface="Times New Roman"/>
              </a:rPr>
              <a:t> </a:t>
            </a:r>
            <a:r>
              <a:rPr sz="2300" b="1" spc="-35" dirty="0">
                <a:latin typeface="Times New Roman"/>
                <a:cs typeface="Times New Roman"/>
              </a:rPr>
              <a:t>Formats</a:t>
            </a:r>
            <a:r>
              <a:rPr sz="2300" b="1" spc="-7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the</a:t>
            </a:r>
            <a:r>
              <a:rPr sz="2300" b="1" spc="-75" dirty="0">
                <a:latin typeface="Times New Roman"/>
                <a:cs typeface="Times New Roman"/>
              </a:rPr>
              <a:t> </a:t>
            </a:r>
            <a:r>
              <a:rPr sz="2300" b="1" spc="-70" dirty="0">
                <a:latin typeface="Times New Roman"/>
                <a:cs typeface="Times New Roman"/>
              </a:rPr>
              <a:t>sum</a:t>
            </a:r>
            <a:r>
              <a:rPr sz="2300" b="1" spc="-75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in</a:t>
            </a:r>
            <a:r>
              <a:rPr sz="2300" b="1" spc="-7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'K'</a:t>
            </a:r>
            <a:r>
              <a:rPr sz="2300" b="1" spc="-7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or</a:t>
            </a:r>
            <a:r>
              <a:rPr sz="2300" b="1" spc="-7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'M'</a:t>
            </a:r>
            <a:r>
              <a:rPr sz="2300" b="1" spc="-75" dirty="0">
                <a:latin typeface="Times New Roman"/>
                <a:cs typeface="Times New Roman"/>
              </a:rPr>
              <a:t> </a:t>
            </a:r>
            <a:r>
              <a:rPr sz="2300" b="1" spc="-20" dirty="0">
                <a:latin typeface="Times New Roman"/>
                <a:cs typeface="Times New Roman"/>
              </a:rPr>
              <a:t>for</a:t>
            </a:r>
            <a:r>
              <a:rPr sz="2300" b="1" spc="-75" dirty="0">
                <a:latin typeface="Times New Roman"/>
                <a:cs typeface="Times New Roman"/>
              </a:rPr>
              <a:t> </a:t>
            </a:r>
            <a:r>
              <a:rPr sz="2300" b="1" spc="-20" dirty="0">
                <a:latin typeface="Times New Roman"/>
                <a:cs typeface="Times New Roman"/>
              </a:rPr>
              <a:t>easier</a:t>
            </a:r>
            <a:r>
              <a:rPr sz="2300" b="1" spc="-75" dirty="0">
                <a:latin typeface="Times New Roman"/>
                <a:cs typeface="Times New Roman"/>
              </a:rPr>
              <a:t> </a:t>
            </a:r>
            <a:r>
              <a:rPr sz="2300" b="1" spc="-204" dirty="0">
                <a:latin typeface="Times New Roman"/>
                <a:cs typeface="Times New Roman"/>
              </a:rPr>
              <a:t>understanding.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8287" y="223244"/>
            <a:ext cx="17829530" cy="9839325"/>
            <a:chOff x="228287" y="223244"/>
            <a:chExt cx="17829530" cy="9839325"/>
          </a:xfrm>
        </p:grpSpPr>
        <p:sp>
          <p:nvSpPr>
            <p:cNvPr id="3" name="object 3"/>
            <p:cNvSpPr/>
            <p:nvPr/>
          </p:nvSpPr>
          <p:spPr>
            <a:xfrm>
              <a:off x="247337" y="242294"/>
              <a:ext cx="17791430" cy="9801225"/>
            </a:xfrm>
            <a:custGeom>
              <a:avLst/>
              <a:gdLst/>
              <a:ahLst/>
              <a:cxnLst/>
              <a:rect l="l" t="t" r="r" b="b"/>
              <a:pathLst>
                <a:path w="17791430" h="9801225">
                  <a:moveTo>
                    <a:pt x="0" y="0"/>
                  </a:moveTo>
                  <a:lnTo>
                    <a:pt x="17791361" y="0"/>
                  </a:lnTo>
                  <a:lnTo>
                    <a:pt x="17791361" y="9801224"/>
                  </a:lnTo>
                  <a:lnTo>
                    <a:pt x="0" y="9801224"/>
                  </a:lnTo>
                  <a:lnTo>
                    <a:pt x="0" y="0"/>
                  </a:lnTo>
                  <a:close/>
                </a:path>
              </a:pathLst>
            </a:custGeom>
            <a:ln w="38095">
              <a:solidFill>
                <a:srgbClr val="135C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4454" y="1563558"/>
              <a:ext cx="9776476" cy="379161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3024" y="1552128"/>
              <a:ext cx="9801225" cy="3810000"/>
            </a:xfrm>
            <a:custGeom>
              <a:avLst/>
              <a:gdLst/>
              <a:ahLst/>
              <a:cxnLst/>
              <a:rect l="l" t="t" r="r" b="b"/>
              <a:pathLst>
                <a:path w="9801225" h="3810000">
                  <a:moveTo>
                    <a:pt x="0" y="0"/>
                  </a:moveTo>
                  <a:lnTo>
                    <a:pt x="0" y="3810000"/>
                  </a:lnTo>
                  <a:lnTo>
                    <a:pt x="9801224" y="3810000"/>
                  </a:lnTo>
                  <a:lnTo>
                    <a:pt x="9801224" y="0"/>
                  </a:lnTo>
                  <a:lnTo>
                    <a:pt x="0" y="0"/>
                  </a:lnTo>
                </a:path>
              </a:pathLst>
            </a:custGeom>
            <a:ln w="380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74760" y="5655808"/>
              <a:ext cx="9243432" cy="402979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63330" y="5611879"/>
              <a:ext cx="9266555" cy="4139565"/>
            </a:xfrm>
            <a:custGeom>
              <a:avLst/>
              <a:gdLst/>
              <a:ahLst/>
              <a:cxnLst/>
              <a:rect l="l" t="t" r="r" b="b"/>
              <a:pathLst>
                <a:path w="9266555" h="4139565">
                  <a:moveTo>
                    <a:pt x="0" y="0"/>
                  </a:moveTo>
                  <a:lnTo>
                    <a:pt x="0" y="4139207"/>
                  </a:lnTo>
                  <a:lnTo>
                    <a:pt x="9266187" y="4139207"/>
                  </a:lnTo>
                  <a:lnTo>
                    <a:pt x="9266187" y="0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0372" y="568325"/>
            <a:ext cx="401447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51915" algn="l"/>
              </a:tabLst>
            </a:pPr>
            <a:r>
              <a:rPr sz="4500" spc="100" dirty="0"/>
              <a:t>SQL</a:t>
            </a:r>
            <a:r>
              <a:rPr sz="4500" dirty="0"/>
              <a:t>	</a:t>
            </a:r>
            <a:r>
              <a:rPr sz="4500" spc="60" dirty="0"/>
              <a:t>QUERIES</a:t>
            </a:r>
            <a:endParaRPr sz="4500"/>
          </a:p>
        </p:txBody>
      </p:sp>
      <p:grpSp>
        <p:nvGrpSpPr>
          <p:cNvPr id="9" name="object 9"/>
          <p:cNvGrpSpPr/>
          <p:nvPr/>
        </p:nvGrpSpPr>
        <p:grpSpPr>
          <a:xfrm>
            <a:off x="571092" y="2329927"/>
            <a:ext cx="10190480" cy="5247640"/>
            <a:chOff x="571092" y="2329927"/>
            <a:chExt cx="10190480" cy="524764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85259" y="2329927"/>
              <a:ext cx="76200" cy="761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85259" y="3244327"/>
              <a:ext cx="76200" cy="761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1092" y="7081984"/>
              <a:ext cx="66675" cy="666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1092" y="7510609"/>
              <a:ext cx="66675" cy="6667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0894759" y="2027625"/>
            <a:ext cx="6847840" cy="186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114199"/>
              </a:lnSpc>
              <a:spcBef>
                <a:spcPts val="120"/>
              </a:spcBef>
              <a:tabLst>
                <a:tab pos="523875" algn="l"/>
                <a:tab pos="1405890" algn="l"/>
                <a:tab pos="1958975" algn="l"/>
                <a:tab pos="3021330" algn="l"/>
                <a:tab pos="3740785" algn="l"/>
                <a:tab pos="4294505" algn="l"/>
                <a:tab pos="5398135" algn="l"/>
                <a:tab pos="6557645" algn="l"/>
              </a:tabLst>
            </a:pPr>
            <a:r>
              <a:rPr sz="2700" spc="2460" dirty="0">
                <a:latin typeface="Webdings"/>
                <a:cs typeface="Webdings"/>
              </a:rPr>
              <a:t>🏢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600" b="1" spc="-20" dirty="0">
                <a:latin typeface="Times New Roman"/>
                <a:cs typeface="Times New Roman"/>
              </a:rPr>
              <a:t>Finds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25" dirty="0">
                <a:latin typeface="Times New Roman"/>
                <a:cs typeface="Times New Roman"/>
              </a:rPr>
              <a:t>the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branch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20" dirty="0">
                <a:latin typeface="Times New Roman"/>
                <a:cs typeface="Times New Roman"/>
              </a:rPr>
              <a:t>with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475" dirty="0">
                <a:latin typeface="Times New Roman"/>
                <a:cs typeface="Times New Roman"/>
              </a:rPr>
              <a:t>the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highest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90" dirty="0">
                <a:latin typeface="Times New Roman"/>
                <a:cs typeface="Times New Roman"/>
              </a:rPr>
              <a:t>number</a:t>
            </a:r>
            <a:r>
              <a:rPr sz="2600" b="1" dirty="0">
                <a:latin typeface="Times New Roman"/>
                <a:cs typeface="Times New Roman"/>
              </a:rPr>
              <a:t>	of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spc="-100" dirty="0">
                <a:latin typeface="Times New Roman"/>
                <a:cs typeface="Times New Roman"/>
              </a:rPr>
              <a:t>unique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customers.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ts val="3600"/>
              </a:lnSpc>
              <a:spcBef>
                <a:spcPts val="100"/>
              </a:spcBef>
              <a:tabLst>
                <a:tab pos="589915" algn="l"/>
                <a:tab pos="1934845" algn="l"/>
                <a:tab pos="2520950" algn="l"/>
                <a:tab pos="3931285" algn="l"/>
                <a:tab pos="4850130" algn="l"/>
                <a:tab pos="5270500" algn="l"/>
                <a:tab pos="5860415" algn="l"/>
                <a:tab pos="6318250" algn="l"/>
              </a:tabLst>
            </a:pPr>
            <a:r>
              <a:rPr sz="2950" spc="2220" dirty="0">
                <a:latin typeface="Webdings"/>
                <a:cs typeface="Webdings"/>
              </a:rPr>
              <a:t>🔢</a:t>
            </a:r>
            <a:r>
              <a:rPr sz="2950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Displays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25" dirty="0">
                <a:latin typeface="Times New Roman"/>
                <a:cs typeface="Times New Roman"/>
              </a:rPr>
              <a:t>the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customer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455" dirty="0">
                <a:latin typeface="Times New Roman"/>
                <a:cs typeface="Times New Roman"/>
              </a:rPr>
              <a:t>count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25" dirty="0">
                <a:latin typeface="Times New Roman"/>
                <a:cs typeface="Times New Roman"/>
              </a:rPr>
              <a:t>in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25" dirty="0">
                <a:latin typeface="Times New Roman"/>
                <a:cs typeface="Times New Roman"/>
              </a:rPr>
              <a:t>'K'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25" dirty="0">
                <a:latin typeface="Times New Roman"/>
                <a:cs typeface="Times New Roman"/>
              </a:rPr>
              <a:t>or</a:t>
            </a:r>
            <a:r>
              <a:rPr sz="2600" b="1" dirty="0">
                <a:latin typeface="Times New Roman"/>
                <a:cs typeface="Times New Roman"/>
              </a:rPr>
              <a:t>	'M'</a:t>
            </a:r>
            <a:r>
              <a:rPr sz="2600" b="1" spc="13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format.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5440" y="6820411"/>
            <a:ext cx="7609840" cy="8674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405" dirty="0">
                <a:latin typeface="Times New Roman"/>
                <a:cs typeface="Times New Roman"/>
              </a:rPr>
              <a:t>💸</a:t>
            </a:r>
            <a:r>
              <a:rPr sz="2700" spc="-12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Calculates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total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debit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65" dirty="0">
                <a:latin typeface="Times New Roman"/>
                <a:cs typeface="Times New Roman"/>
              </a:rPr>
              <a:t>amount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75" dirty="0">
                <a:latin typeface="Times New Roman"/>
                <a:cs typeface="Times New Roman"/>
              </a:rPr>
              <a:t>from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all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debit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65" dirty="0">
                <a:latin typeface="Times New Roman"/>
                <a:cs typeface="Times New Roman"/>
              </a:rPr>
              <a:t>transactions.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00" spc="2105" dirty="0">
                <a:latin typeface="Webdings"/>
                <a:cs typeface="Webdings"/>
              </a:rPr>
              <a:t>🔢</a:t>
            </a:r>
            <a:r>
              <a:rPr sz="2700" spc="-1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Displays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the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60" dirty="0">
                <a:latin typeface="Times New Roman"/>
                <a:cs typeface="Times New Roman"/>
              </a:rPr>
              <a:t>value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in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'K'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or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'M'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35" dirty="0">
                <a:latin typeface="Times New Roman"/>
                <a:cs typeface="Times New Roman"/>
              </a:rPr>
              <a:t>format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for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clarity.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082" y="-756373"/>
            <a:ext cx="13058775" cy="10053320"/>
            <a:chOff x="-952082" y="-756373"/>
            <a:chExt cx="13058775" cy="10053320"/>
          </a:xfrm>
        </p:grpSpPr>
        <p:sp>
          <p:nvSpPr>
            <p:cNvPr id="3" name="object 3"/>
            <p:cNvSpPr/>
            <p:nvPr/>
          </p:nvSpPr>
          <p:spPr>
            <a:xfrm>
              <a:off x="0" y="195708"/>
              <a:ext cx="2075814" cy="1861185"/>
            </a:xfrm>
            <a:custGeom>
              <a:avLst/>
              <a:gdLst/>
              <a:ahLst/>
              <a:cxnLst/>
              <a:rect l="l" t="t" r="r" b="b"/>
              <a:pathLst>
                <a:path w="2075814" h="1861185">
                  <a:moveTo>
                    <a:pt x="0" y="1849294"/>
                  </a:moveTo>
                  <a:lnTo>
                    <a:pt x="65140" y="1855535"/>
                  </a:lnTo>
                  <a:lnTo>
                    <a:pt x="112710" y="1858550"/>
                  </a:lnTo>
                  <a:lnTo>
                    <a:pt x="160595" y="1860369"/>
                  </a:lnTo>
                  <a:lnTo>
                    <a:pt x="208780" y="1860979"/>
                  </a:lnTo>
                  <a:lnTo>
                    <a:pt x="256966" y="1860369"/>
                  </a:lnTo>
                  <a:lnTo>
                    <a:pt x="304851" y="1858550"/>
                  </a:lnTo>
                  <a:lnTo>
                    <a:pt x="352420" y="1855535"/>
                  </a:lnTo>
                  <a:lnTo>
                    <a:pt x="399660" y="1851340"/>
                  </a:lnTo>
                  <a:lnTo>
                    <a:pt x="426439" y="1848279"/>
                  </a:lnTo>
                </a:path>
                <a:path w="2075814" h="1861185">
                  <a:moveTo>
                    <a:pt x="426439" y="1848279"/>
                  </a:moveTo>
                  <a:lnTo>
                    <a:pt x="446555" y="1845980"/>
                  </a:lnTo>
                  <a:lnTo>
                    <a:pt x="493091" y="1839468"/>
                  </a:lnTo>
                  <a:lnTo>
                    <a:pt x="516563" y="1835579"/>
                  </a:lnTo>
                </a:path>
                <a:path w="2075814" h="1861185">
                  <a:moveTo>
                    <a:pt x="516563" y="1835579"/>
                  </a:moveTo>
                  <a:lnTo>
                    <a:pt x="585026" y="1823050"/>
                  </a:lnTo>
                  <a:lnTo>
                    <a:pt x="630396" y="1813173"/>
                  </a:lnTo>
                  <a:lnTo>
                    <a:pt x="675348" y="1802204"/>
                  </a:lnTo>
                  <a:lnTo>
                    <a:pt x="719867" y="1790157"/>
                  </a:lnTo>
                  <a:lnTo>
                    <a:pt x="763939" y="1777047"/>
                  </a:lnTo>
                  <a:lnTo>
                    <a:pt x="807549" y="1762888"/>
                  </a:lnTo>
                  <a:lnTo>
                    <a:pt x="850683" y="1747696"/>
                  </a:lnTo>
                  <a:lnTo>
                    <a:pt x="893325" y="1731484"/>
                  </a:lnTo>
                  <a:lnTo>
                    <a:pt x="935462" y="1714269"/>
                  </a:lnTo>
                  <a:lnTo>
                    <a:pt x="977078" y="1696063"/>
                  </a:lnTo>
                  <a:lnTo>
                    <a:pt x="1018159" y="1676882"/>
                  </a:lnTo>
                  <a:lnTo>
                    <a:pt x="1058689" y="1656741"/>
                  </a:lnTo>
                  <a:lnTo>
                    <a:pt x="1098656" y="1635654"/>
                  </a:lnTo>
                  <a:lnTo>
                    <a:pt x="1138043" y="1613636"/>
                  </a:lnTo>
                  <a:lnTo>
                    <a:pt x="1176836" y="1590701"/>
                  </a:lnTo>
                  <a:lnTo>
                    <a:pt x="1215020" y="1566865"/>
                  </a:lnTo>
                  <a:lnTo>
                    <a:pt x="1252582" y="1542142"/>
                  </a:lnTo>
                  <a:lnTo>
                    <a:pt x="1289505" y="1516546"/>
                  </a:lnTo>
                  <a:lnTo>
                    <a:pt x="1325776" y="1490092"/>
                  </a:lnTo>
                  <a:lnTo>
                    <a:pt x="1361380" y="1462795"/>
                  </a:lnTo>
                  <a:lnTo>
                    <a:pt x="1396302" y="1434670"/>
                  </a:lnTo>
                  <a:lnTo>
                    <a:pt x="1430527" y="1405730"/>
                  </a:lnTo>
                  <a:lnTo>
                    <a:pt x="1464042" y="1375992"/>
                  </a:lnTo>
                  <a:lnTo>
                    <a:pt x="1496830" y="1345469"/>
                  </a:lnTo>
                  <a:lnTo>
                    <a:pt x="1528878" y="1314177"/>
                  </a:lnTo>
                  <a:lnTo>
                    <a:pt x="1560171" y="1282129"/>
                  </a:lnTo>
                  <a:lnTo>
                    <a:pt x="1590693" y="1249340"/>
                  </a:lnTo>
                  <a:lnTo>
                    <a:pt x="1620432" y="1215826"/>
                  </a:lnTo>
                  <a:lnTo>
                    <a:pt x="1649371" y="1181601"/>
                  </a:lnTo>
                  <a:lnTo>
                    <a:pt x="1677496" y="1146679"/>
                  </a:lnTo>
                  <a:lnTo>
                    <a:pt x="1704793" y="1111075"/>
                  </a:lnTo>
                  <a:lnTo>
                    <a:pt x="1731247" y="1074804"/>
                  </a:lnTo>
                  <a:lnTo>
                    <a:pt x="1756843" y="1037880"/>
                  </a:lnTo>
                  <a:lnTo>
                    <a:pt x="1781566" y="1000319"/>
                  </a:lnTo>
                  <a:lnTo>
                    <a:pt x="1805403" y="962134"/>
                  </a:lnTo>
                  <a:lnTo>
                    <a:pt x="1828337" y="923341"/>
                  </a:lnTo>
                  <a:lnTo>
                    <a:pt x="1850355" y="883954"/>
                  </a:lnTo>
                  <a:lnTo>
                    <a:pt x="1871442" y="843988"/>
                  </a:lnTo>
                  <a:lnTo>
                    <a:pt x="1891584" y="803457"/>
                  </a:lnTo>
                  <a:lnTo>
                    <a:pt x="1910764" y="762377"/>
                  </a:lnTo>
                  <a:lnTo>
                    <a:pt x="1928970" y="720761"/>
                  </a:lnTo>
                  <a:lnTo>
                    <a:pt x="1946186" y="678624"/>
                  </a:lnTo>
                  <a:lnTo>
                    <a:pt x="1962397" y="635982"/>
                  </a:lnTo>
                  <a:lnTo>
                    <a:pt x="1977589" y="592848"/>
                  </a:lnTo>
                  <a:lnTo>
                    <a:pt x="1991748" y="549238"/>
                  </a:lnTo>
                  <a:lnTo>
                    <a:pt x="2004858" y="505166"/>
                  </a:lnTo>
                  <a:lnTo>
                    <a:pt x="2016905" y="460646"/>
                  </a:lnTo>
                  <a:lnTo>
                    <a:pt x="2027874" y="415694"/>
                  </a:lnTo>
                  <a:lnTo>
                    <a:pt x="2037751" y="370324"/>
                  </a:lnTo>
                  <a:lnTo>
                    <a:pt x="2046521" y="324551"/>
                  </a:lnTo>
                  <a:lnTo>
                    <a:pt x="2054169" y="278389"/>
                  </a:lnTo>
                  <a:lnTo>
                    <a:pt x="2060681" y="231854"/>
                  </a:lnTo>
                  <a:lnTo>
                    <a:pt x="2066042" y="184959"/>
                  </a:lnTo>
                  <a:lnTo>
                    <a:pt x="2070236" y="137719"/>
                  </a:lnTo>
                  <a:lnTo>
                    <a:pt x="2073251" y="90149"/>
                  </a:lnTo>
                  <a:lnTo>
                    <a:pt x="2074971" y="44875"/>
                  </a:lnTo>
                  <a:lnTo>
                    <a:pt x="2075020" y="42264"/>
                  </a:lnTo>
                  <a:lnTo>
                    <a:pt x="2075599" y="0"/>
                  </a:lnTo>
                </a:path>
              </a:pathLst>
            </a:custGeom>
            <a:ln w="1904164">
              <a:solidFill>
                <a:srgbClr val="135C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709" y="2441350"/>
              <a:ext cx="11397087" cy="681694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70718" y="2441350"/>
              <a:ext cx="11398250" cy="6817359"/>
            </a:xfrm>
            <a:custGeom>
              <a:avLst/>
              <a:gdLst/>
              <a:ahLst/>
              <a:cxnLst/>
              <a:rect l="l" t="t" r="r" b="b"/>
              <a:pathLst>
                <a:path w="11398250" h="6817359">
                  <a:moveTo>
                    <a:pt x="0" y="0"/>
                  </a:moveTo>
                  <a:lnTo>
                    <a:pt x="11397688" y="0"/>
                  </a:lnTo>
                  <a:lnTo>
                    <a:pt x="11397688" y="6816924"/>
                  </a:lnTo>
                  <a:lnTo>
                    <a:pt x="0" y="6816924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135C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8266" rIns="0" bIns="0" rtlCol="0">
            <a:spAutoFit/>
          </a:bodyPr>
          <a:lstStyle/>
          <a:p>
            <a:pPr marL="3742690">
              <a:lnSpc>
                <a:spcPct val="100000"/>
              </a:lnSpc>
              <a:spcBef>
                <a:spcPts val="90"/>
              </a:spcBef>
            </a:pPr>
            <a:r>
              <a:rPr spc="60" dirty="0"/>
              <a:t>POWER</a:t>
            </a:r>
            <a:r>
              <a:rPr spc="-35" dirty="0"/>
              <a:t> </a:t>
            </a:r>
            <a:r>
              <a:rPr dirty="0"/>
              <a:t>BI</a:t>
            </a:r>
            <a:r>
              <a:rPr spc="-35" dirty="0"/>
              <a:t> </a:t>
            </a:r>
            <a:r>
              <a:rPr spc="105" dirty="0"/>
              <a:t>DASHBOARD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30390" y="3811475"/>
            <a:ext cx="85725" cy="857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660131" y="3507938"/>
            <a:ext cx="5120005" cy="448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10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590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average</a:t>
            </a:r>
            <a:r>
              <a:rPr sz="2800" b="1" spc="595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interest</a:t>
            </a:r>
            <a:r>
              <a:rPr sz="2800" b="1" spc="590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rate</a:t>
            </a:r>
            <a:r>
              <a:rPr sz="2800" b="1" spc="595" dirty="0">
                <a:latin typeface="Times New Roman"/>
                <a:cs typeface="Times New Roman"/>
              </a:rPr>
              <a:t>  </a:t>
            </a:r>
            <a:r>
              <a:rPr sz="2800" b="1" spc="-25" dirty="0">
                <a:latin typeface="Times New Roman"/>
                <a:cs typeface="Times New Roman"/>
              </a:rPr>
              <a:t>is </a:t>
            </a:r>
            <a:r>
              <a:rPr sz="2800" b="1" dirty="0">
                <a:latin typeface="Times New Roman"/>
                <a:cs typeface="Times New Roman"/>
              </a:rPr>
              <a:t>12.03%,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and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total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spc="-55" dirty="0">
                <a:latin typeface="Times New Roman"/>
                <a:cs typeface="Times New Roman"/>
              </a:rPr>
              <a:t>recoveries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Times New Roman"/>
                <a:cs typeface="Times New Roman"/>
              </a:rPr>
              <a:t>stand </a:t>
            </a:r>
            <a:r>
              <a:rPr sz="2800" b="1" dirty="0">
                <a:latin typeface="Times New Roman"/>
                <a:cs typeface="Times New Roman"/>
              </a:rPr>
              <a:t>at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Arial"/>
                <a:cs typeface="Arial"/>
              </a:rPr>
              <a:t>₹</a:t>
            </a:r>
            <a:r>
              <a:rPr sz="2800" b="1" spc="-10" dirty="0">
                <a:latin typeface="Times New Roman"/>
                <a:cs typeface="Times New Roman"/>
              </a:rPr>
              <a:t>6.52M.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6100"/>
              </a:lnSpc>
            </a:pPr>
            <a:r>
              <a:rPr sz="2800" b="1" dirty="0">
                <a:latin typeface="Times New Roman"/>
                <a:cs typeface="Times New Roman"/>
              </a:rPr>
              <a:t>Home</a:t>
            </a:r>
            <a:r>
              <a:rPr sz="2800" b="1" spc="110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Loan</a:t>
            </a:r>
            <a:r>
              <a:rPr sz="2800" b="1" spc="114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is</a:t>
            </a:r>
            <a:r>
              <a:rPr sz="2800" b="1" spc="114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114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top</a:t>
            </a:r>
            <a:r>
              <a:rPr sz="2800" b="1" spc="110" dirty="0">
                <a:latin typeface="Times New Roman"/>
                <a:cs typeface="Times New Roman"/>
              </a:rPr>
              <a:t>  </a:t>
            </a:r>
            <a:r>
              <a:rPr sz="2800" b="1" spc="-90" dirty="0">
                <a:latin typeface="Times New Roman"/>
                <a:cs typeface="Times New Roman"/>
              </a:rPr>
              <a:t>purpose </a:t>
            </a:r>
            <a:r>
              <a:rPr sz="2800" b="1" spc="-10" dirty="0">
                <a:latin typeface="Times New Roman"/>
                <a:cs typeface="Times New Roman"/>
              </a:rPr>
              <a:t>category</a:t>
            </a:r>
            <a:r>
              <a:rPr sz="2800" b="1" spc="-155" dirty="0">
                <a:latin typeface="Times New Roman"/>
                <a:cs typeface="Times New Roman"/>
              </a:rPr>
              <a:t> </a:t>
            </a:r>
            <a:r>
              <a:rPr sz="2800" b="1" spc="-70" dirty="0">
                <a:latin typeface="Times New Roman"/>
                <a:cs typeface="Times New Roman"/>
              </a:rPr>
              <a:t>with</a:t>
            </a:r>
            <a:r>
              <a:rPr sz="2800" b="1" spc="-10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24.44K</a:t>
            </a:r>
            <a:r>
              <a:rPr sz="2800" b="1" spc="-1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clients.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6100"/>
              </a:lnSpc>
            </a:pPr>
            <a:r>
              <a:rPr sz="2800" b="1" dirty="0">
                <a:latin typeface="Times New Roman"/>
                <a:cs typeface="Times New Roman"/>
              </a:rPr>
              <a:t>Patiala</a:t>
            </a:r>
            <a:r>
              <a:rPr sz="2800" b="1" spc="180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branch</a:t>
            </a:r>
            <a:r>
              <a:rPr sz="2800" b="1" spc="180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has</a:t>
            </a:r>
            <a:r>
              <a:rPr sz="2800" b="1" spc="180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180" dirty="0">
                <a:latin typeface="Times New Roman"/>
                <a:cs typeface="Times New Roman"/>
              </a:rPr>
              <a:t>  </a:t>
            </a:r>
            <a:r>
              <a:rPr sz="2800" b="1" spc="-50" dirty="0">
                <a:latin typeface="Times New Roman"/>
                <a:cs typeface="Times New Roman"/>
              </a:rPr>
              <a:t>highest </a:t>
            </a:r>
            <a:r>
              <a:rPr sz="2800" b="1" spc="-150" dirty="0">
                <a:latin typeface="Times New Roman"/>
                <a:cs typeface="Times New Roman"/>
              </a:rPr>
              <a:t>number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140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clients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at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1.8K.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30390" y="5792675"/>
            <a:ext cx="85725" cy="857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30390" y="7278575"/>
            <a:ext cx="85725" cy="857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340175"/>
            <a:ext cx="18288000" cy="947419"/>
          </a:xfrm>
          <a:custGeom>
            <a:avLst/>
            <a:gdLst/>
            <a:ahLst/>
            <a:cxnLst/>
            <a:rect l="l" t="t" r="r" b="b"/>
            <a:pathLst>
              <a:path w="18288000" h="947420">
                <a:moveTo>
                  <a:pt x="18288000" y="946825"/>
                </a:moveTo>
                <a:lnTo>
                  <a:pt x="0" y="946825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946825"/>
                </a:lnTo>
                <a:close/>
              </a:path>
            </a:pathLst>
          </a:custGeom>
          <a:solidFill>
            <a:srgbClr val="135C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8288000" cy="947419"/>
          </a:xfrm>
          <a:custGeom>
            <a:avLst/>
            <a:gdLst/>
            <a:ahLst/>
            <a:cxnLst/>
            <a:rect l="l" t="t" r="r" b="b"/>
            <a:pathLst>
              <a:path w="18288000" h="947419">
                <a:moveTo>
                  <a:pt x="18288000" y="946824"/>
                </a:moveTo>
                <a:lnTo>
                  <a:pt x="0" y="946824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946824"/>
                </a:lnTo>
                <a:close/>
              </a:path>
            </a:pathLst>
          </a:custGeom>
          <a:solidFill>
            <a:srgbClr val="135CA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5902" y="3381081"/>
            <a:ext cx="95250" cy="952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pc="-55" dirty="0"/>
              <a:t>Domain:</a:t>
            </a:r>
            <a:r>
              <a:rPr spc="-135" dirty="0"/>
              <a:t> </a:t>
            </a:r>
            <a:r>
              <a:rPr spc="-45" dirty="0"/>
              <a:t>Banking</a:t>
            </a:r>
            <a:r>
              <a:rPr spc="-125" dirty="0"/>
              <a:t> </a:t>
            </a:r>
            <a:r>
              <a:rPr spc="-25" dirty="0"/>
              <a:t>Analytics</a:t>
            </a:r>
            <a:r>
              <a:rPr spc="-120" dirty="0"/>
              <a:t> </a:t>
            </a:r>
            <a:r>
              <a:rPr dirty="0"/>
              <a:t>–</a:t>
            </a:r>
            <a:r>
              <a:rPr spc="-125" dirty="0"/>
              <a:t> </a:t>
            </a:r>
            <a:r>
              <a:rPr spc="-60" dirty="0"/>
              <a:t>visualizing</a:t>
            </a:r>
            <a:r>
              <a:rPr spc="-125" dirty="0"/>
              <a:t> </a:t>
            </a:r>
            <a:r>
              <a:rPr spc="-25" dirty="0"/>
              <a:t>client</a:t>
            </a:r>
            <a:r>
              <a:rPr spc="-120" dirty="0"/>
              <a:t> </a:t>
            </a:r>
            <a:r>
              <a:rPr spc="-85" dirty="0"/>
              <a:t>and</a:t>
            </a:r>
            <a:r>
              <a:rPr spc="-114" dirty="0"/>
              <a:t> </a:t>
            </a:r>
            <a:r>
              <a:rPr spc="-10" dirty="0"/>
              <a:t>loan</a:t>
            </a:r>
            <a:r>
              <a:rPr spc="-125" dirty="0"/>
              <a:t> </a:t>
            </a:r>
            <a:r>
              <a:rPr spc="-20" dirty="0"/>
              <a:t>data </a:t>
            </a:r>
            <a:r>
              <a:rPr spc="-95" dirty="0"/>
              <a:t>Problem:</a:t>
            </a:r>
            <a:r>
              <a:rPr spc="-105" dirty="0"/>
              <a:t> </a:t>
            </a:r>
            <a:r>
              <a:rPr spc="-45" dirty="0"/>
              <a:t>Raw</a:t>
            </a:r>
            <a:r>
              <a:rPr spc="-85" dirty="0"/>
              <a:t> </a:t>
            </a:r>
            <a:r>
              <a:rPr spc="-75" dirty="0"/>
              <a:t>banking </a:t>
            </a:r>
            <a:r>
              <a:rPr dirty="0"/>
              <a:t>data</a:t>
            </a:r>
            <a:r>
              <a:rPr spc="-80" dirty="0"/>
              <a:t> </a:t>
            </a:r>
            <a:r>
              <a:rPr dirty="0"/>
              <a:t>is</a:t>
            </a:r>
            <a:r>
              <a:rPr spc="-75" dirty="0"/>
              <a:t> </a:t>
            </a:r>
            <a:r>
              <a:rPr spc="-155" dirty="0"/>
              <a:t>hard</a:t>
            </a:r>
            <a:r>
              <a:rPr spc="-45" dirty="0"/>
              <a:t> </a:t>
            </a:r>
            <a:r>
              <a:rPr dirty="0"/>
              <a:t>to</a:t>
            </a:r>
            <a:r>
              <a:rPr spc="-80" dirty="0"/>
              <a:t> </a:t>
            </a:r>
            <a:r>
              <a:rPr spc="-100" dirty="0"/>
              <a:t>interpret</a:t>
            </a:r>
            <a:r>
              <a:rPr spc="-75" dirty="0"/>
              <a:t> </a:t>
            </a:r>
            <a:r>
              <a:rPr spc="-10" dirty="0"/>
              <a:t>manually </a:t>
            </a:r>
            <a:r>
              <a:rPr spc="-45" dirty="0"/>
              <a:t>Tools</a:t>
            </a:r>
            <a:r>
              <a:rPr spc="-95" dirty="0"/>
              <a:t> </a:t>
            </a:r>
            <a:r>
              <a:rPr spc="-30" dirty="0"/>
              <a:t>Used:</a:t>
            </a:r>
            <a:r>
              <a:rPr spc="-90" dirty="0"/>
              <a:t> </a:t>
            </a:r>
            <a:r>
              <a:rPr dirty="0"/>
              <a:t>Excel,</a:t>
            </a:r>
            <a:r>
              <a:rPr spc="-90" dirty="0"/>
              <a:t> </a:t>
            </a:r>
            <a:r>
              <a:rPr spc="-55" dirty="0"/>
              <a:t>Tableau,</a:t>
            </a:r>
            <a:r>
              <a:rPr spc="-90" dirty="0"/>
              <a:t> </a:t>
            </a:r>
            <a:r>
              <a:rPr spc="-85" dirty="0"/>
              <a:t>Power</a:t>
            </a:r>
            <a:r>
              <a:rPr spc="-90" dirty="0"/>
              <a:t> </a:t>
            </a:r>
            <a:r>
              <a:rPr dirty="0"/>
              <a:t>BI,</a:t>
            </a:r>
            <a:r>
              <a:rPr spc="-95" dirty="0"/>
              <a:t> </a:t>
            </a:r>
            <a:r>
              <a:rPr spc="50" dirty="0"/>
              <a:t>SQL</a:t>
            </a:r>
          </a:p>
          <a:p>
            <a:pPr marL="12700" marR="219710">
              <a:lnSpc>
                <a:spcPct val="115199"/>
              </a:lnSpc>
            </a:pPr>
            <a:r>
              <a:rPr spc="-65" dirty="0"/>
              <a:t>Built:</a:t>
            </a:r>
            <a:r>
              <a:rPr spc="-110" dirty="0"/>
              <a:t> </a:t>
            </a:r>
            <a:r>
              <a:rPr spc="-65" dirty="0"/>
              <a:t>Dashboards</a:t>
            </a:r>
            <a:r>
              <a:rPr spc="-105" dirty="0"/>
              <a:t> </a:t>
            </a:r>
            <a:r>
              <a:rPr spc="-85" dirty="0"/>
              <a:t>showing</a:t>
            </a:r>
            <a:r>
              <a:rPr spc="-105" dirty="0"/>
              <a:t> </a:t>
            </a:r>
            <a:r>
              <a:rPr dirty="0"/>
              <a:t>KPIs,</a:t>
            </a:r>
            <a:r>
              <a:rPr spc="-110" dirty="0"/>
              <a:t> </a:t>
            </a:r>
            <a:r>
              <a:rPr spc="-10" dirty="0"/>
              <a:t>loan</a:t>
            </a:r>
            <a:r>
              <a:rPr spc="-105" dirty="0"/>
              <a:t> </a:t>
            </a:r>
            <a:r>
              <a:rPr spc="-80" dirty="0"/>
              <a:t>trends,</a:t>
            </a:r>
            <a:r>
              <a:rPr spc="-105" dirty="0"/>
              <a:t> </a:t>
            </a:r>
            <a:r>
              <a:rPr spc="-25" dirty="0"/>
              <a:t>client</a:t>
            </a:r>
            <a:r>
              <a:rPr spc="-105" dirty="0"/>
              <a:t> </a:t>
            </a:r>
            <a:r>
              <a:rPr spc="-10" dirty="0"/>
              <a:t>insights </a:t>
            </a:r>
            <a:r>
              <a:rPr spc="-60" dirty="0"/>
              <a:t>Challenges:</a:t>
            </a:r>
            <a:r>
              <a:rPr spc="-70" dirty="0"/>
              <a:t> </a:t>
            </a:r>
            <a:r>
              <a:rPr dirty="0"/>
              <a:t>Data</a:t>
            </a:r>
            <a:r>
              <a:rPr spc="-70" dirty="0"/>
              <a:t> </a:t>
            </a:r>
            <a:r>
              <a:rPr spc="-35" dirty="0"/>
              <a:t>cleaning,</a:t>
            </a:r>
            <a:r>
              <a:rPr spc="-70" dirty="0"/>
              <a:t> </a:t>
            </a:r>
            <a:r>
              <a:rPr dirty="0"/>
              <a:t>tool</a:t>
            </a:r>
            <a:r>
              <a:rPr spc="-70" dirty="0"/>
              <a:t> </a:t>
            </a:r>
            <a:r>
              <a:rPr spc="-45" dirty="0"/>
              <a:t>learning,</a:t>
            </a:r>
            <a:r>
              <a:rPr spc="-70" dirty="0"/>
              <a:t> </a:t>
            </a:r>
            <a:r>
              <a:rPr spc="-65" dirty="0"/>
              <a:t>visual</a:t>
            </a:r>
            <a:r>
              <a:rPr spc="-70" dirty="0"/>
              <a:t> </a:t>
            </a:r>
            <a:r>
              <a:rPr spc="-10" dirty="0"/>
              <a:t>selection </a:t>
            </a:r>
            <a:r>
              <a:rPr spc="-80" dirty="0"/>
              <a:t>Learnings:</a:t>
            </a:r>
            <a:r>
              <a:rPr spc="-100" dirty="0"/>
              <a:t> </a:t>
            </a:r>
            <a:r>
              <a:rPr spc="-60" dirty="0"/>
              <a:t>Gained</a:t>
            </a:r>
            <a:r>
              <a:rPr spc="-95" dirty="0"/>
              <a:t> </a:t>
            </a:r>
            <a:r>
              <a:rPr dirty="0"/>
              <a:t>skills</a:t>
            </a:r>
            <a:r>
              <a:rPr spc="-100" dirty="0"/>
              <a:t> </a:t>
            </a:r>
            <a:r>
              <a:rPr spc="-20" dirty="0"/>
              <a:t>in</a:t>
            </a:r>
            <a:r>
              <a:rPr spc="-95" dirty="0"/>
              <a:t> </a:t>
            </a:r>
            <a:r>
              <a:rPr spc="-45" dirty="0"/>
              <a:t>visualization,</a:t>
            </a:r>
            <a:r>
              <a:rPr spc="-100" dirty="0"/>
              <a:t> </a:t>
            </a:r>
            <a:r>
              <a:rPr spc="70" dirty="0"/>
              <a:t>SQL,</a:t>
            </a:r>
            <a:r>
              <a:rPr spc="-95" dirty="0"/>
              <a:t> </a:t>
            </a:r>
            <a:r>
              <a:rPr spc="-10" dirty="0"/>
              <a:t>storytelling </a:t>
            </a:r>
            <a:r>
              <a:rPr spc="-55" dirty="0"/>
              <a:t>Outcome:</a:t>
            </a:r>
            <a:r>
              <a:rPr spc="-110" dirty="0"/>
              <a:t> </a:t>
            </a:r>
            <a:r>
              <a:rPr spc="-30" dirty="0"/>
              <a:t>Clear</a:t>
            </a:r>
            <a:r>
              <a:rPr spc="-100" dirty="0"/>
              <a:t> </a:t>
            </a:r>
            <a:r>
              <a:rPr spc="-105" dirty="0"/>
              <a:t>dashboards</a:t>
            </a:r>
            <a:r>
              <a:rPr spc="-95" dirty="0"/>
              <a:t> </a:t>
            </a:r>
            <a:r>
              <a:rPr spc="-45" dirty="0"/>
              <a:t>for</a:t>
            </a:r>
            <a:r>
              <a:rPr spc="-100" dirty="0"/>
              <a:t> </a:t>
            </a:r>
            <a:r>
              <a:rPr spc="-60" dirty="0"/>
              <a:t>better</a:t>
            </a:r>
            <a:r>
              <a:rPr spc="-100" dirty="0"/>
              <a:t> </a:t>
            </a:r>
            <a:r>
              <a:rPr spc="-65" dirty="0"/>
              <a:t>decision-</a:t>
            </a:r>
            <a:r>
              <a:rPr spc="-10" dirty="0"/>
              <a:t>making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5902" y="3943056"/>
            <a:ext cx="95250" cy="95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5902" y="4505031"/>
            <a:ext cx="95250" cy="952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5902" y="5067006"/>
            <a:ext cx="95250" cy="952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5902" y="5628981"/>
            <a:ext cx="95250" cy="952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5902" y="6190956"/>
            <a:ext cx="95250" cy="952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5902" y="6752931"/>
            <a:ext cx="95250" cy="952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65237" y="2173402"/>
            <a:ext cx="7822762" cy="8113597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866029" y="1398656"/>
            <a:ext cx="674052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75" dirty="0"/>
              <a:t>PROJECT</a:t>
            </a:r>
            <a:r>
              <a:rPr sz="5000" spc="15" dirty="0"/>
              <a:t> </a:t>
            </a:r>
            <a:r>
              <a:rPr sz="5000" spc="85" dirty="0"/>
              <a:t>SUMMARY</a:t>
            </a:r>
            <a:endParaRPr sz="5000"/>
          </a:p>
        </p:txBody>
      </p:sp>
      <p:sp>
        <p:nvSpPr>
          <p:cNvPr id="14" name="object 14"/>
          <p:cNvSpPr txBox="1"/>
          <p:nvPr/>
        </p:nvSpPr>
        <p:spPr>
          <a:xfrm>
            <a:off x="15292189" y="7346790"/>
            <a:ext cx="402590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-25" dirty="0">
                <a:solidFill>
                  <a:srgbClr val="FDFDFD"/>
                </a:solidFill>
                <a:latin typeface="Lucida Sans Unicode"/>
                <a:cs typeface="Lucida Sans Unicode"/>
              </a:rPr>
              <a:t>Mar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307384" y="7346790"/>
            <a:ext cx="550545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50" dirty="0">
                <a:solidFill>
                  <a:srgbClr val="FDFDFD"/>
                </a:solidFill>
                <a:latin typeface="Lucida Sans Unicode"/>
                <a:cs typeface="Lucida Sans Unicode"/>
              </a:rPr>
              <a:t>Head</a:t>
            </a:r>
            <a:endParaRPr sz="15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6003" y="4035633"/>
            <a:ext cx="8739505" cy="16052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350" spc="-400" dirty="0">
                <a:solidFill>
                  <a:srgbClr val="041C40"/>
                </a:solidFill>
                <a:latin typeface="Verdana"/>
                <a:cs typeface="Verdana"/>
              </a:rPr>
              <a:t>THANK</a:t>
            </a:r>
            <a:r>
              <a:rPr sz="10350" spc="-595" dirty="0">
                <a:solidFill>
                  <a:srgbClr val="041C40"/>
                </a:solidFill>
                <a:latin typeface="Verdana"/>
                <a:cs typeface="Verdana"/>
              </a:rPr>
              <a:t> </a:t>
            </a:r>
            <a:r>
              <a:rPr sz="10350" spc="-585" dirty="0">
                <a:solidFill>
                  <a:srgbClr val="041C40"/>
                </a:solidFill>
                <a:latin typeface="Verdana"/>
                <a:cs typeface="Verdana"/>
              </a:rPr>
              <a:t>YOU!</a:t>
            </a:r>
            <a:endParaRPr sz="1035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906874" y="0"/>
            <a:ext cx="7419340" cy="10287000"/>
            <a:chOff x="10906874" y="0"/>
            <a:chExt cx="7419340" cy="10287000"/>
          </a:xfrm>
        </p:grpSpPr>
        <p:sp>
          <p:nvSpPr>
            <p:cNvPr id="4" name="object 4"/>
            <p:cNvSpPr/>
            <p:nvPr/>
          </p:nvSpPr>
          <p:spPr>
            <a:xfrm>
              <a:off x="12398908" y="11"/>
              <a:ext cx="5890260" cy="10287000"/>
            </a:xfrm>
            <a:custGeom>
              <a:avLst/>
              <a:gdLst/>
              <a:ahLst/>
              <a:cxnLst/>
              <a:rect l="l" t="t" r="r" b="b"/>
              <a:pathLst>
                <a:path w="5890259" h="10287000">
                  <a:moveTo>
                    <a:pt x="5890082" y="9530029"/>
                  </a:moveTo>
                  <a:lnTo>
                    <a:pt x="0" y="9530029"/>
                  </a:lnTo>
                  <a:lnTo>
                    <a:pt x="0" y="10286987"/>
                  </a:lnTo>
                  <a:lnTo>
                    <a:pt x="5890082" y="10286987"/>
                  </a:lnTo>
                  <a:lnTo>
                    <a:pt x="5890082" y="9530029"/>
                  </a:lnTo>
                  <a:close/>
                </a:path>
                <a:path w="5890259" h="10287000">
                  <a:moveTo>
                    <a:pt x="5890082" y="0"/>
                  </a:moveTo>
                  <a:lnTo>
                    <a:pt x="0" y="0"/>
                  </a:lnTo>
                  <a:lnTo>
                    <a:pt x="0" y="756958"/>
                  </a:lnTo>
                  <a:lnTo>
                    <a:pt x="5890082" y="756958"/>
                  </a:lnTo>
                  <a:lnTo>
                    <a:pt x="5890082" y="0"/>
                  </a:lnTo>
                  <a:close/>
                </a:path>
              </a:pathLst>
            </a:custGeom>
            <a:solidFill>
              <a:srgbClr val="5B9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44974" y="756959"/>
              <a:ext cx="7343024" cy="87772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944974" y="756974"/>
              <a:ext cx="7343140" cy="8779510"/>
            </a:xfrm>
            <a:custGeom>
              <a:avLst/>
              <a:gdLst/>
              <a:ahLst/>
              <a:cxnLst/>
              <a:rect l="l" t="t" r="r" b="b"/>
              <a:pathLst>
                <a:path w="7343140" h="8779510">
                  <a:moveTo>
                    <a:pt x="0" y="0"/>
                  </a:moveTo>
                  <a:lnTo>
                    <a:pt x="7342881" y="0"/>
                  </a:lnTo>
                  <a:lnTo>
                    <a:pt x="7342881" y="8779340"/>
                  </a:lnTo>
                  <a:lnTo>
                    <a:pt x="0" y="87793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0" y="3929251"/>
            <a:ext cx="3161030" cy="6358255"/>
          </a:xfrm>
          <a:custGeom>
            <a:avLst/>
            <a:gdLst/>
            <a:ahLst/>
            <a:cxnLst/>
            <a:rect l="l" t="t" r="r" b="b"/>
            <a:pathLst>
              <a:path w="3161030" h="6358255">
                <a:moveTo>
                  <a:pt x="0" y="4940066"/>
                </a:moveTo>
                <a:lnTo>
                  <a:pt x="0" y="0"/>
                </a:lnTo>
                <a:lnTo>
                  <a:pt x="1596245" y="3210760"/>
                </a:lnTo>
                <a:lnTo>
                  <a:pt x="1555622" y="3240063"/>
                </a:lnTo>
                <a:lnTo>
                  <a:pt x="1515266" y="3269710"/>
                </a:lnTo>
                <a:lnTo>
                  <a:pt x="1475178" y="3299698"/>
                </a:lnTo>
                <a:lnTo>
                  <a:pt x="1435360" y="3330026"/>
                </a:lnTo>
                <a:lnTo>
                  <a:pt x="1395814" y="3360691"/>
                </a:lnTo>
                <a:lnTo>
                  <a:pt x="1356543" y="3391690"/>
                </a:lnTo>
                <a:lnTo>
                  <a:pt x="1317549" y="3423023"/>
                </a:lnTo>
                <a:lnTo>
                  <a:pt x="1278834" y="3454686"/>
                </a:lnTo>
                <a:lnTo>
                  <a:pt x="1240400" y="3486678"/>
                </a:lnTo>
                <a:lnTo>
                  <a:pt x="1202249" y="3518996"/>
                </a:lnTo>
                <a:lnTo>
                  <a:pt x="1164383" y="3551639"/>
                </a:lnTo>
                <a:lnTo>
                  <a:pt x="1126805" y="3584603"/>
                </a:lnTo>
                <a:lnTo>
                  <a:pt x="1089516" y="3617888"/>
                </a:lnTo>
                <a:lnTo>
                  <a:pt x="1052519" y="3651490"/>
                </a:lnTo>
                <a:lnTo>
                  <a:pt x="1015815" y="3685408"/>
                </a:lnTo>
                <a:lnTo>
                  <a:pt x="979408" y="3719639"/>
                </a:lnTo>
                <a:lnTo>
                  <a:pt x="943299" y="3754182"/>
                </a:lnTo>
                <a:lnTo>
                  <a:pt x="907490" y="3789034"/>
                </a:lnTo>
                <a:lnTo>
                  <a:pt x="871984" y="3824193"/>
                </a:lnTo>
                <a:lnTo>
                  <a:pt x="836782" y="3859657"/>
                </a:lnTo>
                <a:lnTo>
                  <a:pt x="801886" y="3895424"/>
                </a:lnTo>
                <a:lnTo>
                  <a:pt x="767300" y="3931492"/>
                </a:lnTo>
                <a:lnTo>
                  <a:pt x="733024" y="3967858"/>
                </a:lnTo>
                <a:lnTo>
                  <a:pt x="699062" y="4004520"/>
                </a:lnTo>
                <a:lnTo>
                  <a:pt x="665414" y="4041477"/>
                </a:lnTo>
                <a:lnTo>
                  <a:pt x="632084" y="4078725"/>
                </a:lnTo>
                <a:lnTo>
                  <a:pt x="599074" y="4116264"/>
                </a:lnTo>
                <a:lnTo>
                  <a:pt x="566385" y="4154090"/>
                </a:lnTo>
                <a:lnTo>
                  <a:pt x="534020" y="4192202"/>
                </a:lnTo>
                <a:lnTo>
                  <a:pt x="501981" y="4230598"/>
                </a:lnTo>
                <a:lnTo>
                  <a:pt x="470270" y="4269274"/>
                </a:lnTo>
                <a:lnTo>
                  <a:pt x="438889" y="4308230"/>
                </a:lnTo>
                <a:lnTo>
                  <a:pt x="407840" y="4347463"/>
                </a:lnTo>
                <a:lnTo>
                  <a:pt x="377126" y="4386971"/>
                </a:lnTo>
                <a:lnTo>
                  <a:pt x="346748" y="4426752"/>
                </a:lnTo>
                <a:lnTo>
                  <a:pt x="316709" y="4466803"/>
                </a:lnTo>
                <a:lnTo>
                  <a:pt x="287011" y="4507122"/>
                </a:lnTo>
                <a:lnTo>
                  <a:pt x="257656" y="4547708"/>
                </a:lnTo>
                <a:lnTo>
                  <a:pt x="228646" y="4588558"/>
                </a:lnTo>
                <a:lnTo>
                  <a:pt x="199983" y="4629670"/>
                </a:lnTo>
                <a:lnTo>
                  <a:pt x="171670" y="4671042"/>
                </a:lnTo>
                <a:lnTo>
                  <a:pt x="143708" y="4712672"/>
                </a:lnTo>
                <a:lnTo>
                  <a:pt x="116100" y="4754557"/>
                </a:lnTo>
                <a:lnTo>
                  <a:pt x="88848" y="4796696"/>
                </a:lnTo>
                <a:lnTo>
                  <a:pt x="61954" y="4839086"/>
                </a:lnTo>
                <a:lnTo>
                  <a:pt x="35419" y="4881725"/>
                </a:lnTo>
                <a:lnTo>
                  <a:pt x="9247" y="4924611"/>
                </a:lnTo>
                <a:lnTo>
                  <a:pt x="0" y="4940066"/>
                </a:lnTo>
                <a:close/>
              </a:path>
              <a:path w="3161030" h="6358255">
                <a:moveTo>
                  <a:pt x="3160966" y="6357747"/>
                </a:moveTo>
                <a:lnTo>
                  <a:pt x="254931" y="6357747"/>
                </a:lnTo>
                <a:lnTo>
                  <a:pt x="247571" y="6343233"/>
                </a:lnTo>
                <a:lnTo>
                  <a:pt x="246351" y="6299125"/>
                </a:lnTo>
                <a:lnTo>
                  <a:pt x="246040" y="6254751"/>
                </a:lnTo>
                <a:lnTo>
                  <a:pt x="246627" y="6210123"/>
                </a:lnTo>
                <a:lnTo>
                  <a:pt x="248100" y="6165256"/>
                </a:lnTo>
                <a:lnTo>
                  <a:pt x="250447" y="6120163"/>
                </a:lnTo>
                <a:lnTo>
                  <a:pt x="253658" y="6074857"/>
                </a:lnTo>
                <a:lnTo>
                  <a:pt x="257719" y="6029353"/>
                </a:lnTo>
                <a:lnTo>
                  <a:pt x="262620" y="5983665"/>
                </a:lnTo>
                <a:lnTo>
                  <a:pt x="268349" y="5937806"/>
                </a:lnTo>
                <a:lnTo>
                  <a:pt x="274894" y="5891789"/>
                </a:lnTo>
                <a:lnTo>
                  <a:pt x="282243" y="5845630"/>
                </a:lnTo>
                <a:lnTo>
                  <a:pt x="290386" y="5799341"/>
                </a:lnTo>
                <a:lnTo>
                  <a:pt x="299310" y="5752936"/>
                </a:lnTo>
                <a:lnTo>
                  <a:pt x="309005" y="5706429"/>
                </a:lnTo>
                <a:lnTo>
                  <a:pt x="319457" y="5659834"/>
                </a:lnTo>
                <a:lnTo>
                  <a:pt x="330656" y="5613164"/>
                </a:lnTo>
                <a:lnTo>
                  <a:pt x="342589" y="5566434"/>
                </a:lnTo>
                <a:lnTo>
                  <a:pt x="355246" y="5519656"/>
                </a:lnTo>
                <a:lnTo>
                  <a:pt x="368615" y="5472846"/>
                </a:lnTo>
                <a:lnTo>
                  <a:pt x="382684" y="5426016"/>
                </a:lnTo>
                <a:lnTo>
                  <a:pt x="397441" y="5379181"/>
                </a:lnTo>
                <a:lnTo>
                  <a:pt x="412875" y="5332353"/>
                </a:lnTo>
                <a:lnTo>
                  <a:pt x="428974" y="5285548"/>
                </a:lnTo>
                <a:lnTo>
                  <a:pt x="445727" y="5238778"/>
                </a:lnTo>
                <a:lnTo>
                  <a:pt x="463122" y="5192057"/>
                </a:lnTo>
                <a:lnTo>
                  <a:pt x="481147" y="5145400"/>
                </a:lnTo>
                <a:lnTo>
                  <a:pt x="499790" y="5098820"/>
                </a:lnTo>
                <a:lnTo>
                  <a:pt x="519041" y="5052330"/>
                </a:lnTo>
                <a:lnTo>
                  <a:pt x="538888" y="5005945"/>
                </a:lnTo>
                <a:lnTo>
                  <a:pt x="559318" y="4959679"/>
                </a:lnTo>
                <a:lnTo>
                  <a:pt x="580320" y="4913544"/>
                </a:lnTo>
                <a:lnTo>
                  <a:pt x="601883" y="4867555"/>
                </a:lnTo>
                <a:lnTo>
                  <a:pt x="623995" y="4821725"/>
                </a:lnTo>
                <a:lnTo>
                  <a:pt x="646644" y="4776069"/>
                </a:lnTo>
                <a:lnTo>
                  <a:pt x="669819" y="4730600"/>
                </a:lnTo>
                <a:lnTo>
                  <a:pt x="693508" y="4685332"/>
                </a:lnTo>
                <a:lnTo>
                  <a:pt x="717699" y="4640278"/>
                </a:lnTo>
                <a:lnTo>
                  <a:pt x="742382" y="4595453"/>
                </a:lnTo>
                <a:lnTo>
                  <a:pt x="767543" y="4550870"/>
                </a:lnTo>
                <a:lnTo>
                  <a:pt x="793172" y="4506543"/>
                </a:lnTo>
                <a:lnTo>
                  <a:pt x="819257" y="4462486"/>
                </a:lnTo>
                <a:lnTo>
                  <a:pt x="845787" y="4418712"/>
                </a:lnTo>
                <a:lnTo>
                  <a:pt x="872749" y="4375235"/>
                </a:lnTo>
                <a:lnTo>
                  <a:pt x="900132" y="4332069"/>
                </a:lnTo>
                <a:lnTo>
                  <a:pt x="927925" y="4289228"/>
                </a:lnTo>
                <a:lnTo>
                  <a:pt x="956115" y="4246725"/>
                </a:lnTo>
                <a:lnTo>
                  <a:pt x="984692" y="4204575"/>
                </a:lnTo>
                <a:lnTo>
                  <a:pt x="1013644" y="4162791"/>
                </a:lnTo>
                <a:lnTo>
                  <a:pt x="1042958" y="4121386"/>
                </a:lnTo>
                <a:lnTo>
                  <a:pt x="1072624" y="4080375"/>
                </a:lnTo>
                <a:lnTo>
                  <a:pt x="1102629" y="4039772"/>
                </a:lnTo>
                <a:lnTo>
                  <a:pt x="1132963" y="3999589"/>
                </a:lnTo>
                <a:lnTo>
                  <a:pt x="1163613" y="3959842"/>
                </a:lnTo>
                <a:lnTo>
                  <a:pt x="1194568" y="3920543"/>
                </a:lnTo>
                <a:lnTo>
                  <a:pt x="1225816" y="3881706"/>
                </a:lnTo>
                <a:lnTo>
                  <a:pt x="1257346" y="3843346"/>
                </a:lnTo>
                <a:lnTo>
                  <a:pt x="1289146" y="3805475"/>
                </a:lnTo>
                <a:lnTo>
                  <a:pt x="1321204" y="3768109"/>
                </a:lnTo>
                <a:lnTo>
                  <a:pt x="1353509" y="3731259"/>
                </a:lnTo>
                <a:lnTo>
                  <a:pt x="1386049" y="3694941"/>
                </a:lnTo>
                <a:lnTo>
                  <a:pt x="1418813" y="3659168"/>
                </a:lnTo>
                <a:lnTo>
                  <a:pt x="1451789" y="3623954"/>
                </a:lnTo>
                <a:lnTo>
                  <a:pt x="1484964" y="3589312"/>
                </a:lnTo>
                <a:lnTo>
                  <a:pt x="1518329" y="3555257"/>
                </a:lnTo>
                <a:lnTo>
                  <a:pt x="1551870" y="3521801"/>
                </a:lnTo>
                <a:lnTo>
                  <a:pt x="1585577" y="3488960"/>
                </a:lnTo>
                <a:lnTo>
                  <a:pt x="1619437" y="3456746"/>
                </a:lnTo>
                <a:lnTo>
                  <a:pt x="1653440" y="3425173"/>
                </a:lnTo>
                <a:lnTo>
                  <a:pt x="1687573" y="3394255"/>
                </a:lnTo>
                <a:lnTo>
                  <a:pt x="3160966" y="6357747"/>
                </a:lnTo>
                <a:close/>
              </a:path>
            </a:pathLst>
          </a:custGeom>
          <a:solidFill>
            <a:srgbClr val="135CA0">
              <a:alpha val="20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555</Words>
  <Application>Microsoft Office PowerPoint</Application>
  <PresentationFormat>Custom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Lucida Sans Unicode</vt:lpstr>
      <vt:lpstr>Microsoft Sans Serif</vt:lpstr>
      <vt:lpstr>Times New Roman</vt:lpstr>
      <vt:lpstr>Verdana</vt:lpstr>
      <vt:lpstr>Webdings</vt:lpstr>
      <vt:lpstr>Office Theme</vt:lpstr>
      <vt:lpstr>Banking Dashboard Project</vt:lpstr>
      <vt:lpstr>INTRODUCTION</vt:lpstr>
      <vt:lpstr>PROBLEM STATEMENT</vt:lpstr>
      <vt:lpstr>KPIS &amp; INSIGHTS</vt:lpstr>
      <vt:lpstr>EXCEL DASHBOARD</vt:lpstr>
      <vt:lpstr>TABLEAU DASHBOARD</vt:lpstr>
      <vt:lpstr>SQL QUERIES</vt:lpstr>
      <vt:lpstr>SQL QUERIES</vt:lpstr>
      <vt:lpstr>POWER BI DASHBOARD</vt:lpstr>
      <vt:lpstr>PROJECT SUMMARY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Dashboard Project</dc:title>
  <dc:creator>815_ Shivani Konde</dc:creator>
  <cp:keywords>DAGsH2uiRM0,BAFyQTmJVQI,021F</cp:keywords>
  <cp:lastModifiedBy>MADHUR GAHANE</cp:lastModifiedBy>
  <cp:revision>1</cp:revision>
  <dcterms:created xsi:type="dcterms:W3CDTF">2026-03-31T04:33:58Z</dcterms:created>
  <dcterms:modified xsi:type="dcterms:W3CDTF">2026-03-31T04:36:04Z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2025-07-09T00:00:00Z</vt:filetime>
  </property>
  <property fmtid="{D5CDD505-2E9C-101B-9397-08002B2CF9AE}" pid="3" name="Creator">
    <vt:lpwstr>Canva (Renderer mixed)</vt:lpwstr>
  </property>
  <property fmtid="{D5CDD505-2E9C-101B-9397-08002B2CF9AE}" pid="4" name="LastSaved">
    <vt:filetime>2026-03-31T00:00:00Z</vt:filetime>
  </property>
  <property fmtid="{D5CDD505-2E9C-101B-9397-08002B2CF9AE}" pid="5" name="Producer">
    <vt:lpwstr>Canva (Renderer mixed)</vt:lpwstr>
  </property>
</Properties>
</file>